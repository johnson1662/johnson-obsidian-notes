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sldIdLst>
    <p:sldId id="256" r:id="rId2"/>
    <p:sldId id="346" r:id="rId3"/>
    <p:sldId id="260" r:id="rId4"/>
    <p:sldId id="336" r:id="rId5"/>
    <p:sldId id="338" r:id="rId6"/>
    <p:sldId id="355" r:id="rId7"/>
    <p:sldId id="356" r:id="rId8"/>
    <p:sldId id="357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2" r:id="rId21"/>
    <p:sldId id="374" r:id="rId22"/>
    <p:sldId id="375" r:id="rId23"/>
    <p:sldId id="334" r:id="rId24"/>
    <p:sldId id="257" r:id="rId25"/>
    <p:sldId id="377" r:id="rId26"/>
    <p:sldId id="376" r:id="rId27"/>
    <p:sldId id="322" r:id="rId28"/>
    <p:sldId id="333" r:id="rId29"/>
    <p:sldId id="258" r:id="rId30"/>
    <p:sldId id="303" r:id="rId31"/>
    <p:sldId id="259" r:id="rId32"/>
    <p:sldId id="304" r:id="rId33"/>
    <p:sldId id="265" r:id="rId34"/>
    <p:sldId id="266" r:id="rId35"/>
    <p:sldId id="267" r:id="rId36"/>
    <p:sldId id="268" r:id="rId37"/>
    <p:sldId id="269" r:id="rId38"/>
    <p:sldId id="271" r:id="rId39"/>
    <p:sldId id="272" r:id="rId40"/>
    <p:sldId id="283" r:id="rId41"/>
    <p:sldId id="273" r:id="rId42"/>
    <p:sldId id="297" r:id="rId43"/>
    <p:sldId id="274" r:id="rId44"/>
    <p:sldId id="275" r:id="rId45"/>
    <p:sldId id="276" r:id="rId46"/>
    <p:sldId id="278" r:id="rId47"/>
    <p:sldId id="279" r:id="rId48"/>
    <p:sldId id="335" r:id="rId49"/>
    <p:sldId id="280" r:id="rId50"/>
    <p:sldId id="305" r:id="rId51"/>
    <p:sldId id="284" r:id="rId52"/>
    <p:sldId id="331" r:id="rId53"/>
    <p:sldId id="281" r:id="rId54"/>
    <p:sldId id="282" r:id="rId55"/>
    <p:sldId id="285" r:id="rId56"/>
    <p:sldId id="318" r:id="rId57"/>
    <p:sldId id="277" r:id="rId58"/>
    <p:sldId id="286" r:id="rId59"/>
    <p:sldId id="288" r:id="rId60"/>
    <p:sldId id="289" r:id="rId61"/>
    <p:sldId id="290" r:id="rId62"/>
    <p:sldId id="287" r:id="rId63"/>
    <p:sldId id="291" r:id="rId64"/>
    <p:sldId id="292" r:id="rId65"/>
    <p:sldId id="294" r:id="rId66"/>
    <p:sldId id="295" r:id="rId67"/>
    <p:sldId id="296" r:id="rId68"/>
    <p:sldId id="298" r:id="rId69"/>
    <p:sldId id="328" r:id="rId70"/>
    <p:sldId id="307" r:id="rId71"/>
    <p:sldId id="323" r:id="rId72"/>
    <p:sldId id="324" r:id="rId73"/>
    <p:sldId id="378" r:id="rId74"/>
    <p:sldId id="379" r:id="rId75"/>
    <p:sldId id="380" r:id="rId76"/>
    <p:sldId id="299" r:id="rId77"/>
    <p:sldId id="329" r:id="rId78"/>
    <p:sldId id="300" r:id="rId79"/>
    <p:sldId id="330" r:id="rId80"/>
    <p:sldId id="308" r:id="rId81"/>
    <p:sldId id="309" r:id="rId82"/>
    <p:sldId id="310" r:id="rId83"/>
    <p:sldId id="311" r:id="rId84"/>
    <p:sldId id="312" r:id="rId85"/>
    <p:sldId id="313" r:id="rId86"/>
    <p:sldId id="314" r:id="rId87"/>
    <p:sldId id="315" r:id="rId88"/>
    <p:sldId id="316" r:id="rId89"/>
    <p:sldId id="301" r:id="rId90"/>
    <p:sldId id="325" r:id="rId91"/>
    <p:sldId id="327" r:id="rId92"/>
    <p:sldId id="321" r:id="rId9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83" autoAdjust="0"/>
  </p:normalViewPr>
  <p:slideViewPr>
    <p:cSldViewPr>
      <p:cViewPr varScale="1">
        <p:scale>
          <a:sx n="62" d="100"/>
          <a:sy n="62" d="100"/>
        </p:scale>
        <p:origin x="132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1698" y="-5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Dotum" pitchFamily="34" charset="-127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Dotum" pitchFamily="34" charset="-127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Dotum" pitchFamily="34" charset="-127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Dotum" pitchFamily="34" charset="-127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Dotum" pitchFamily="34" charset="-127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Dotum" pitchFamily="34" charset="-127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Dotum" pitchFamily="34" charset="-127"/>
              </a:endParaRPr>
            </a:p>
          </p:txBody>
        </p:sp>
      </p:grpSp>
      <p:sp>
        <p:nvSpPr>
          <p:cNvPr id="911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11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C05AE5C-5AFF-4E8C-A4E7-491F57769F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1EDE7-9259-43C8-981C-3829A99730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FA32B-7D0A-4277-A288-1FFE3AD5C4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295400"/>
            <a:ext cx="3810000" cy="4837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295400"/>
            <a:ext cx="3810000" cy="4837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EF974-2937-411F-B2F5-9A10A69F722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3EBF6-ED57-4604-A9CB-727177B952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97E04-9C5E-450F-A0C1-C330E25707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2FD32-29F7-45FE-9581-078527A420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8C179-3D5A-4109-B9E2-EFB7164108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4C6F68-7546-48FD-B5CA-E007CA30E70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A4C10-EE92-4EFC-9FA5-6DA56BB6CFE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0"/>
            <a:ext cx="1951038" cy="61325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0"/>
            <a:ext cx="5700712" cy="61325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E17D-169B-47D1-BC29-E8C35F1CE0A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1295400"/>
            <a:ext cx="3810000" cy="4837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295400"/>
            <a:ext cx="3810000" cy="4837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00793-1534-4C96-B668-4DCBB6CC083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ltGray">
          <a:xfrm>
            <a:off x="417513" y="481013"/>
            <a:ext cx="438150" cy="47466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ltGray">
          <a:xfrm>
            <a:off x="541338" y="8382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ltGray">
          <a:xfrm>
            <a:off x="911225" y="9032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ltGray">
          <a:xfrm>
            <a:off x="127000" y="8302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gray">
          <a:xfrm>
            <a:off x="762000" y="373063"/>
            <a:ext cx="31750" cy="10525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gray">
          <a:xfrm>
            <a:off x="442913" y="11636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0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295400"/>
            <a:ext cx="7772400" cy="4837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01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1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1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ea typeface="+mn-ea"/>
              </a:defRPr>
            </a:lvl1pPr>
          </a:lstStyle>
          <a:p>
            <a:pPr>
              <a:defRPr/>
            </a:pPr>
            <a:fld id="{4C01BEAF-E2D3-4DEE-87A1-1D9A8B5EC4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6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5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65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2484438" y="1828800"/>
            <a:ext cx="4589462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算法设计与分析</a:t>
            </a:r>
          </a:p>
        </p:txBody>
      </p:sp>
      <p:sp>
        <p:nvSpPr>
          <p:cNvPr id="409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44900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主讲教师：刘春凤、宫秀军</a:t>
            </a:r>
          </a:p>
          <a:p>
            <a:pPr eaLnBrk="1" hangingPunct="1"/>
            <a:r>
              <a:rPr lang="zh-CN" altLang="en-US" dirty="0" smtClean="0"/>
              <a:t>天津大学计算机系</a:t>
            </a:r>
          </a:p>
          <a:p>
            <a:pPr eaLnBrk="1" hangingPunct="1"/>
            <a:r>
              <a:rPr lang="en-US" altLang="zh-CN" dirty="0" smtClean="0">
                <a:solidFill>
                  <a:schemeClr val="folHlink"/>
                </a:solidFill>
              </a:rPr>
              <a:t>cfliu@tju.edu.cn</a:t>
            </a:r>
          </a:p>
          <a:p>
            <a:pPr eaLnBrk="1" hangingPunct="1"/>
            <a:endParaRPr lang="zh-CN" altLang="en-US" dirty="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课程目的</a:t>
            </a:r>
            <a:endParaRPr lang="en-US" altLang="zh-CN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solidFill>
                  <a:schemeClr val="hlink"/>
                </a:solidFill>
              </a:rPr>
              <a:t>课程目的</a:t>
            </a:r>
            <a:r>
              <a:rPr lang="zh-CN" altLang="en-US" dirty="0" smtClean="0"/>
              <a:t>：</a:t>
            </a:r>
          </a:p>
          <a:p>
            <a:pPr lvl="1" eaLnBrk="1" hangingPunct="1"/>
            <a:r>
              <a:rPr lang="zh-CN" altLang="en-US" dirty="0" smtClean="0"/>
              <a:t>计算机算法设计与分析导引</a:t>
            </a:r>
          </a:p>
          <a:p>
            <a:pPr lvl="1" eaLnBrk="1" hangingPunct="1"/>
            <a:r>
              <a:rPr lang="zh-CN" altLang="en-US" dirty="0" smtClean="0"/>
              <a:t>介绍算法分析的概念</a:t>
            </a:r>
          </a:p>
          <a:p>
            <a:pPr lvl="1" eaLnBrk="1" hangingPunct="1">
              <a:buClr>
                <a:srgbClr val="30308E"/>
              </a:buClr>
            </a:pPr>
            <a:r>
              <a:rPr lang="zh-CN" altLang="en-US" dirty="0" smtClean="0"/>
              <a:t>介绍算法设计的主要方法和基本思想；</a:t>
            </a:r>
          </a:p>
          <a:p>
            <a:pPr lvl="1" eaLnBrk="1" hangingPunct="1">
              <a:buClr>
                <a:srgbClr val="30308E"/>
              </a:buClr>
            </a:pPr>
            <a:r>
              <a:rPr lang="zh-CN" altLang="en-US" dirty="0" smtClean="0"/>
              <a:t>能够用算法思想编写程序，并能分析算法复杂度</a:t>
            </a:r>
            <a:endParaRPr lang="en-US" altLang="zh-CN" dirty="0" smtClean="0"/>
          </a:p>
          <a:p>
            <a:pPr lvl="1" eaLnBrk="1" hangingPunct="1">
              <a:buClr>
                <a:srgbClr val="30308E"/>
              </a:buClr>
            </a:pPr>
            <a:endParaRPr lang="zh-CN" altLang="en-US" dirty="0" smtClean="0"/>
          </a:p>
          <a:p>
            <a:pPr eaLnBrk="1" hangingPunct="1">
              <a:buClr>
                <a:srgbClr val="30308E"/>
              </a:buClr>
            </a:pPr>
            <a:r>
              <a:rPr lang="zh-CN" altLang="en-US" dirty="0" smtClean="0">
                <a:solidFill>
                  <a:schemeClr val="hlink"/>
                </a:solidFill>
              </a:rPr>
              <a:t>不是程序设计课，也不是数学课</a:t>
            </a:r>
          </a:p>
          <a:p>
            <a:pPr eaLnBrk="1" hangingPunct="1"/>
            <a:endParaRPr lang="zh-CN" alt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课程安排</a:t>
            </a:r>
          </a:p>
        </p:txBody>
      </p:sp>
      <p:sp>
        <p:nvSpPr>
          <p:cNvPr id="5" name="Rectangle 3"/>
          <p:cNvSpPr>
            <a:spLocks noGrp="1" noChangeArrowheads="1"/>
          </p:cNvSpPr>
          <p:nvPr/>
        </p:nvSpPr>
        <p:spPr bwMode="auto">
          <a:xfrm>
            <a:off x="167329" y="1142984"/>
            <a:ext cx="8763461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成绩</a:t>
            </a:r>
            <a:r>
              <a:rPr lang="zh-CN" altLang="en-US" sz="2400" dirty="0" smtClean="0"/>
              <a:t>评定方法：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出勤</a:t>
            </a:r>
            <a:r>
              <a:rPr lang="en-US" altLang="zh-CN" sz="2400" dirty="0" smtClean="0"/>
              <a:t>+</a:t>
            </a:r>
            <a:r>
              <a:rPr lang="zh-CN" altLang="en-US" sz="2400" dirty="0" smtClean="0"/>
              <a:t>平时</a:t>
            </a:r>
            <a:r>
              <a:rPr lang="zh-CN" altLang="en-US" sz="2400" dirty="0" smtClean="0"/>
              <a:t>作业（含智慧树平台学习情况）</a:t>
            </a:r>
            <a:r>
              <a:rPr lang="en-US" altLang="zh-CN" sz="2400" dirty="0" smtClean="0"/>
              <a:t>+</a:t>
            </a:r>
            <a:r>
              <a:rPr lang="zh-CN" altLang="en-US" sz="2400" dirty="0" smtClean="0"/>
              <a:t>课程设计作业</a:t>
            </a:r>
            <a:r>
              <a:rPr lang="en-US" altLang="zh-CN" sz="2400" dirty="0" smtClean="0"/>
              <a:t>+</a:t>
            </a:r>
            <a:r>
              <a:rPr lang="zh-CN" altLang="en-US" sz="2400" dirty="0" smtClean="0"/>
              <a:t>笔试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笔试成绩占</a:t>
            </a:r>
            <a:r>
              <a:rPr lang="en-US" altLang="zh-CN" sz="2400" dirty="0" smtClean="0"/>
              <a:t>70%</a:t>
            </a:r>
            <a:r>
              <a:rPr lang="zh-CN" altLang="en-US" sz="2400" dirty="0" smtClean="0"/>
              <a:t>，其余占</a:t>
            </a:r>
            <a:r>
              <a:rPr lang="en-US" altLang="zh-CN" sz="2400" dirty="0" smtClean="0"/>
              <a:t>30</a:t>
            </a:r>
            <a:r>
              <a:rPr lang="en-US" altLang="zh-CN" sz="2400" dirty="0" smtClean="0"/>
              <a:t>%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教材及参考书目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285860"/>
            <a:ext cx="8964613" cy="5572140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教材</a:t>
            </a:r>
            <a:endParaRPr lang="en-US" altLang="zh-CN" sz="2400" dirty="0" smtClean="0"/>
          </a:p>
          <a:p>
            <a:pPr lvl="1" eaLnBrk="1" hangingPunct="1"/>
            <a:r>
              <a:rPr lang="en-US" altLang="zh-CN" sz="2000" dirty="0" err="1" smtClean="0"/>
              <a:t>Sartaj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Sahni</a:t>
            </a:r>
            <a:r>
              <a:rPr lang="zh-CN" altLang="en-US" sz="2000" dirty="0" smtClean="0"/>
              <a:t>著，王立柱 等 译，</a:t>
            </a:r>
            <a:r>
              <a:rPr lang="en-US" altLang="zh-CN" sz="2000" dirty="0" smtClean="0">
                <a:solidFill>
                  <a:schemeClr val="hlink"/>
                </a:solidFill>
              </a:rPr>
              <a:t>《</a:t>
            </a:r>
            <a:r>
              <a:rPr lang="zh-CN" altLang="en-US" sz="2000" dirty="0" smtClean="0">
                <a:solidFill>
                  <a:schemeClr val="hlink"/>
                </a:solidFill>
              </a:rPr>
              <a:t>数据结构、算法与应用</a:t>
            </a:r>
            <a:r>
              <a:rPr lang="en-US" altLang="zh-CN" sz="2000" dirty="0" smtClean="0">
                <a:solidFill>
                  <a:schemeClr val="hlink"/>
                </a:solidFill>
              </a:rPr>
              <a:t>--C++</a:t>
            </a:r>
            <a:r>
              <a:rPr lang="zh-CN" altLang="en-US" sz="2000" dirty="0" smtClean="0">
                <a:solidFill>
                  <a:schemeClr val="hlink"/>
                </a:solidFill>
              </a:rPr>
              <a:t>语言描述</a:t>
            </a:r>
            <a:r>
              <a:rPr lang="en-US" altLang="zh-CN" sz="2000" dirty="0" smtClean="0">
                <a:solidFill>
                  <a:schemeClr val="hlink"/>
                </a:solidFill>
              </a:rPr>
              <a:t>》</a:t>
            </a:r>
            <a:r>
              <a:rPr lang="zh-CN" altLang="en-US" sz="2000" dirty="0" smtClean="0">
                <a:solidFill>
                  <a:schemeClr val="hlink"/>
                </a:solidFill>
              </a:rPr>
              <a:t>（原书第二版）</a:t>
            </a:r>
            <a:r>
              <a:rPr lang="zh-CN" altLang="en-US" sz="2000" dirty="0" smtClean="0"/>
              <a:t>，机械工业出版社，</a:t>
            </a:r>
            <a:r>
              <a:rPr lang="en-US" altLang="zh-CN" sz="2000" dirty="0" smtClean="0"/>
              <a:t>2015 </a:t>
            </a:r>
            <a:r>
              <a:rPr lang="zh-CN" altLang="en-US" sz="2000" dirty="0" smtClean="0"/>
              <a:t>（翻译版）</a:t>
            </a:r>
            <a:endParaRPr lang="en-US" altLang="zh-CN" sz="2000" dirty="0" smtClean="0"/>
          </a:p>
          <a:p>
            <a:pPr lvl="1" eaLnBrk="1" hangingPunct="1"/>
            <a:r>
              <a:rPr lang="en-US" altLang="zh-CN" sz="2000" dirty="0" err="1" smtClean="0"/>
              <a:t>Sartaj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Sahni</a:t>
            </a:r>
            <a:r>
              <a:rPr lang="zh-CN" altLang="en-US" sz="2000" dirty="0" smtClean="0"/>
              <a:t>，</a:t>
            </a:r>
            <a:r>
              <a:rPr lang="en-US" altLang="zh-CN" sz="2000" dirty="0" smtClean="0">
                <a:solidFill>
                  <a:schemeClr val="hlink"/>
                </a:solidFill>
              </a:rPr>
              <a:t>《Data Structures, Algorithms, and Applications in C++》</a:t>
            </a:r>
            <a:r>
              <a:rPr lang="zh-CN" altLang="en-US" sz="2000" dirty="0" smtClean="0"/>
              <a:t>， </a:t>
            </a:r>
            <a:r>
              <a:rPr lang="en-US" altLang="zh-CN" sz="2000" dirty="0" smtClean="0"/>
              <a:t>Universities Press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2005</a:t>
            </a:r>
            <a:r>
              <a:rPr lang="zh-CN" altLang="en-US" sz="2000" dirty="0" smtClean="0"/>
              <a:t> （</a:t>
            </a:r>
            <a:r>
              <a:rPr lang="en-US" altLang="zh-CN" sz="2000" dirty="0" smtClean="0"/>
              <a:t>second edition</a:t>
            </a:r>
            <a:r>
              <a:rPr lang="zh-CN" altLang="en-US" sz="2000" dirty="0" smtClean="0"/>
              <a:t>）</a:t>
            </a:r>
          </a:p>
          <a:p>
            <a:pPr eaLnBrk="1" hangingPunct="1"/>
            <a:r>
              <a:rPr lang="zh-CN" altLang="en-US" sz="2400" dirty="0" smtClean="0"/>
              <a:t>参考书目</a:t>
            </a:r>
            <a:endParaRPr lang="en-US" altLang="zh-CN" sz="2400" dirty="0" smtClean="0"/>
          </a:p>
          <a:p>
            <a:pPr lvl="1" eaLnBrk="1" hangingPunct="1"/>
            <a:r>
              <a:rPr lang="en-US" sz="2000" dirty="0" smtClean="0"/>
              <a:t>T. H. </a:t>
            </a:r>
            <a:r>
              <a:rPr lang="en-US" sz="2000" dirty="0" err="1" smtClean="0"/>
              <a:t>Cormen</a:t>
            </a:r>
            <a:r>
              <a:rPr lang="en-US" sz="2000" dirty="0" smtClean="0"/>
              <a:t>, C. E. </a:t>
            </a:r>
            <a:r>
              <a:rPr lang="en-US" sz="2000" dirty="0" err="1" smtClean="0"/>
              <a:t>Leiserson</a:t>
            </a:r>
            <a:r>
              <a:rPr lang="en-US" sz="2000" dirty="0" smtClean="0"/>
              <a:t>, R. L. </a:t>
            </a:r>
            <a:r>
              <a:rPr lang="en-US" sz="2000" dirty="0" err="1" smtClean="0"/>
              <a:t>Rivest</a:t>
            </a:r>
            <a:r>
              <a:rPr lang="en-US" sz="2000" dirty="0" smtClean="0"/>
              <a:t> and C. Stein, Introduction to Algorithms (the third edition)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The MIT Press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2009</a:t>
            </a:r>
            <a:r>
              <a:rPr lang="en-US" altLang="zh-CN" sz="2000" dirty="0" smtClean="0"/>
              <a:t>《</a:t>
            </a:r>
            <a:r>
              <a:rPr lang="zh-CN" altLang="en-US" sz="2000" dirty="0" smtClean="0"/>
              <a:t>算法导论（第三版）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（影印版，中文本），高等教育出版社，</a:t>
            </a:r>
            <a:r>
              <a:rPr lang="en-US" sz="2000" dirty="0" smtClean="0"/>
              <a:t>2012</a:t>
            </a:r>
          </a:p>
          <a:p>
            <a:pPr lvl="1" eaLnBrk="1" hangingPunct="1"/>
            <a:r>
              <a:rPr lang="en-US" altLang="zh-CN" sz="2000" dirty="0" err="1" smtClean="0"/>
              <a:t>Anany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Levitin</a:t>
            </a:r>
            <a:r>
              <a:rPr lang="zh-CN" altLang="en-US" sz="2000" dirty="0" smtClean="0"/>
              <a:t>著，潘彦译，</a:t>
            </a:r>
            <a:r>
              <a:rPr lang="en-US" altLang="zh-CN" sz="2000" dirty="0" smtClean="0"/>
              <a:t>《</a:t>
            </a:r>
            <a:r>
              <a:rPr lang="zh-CN" altLang="en-US" sz="2000" dirty="0" smtClean="0"/>
              <a:t>算法设计与分析基础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，清华大学出版社，</a:t>
            </a:r>
            <a:r>
              <a:rPr lang="en-US" altLang="zh-CN" sz="2000" dirty="0" smtClean="0"/>
              <a:t>2004</a:t>
            </a:r>
          </a:p>
          <a:p>
            <a:pPr lvl="1" eaLnBrk="1" hangingPunct="1"/>
            <a:r>
              <a:rPr lang="en-US" altLang="zh-CN" sz="2000" dirty="0" smtClean="0"/>
              <a:t>《</a:t>
            </a:r>
            <a:r>
              <a:rPr lang="zh-CN" altLang="en-US" sz="2000" dirty="0" smtClean="0"/>
              <a:t>计算机算法设计与分析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第二版</a:t>
            </a:r>
            <a:r>
              <a:rPr lang="en-US" sz="2000" dirty="0" smtClean="0"/>
              <a:t>	</a:t>
            </a:r>
            <a:r>
              <a:rPr lang="zh-CN" altLang="en-US" sz="2000" dirty="0" smtClean="0"/>
              <a:t>王晓东 清华大学出版社</a:t>
            </a:r>
            <a:r>
              <a:rPr lang="en-US" sz="2000" dirty="0" smtClean="0"/>
              <a:t> 2003</a:t>
            </a:r>
            <a:endParaRPr lang="en-US" altLang="zh-CN" sz="20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/>
          <p:cNvSpPr txBox="1">
            <a:spLocks noChangeArrowheads="1"/>
          </p:cNvSpPr>
          <p:nvPr/>
        </p:nvSpPr>
        <p:spPr bwMode="auto">
          <a:xfrm>
            <a:off x="1619250" y="2349500"/>
            <a:ext cx="59039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600" dirty="0"/>
              <a:t>       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第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章  算法概述  </a:t>
            </a:r>
            <a:endParaRPr lang="en-US" altLang="zh-CN" sz="36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算法是计算机科学的主题</a:t>
            </a:r>
          </a:p>
        </p:txBody>
      </p:sp>
      <p:sp>
        <p:nvSpPr>
          <p:cNvPr id="921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1188" y="1544638"/>
            <a:ext cx="8281987" cy="48371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70</a:t>
            </a:r>
            <a:r>
              <a:rPr lang="zh-CN" altLang="en-US" sz="28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年代前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计算机科学基础的主题没有被认清</a:t>
            </a:r>
            <a:r>
              <a:rPr lang="zh-CN" altLang="en-US" sz="2400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sz="28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70</a:t>
            </a:r>
            <a:r>
              <a:rPr lang="zh-CN" altLang="en-US" sz="28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年代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dirty="0" smtClean="0">
                <a:latin typeface="Times New Roman" charset="0"/>
              </a:rPr>
              <a:t>Donald E. Knuth</a:t>
            </a:r>
            <a:r>
              <a:rPr lang="zh-CN" altLang="en-US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出版了</a:t>
            </a:r>
            <a:r>
              <a:rPr lang="en-US" altLang="zh-CN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《The Art of Computer Programming》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以算法研究为主线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确立了算法为计算机科学基础的重要主题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1974</a:t>
            </a:r>
            <a:r>
              <a:rPr lang="zh-CN" altLang="en-US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年获得图灵奖。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70</a:t>
            </a:r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年代后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算法作为计算机科学领域的核心推动了计算机科学技术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b="1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飞速发展</a:t>
            </a:r>
            <a:r>
              <a:rPr lang="en-US" altLang="zh-CN" sz="2400" dirty="0" smtClean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zh-CN" altLang="en-US" sz="2400" dirty="0" smtClean="0">
              <a:solidFill>
                <a:srgbClr val="1C1C1C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计算机科学的体系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10" y="1295400"/>
            <a:ext cx="8312178" cy="4837113"/>
          </a:xfrm>
        </p:spPr>
        <p:txBody>
          <a:bodyPr/>
          <a:lstStyle/>
          <a:p>
            <a:pPr algn="just" eaLnBrk="1" hangingPunct="1"/>
            <a:r>
              <a:rPr lang="zh-CN" altLang="en-US" sz="3600" b="1" dirty="0" smtClean="0">
                <a:solidFill>
                  <a:srgbClr val="1C1C1C"/>
                </a:solidFill>
                <a:latin typeface="仿宋_GB2312" pitchFamily="49" charset="-122"/>
                <a:ea typeface="仿宋_GB2312" pitchFamily="49" charset="-122"/>
              </a:rPr>
              <a:t>解决一个计算问题的过程</a:t>
            </a:r>
          </a:p>
          <a:p>
            <a:pPr eaLnBrk="1" hangingPunct="1"/>
            <a:endParaRPr lang="zh-CN" altLang="en-US" dirty="0" smtClean="0"/>
          </a:p>
        </p:txBody>
      </p:sp>
      <p:sp>
        <p:nvSpPr>
          <p:cNvPr id="226308" name="Text Box 4"/>
          <p:cNvSpPr txBox="1">
            <a:spLocks noChangeArrowheads="1"/>
          </p:cNvSpPr>
          <p:nvPr/>
        </p:nvSpPr>
        <p:spPr bwMode="auto">
          <a:xfrm>
            <a:off x="3009882" y="2195507"/>
            <a:ext cx="1612900" cy="519113"/>
          </a:xfrm>
          <a:prstGeom prst="rect">
            <a:avLst/>
          </a:prstGeom>
          <a:solidFill>
            <a:srgbClr val="FF99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可计算否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09882" y="5615014"/>
            <a:ext cx="1612900" cy="1028701"/>
            <a:chOff x="2544" y="3453"/>
            <a:chExt cx="1142" cy="648"/>
          </a:xfrm>
        </p:grpSpPr>
        <p:sp>
          <p:nvSpPr>
            <p:cNvPr id="10255" name="Text Box 9"/>
            <p:cNvSpPr txBox="1">
              <a:spLocks noChangeArrowheads="1"/>
            </p:cNvSpPr>
            <p:nvPr/>
          </p:nvSpPr>
          <p:spPr bwMode="auto">
            <a:xfrm>
              <a:off x="2544" y="3774"/>
              <a:ext cx="1142" cy="327"/>
            </a:xfrm>
            <a:prstGeom prst="rect">
              <a:avLst/>
            </a:prstGeom>
            <a:solidFill>
              <a:srgbClr val="FF9900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2"/>
                  </a:solidFill>
                  <a:latin typeface="仿宋_GB2312" pitchFamily="49" charset="-122"/>
                  <a:ea typeface="仿宋_GB2312" pitchFamily="49" charset="-122"/>
                </a:rPr>
                <a:t>软件系统</a:t>
              </a:r>
            </a:p>
          </p:txBody>
        </p:sp>
        <p:sp>
          <p:nvSpPr>
            <p:cNvPr id="10256" name="AutoShape 10"/>
            <p:cNvSpPr>
              <a:spLocks noChangeArrowheads="1"/>
            </p:cNvSpPr>
            <p:nvPr/>
          </p:nvSpPr>
          <p:spPr bwMode="auto">
            <a:xfrm>
              <a:off x="3024" y="3453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Dotum" pitchFamily="34" charset="-127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928794" y="4614887"/>
            <a:ext cx="3756025" cy="966788"/>
            <a:chOff x="1778" y="2823"/>
            <a:chExt cx="2661" cy="609"/>
          </a:xfrm>
        </p:grpSpPr>
        <p:sp>
          <p:nvSpPr>
            <p:cNvPr id="10253" name="Text Box 12"/>
            <p:cNvSpPr txBox="1">
              <a:spLocks noChangeArrowheads="1"/>
            </p:cNvSpPr>
            <p:nvPr/>
          </p:nvSpPr>
          <p:spPr bwMode="auto">
            <a:xfrm>
              <a:off x="1778" y="3105"/>
              <a:ext cx="2661" cy="327"/>
            </a:xfrm>
            <a:prstGeom prst="rect">
              <a:avLst/>
            </a:prstGeom>
            <a:solidFill>
              <a:srgbClr val="FF9900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chemeClr val="bg2"/>
                  </a:solidFill>
                  <a:latin typeface="仿宋_GB2312" pitchFamily="49" charset="-122"/>
                  <a:ea typeface="仿宋_GB2312" pitchFamily="49" charset="-122"/>
                </a:rPr>
                <a:t>用计算机语言实现算法</a:t>
              </a:r>
            </a:p>
          </p:txBody>
        </p:sp>
        <p:sp>
          <p:nvSpPr>
            <p:cNvPr id="10254" name="AutoShape 13"/>
            <p:cNvSpPr>
              <a:spLocks noChangeArrowheads="1"/>
            </p:cNvSpPr>
            <p:nvPr/>
          </p:nvSpPr>
          <p:spPr bwMode="auto">
            <a:xfrm>
              <a:off x="3024" y="2823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Dotum" pitchFamily="34" charset="-127"/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408219" y="3686199"/>
            <a:ext cx="2684463" cy="957263"/>
            <a:chOff x="2165" y="2238"/>
            <a:chExt cx="1726" cy="603"/>
          </a:xfrm>
        </p:grpSpPr>
        <p:sp>
          <p:nvSpPr>
            <p:cNvPr id="10251" name="Text Box 15"/>
            <p:cNvSpPr txBox="1">
              <a:spLocks noChangeArrowheads="1"/>
            </p:cNvSpPr>
            <p:nvPr/>
          </p:nvSpPr>
          <p:spPr bwMode="auto">
            <a:xfrm>
              <a:off x="2165" y="2514"/>
              <a:ext cx="1726" cy="327"/>
            </a:xfrm>
            <a:prstGeom prst="rect">
              <a:avLst/>
            </a:prstGeom>
            <a:solidFill>
              <a:srgbClr val="FF9900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2"/>
                  </a:solidFill>
                  <a:latin typeface="仿宋_GB2312" pitchFamily="49" charset="-122"/>
                  <a:ea typeface="仿宋_GB2312" pitchFamily="49" charset="-122"/>
                </a:rPr>
                <a:t>算法设计与分析</a:t>
              </a:r>
            </a:p>
          </p:txBody>
        </p:sp>
        <p:sp>
          <p:nvSpPr>
            <p:cNvPr id="10252" name="AutoShape 16"/>
            <p:cNvSpPr>
              <a:spLocks noChangeArrowheads="1"/>
            </p:cNvSpPr>
            <p:nvPr/>
          </p:nvSpPr>
          <p:spPr bwMode="auto">
            <a:xfrm>
              <a:off x="3005" y="2238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Dotum" pitchFamily="34" charset="-127"/>
              </a:endParaRP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2336782" y="2757489"/>
            <a:ext cx="3044825" cy="1028701"/>
            <a:chOff x="2165" y="2211"/>
            <a:chExt cx="1956" cy="648"/>
          </a:xfrm>
        </p:grpSpPr>
        <p:sp>
          <p:nvSpPr>
            <p:cNvPr id="226322" name="Text Box 18"/>
            <p:cNvSpPr txBox="1">
              <a:spLocks noChangeArrowheads="1"/>
            </p:cNvSpPr>
            <p:nvPr/>
          </p:nvSpPr>
          <p:spPr bwMode="auto">
            <a:xfrm>
              <a:off x="2165" y="2532"/>
              <a:ext cx="1956" cy="327"/>
            </a:xfrm>
            <a:prstGeom prst="rect">
              <a:avLst/>
            </a:prstGeom>
            <a:solidFill>
              <a:srgbClr val="FF9900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  </a:t>
              </a:r>
              <a:r>
                <a:rPr lang="zh-CN" altLang="en-US" sz="2800" b="1" dirty="0">
                  <a:solidFill>
                    <a:schemeClr val="bg2"/>
                  </a:solidFill>
                  <a:latin typeface="仿宋_GB2312" pitchFamily="49" charset="-122"/>
                  <a:ea typeface="仿宋_GB2312" pitchFamily="49" charset="-122"/>
                </a:rPr>
                <a:t>能行可计算否  </a:t>
              </a:r>
            </a:p>
          </p:txBody>
        </p:sp>
        <p:sp>
          <p:nvSpPr>
            <p:cNvPr id="10250" name="AutoShape 19"/>
            <p:cNvSpPr>
              <a:spLocks noChangeArrowheads="1"/>
            </p:cNvSpPr>
            <p:nvPr/>
          </p:nvSpPr>
          <p:spPr bwMode="auto">
            <a:xfrm>
              <a:off x="3024" y="2211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Dotum" pitchFamily="34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算法及其特征</a:t>
            </a:r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14282" y="1500198"/>
            <a:ext cx="8740806" cy="5143512"/>
          </a:xfrm>
        </p:spPr>
        <p:txBody>
          <a:bodyPr/>
          <a:lstStyle/>
          <a:p>
            <a:pPr eaLnBrk="1" hangingPunct="1"/>
            <a:r>
              <a:rPr lang="zh-CN" altLang="en-US" sz="2800" b="1" dirty="0" smtClean="0">
                <a:solidFill>
                  <a:srgbClr val="1C1C1C"/>
                </a:solidFill>
                <a:latin typeface="仿宋_GB2312" pitchFamily="49" charset="-122"/>
                <a:ea typeface="仿宋_GB2312" pitchFamily="49" charset="-122"/>
              </a:rPr>
              <a:t>算法（</a:t>
            </a:r>
            <a:r>
              <a:rPr lang="en-US" altLang="zh-CN" sz="2800" b="1" dirty="0" smtClean="0">
                <a:solidFill>
                  <a:srgbClr val="1C1C1C"/>
                </a:solidFill>
                <a:latin typeface="仿宋_GB2312" pitchFamily="49" charset="-122"/>
                <a:ea typeface="仿宋_GB2312" pitchFamily="49" charset="-122"/>
              </a:rPr>
              <a:t>algorithm</a:t>
            </a:r>
            <a:r>
              <a:rPr lang="zh-CN" altLang="en-US" sz="2800" b="1" dirty="0" smtClean="0">
                <a:solidFill>
                  <a:srgbClr val="1C1C1C"/>
                </a:solidFill>
                <a:latin typeface="仿宋_GB2312" pitchFamily="49" charset="-122"/>
                <a:ea typeface="仿宋_GB2312" pitchFamily="49" charset="-122"/>
              </a:rPr>
              <a:t>）是对特定问题求解步骤的一种描述，是指令的有限序列。</a:t>
            </a:r>
          </a:p>
          <a:p>
            <a:pPr eaLnBrk="1" hangingPunct="1"/>
            <a:r>
              <a:rPr lang="zh-CN" altLang="en-US" sz="2800" b="1" dirty="0" smtClean="0">
                <a:solidFill>
                  <a:srgbClr val="1C1C1C"/>
                </a:solidFill>
                <a:latin typeface="仿宋_GB2312" pitchFamily="49" charset="-122"/>
                <a:ea typeface="仿宋_GB2312" pitchFamily="49" charset="-122"/>
              </a:rPr>
              <a:t>具有以下</a:t>
            </a:r>
            <a:r>
              <a:rPr lang="en-US" altLang="zh-CN" sz="2800" b="1" dirty="0" smtClean="0">
                <a:solidFill>
                  <a:srgbClr val="1C1C1C"/>
                </a:solidFill>
                <a:latin typeface="仿宋_GB2312" pitchFamily="49" charset="-122"/>
                <a:ea typeface="仿宋_GB2312" pitchFamily="49" charset="-122"/>
              </a:rPr>
              <a:t>5</a:t>
            </a:r>
            <a:r>
              <a:rPr lang="zh-CN" altLang="en-US" sz="2800" b="1" dirty="0" smtClean="0">
                <a:solidFill>
                  <a:srgbClr val="1C1C1C"/>
                </a:solidFill>
                <a:latin typeface="仿宋_GB2312" pitchFamily="49" charset="-122"/>
                <a:ea typeface="仿宋_GB2312" pitchFamily="49" charset="-122"/>
              </a:rPr>
              <a:t>个特征</a:t>
            </a:r>
            <a:r>
              <a:rPr lang="en-US" altLang="zh-CN" sz="2800" b="1" dirty="0" smtClean="0">
                <a:solidFill>
                  <a:srgbClr val="1C1C1C"/>
                </a:solidFill>
                <a:latin typeface="仿宋_GB2312" pitchFamily="49" charset="-122"/>
                <a:ea typeface="仿宋_GB2312" pitchFamily="49" charset="-122"/>
              </a:rPr>
              <a:t>:</a:t>
            </a: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输入（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input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）：算法有零个或多个输入量；</a:t>
            </a: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output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）：算法至少产生一个输出量；</a:t>
            </a: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确定性（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definiteness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）：算法的每一条指令都有确切的定义，没有二义性；</a:t>
            </a: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能行性（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effectiveness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）：算法的每一条指令必须足够基本，可以通过已经实现的基本运算执行有限次来实现；</a:t>
            </a: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有穷性（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finiteness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）：算法必须总能在执行有限步之后终止。</a:t>
            </a:r>
          </a:p>
          <a:p>
            <a:pPr eaLnBrk="1" hangingPunct="1">
              <a:buNone/>
            </a:pPr>
            <a:endParaRPr lang="en-US" altLang="zh-CN" sz="2800" b="1" dirty="0" smtClean="0">
              <a:solidFill>
                <a:srgbClr val="1C1C1C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程序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(Program)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95400"/>
            <a:ext cx="8415338" cy="483711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程序是算法用某种程序设计语言的</a:t>
            </a:r>
            <a:r>
              <a:rPr lang="zh-CN" altLang="en-US" sz="24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具体实现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程序可以不满足算法的性质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(5)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例：操作系统，是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程序还是算法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?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操作系统，是一个在无限循环中执行的程序，因而不是一个算法。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操作系统的各种任务可看成是单独的问题，每一个问题由操作系统中的一个子程序通过特定的算法来实现。该子程序得到输出结果后便终止</a:t>
            </a:r>
            <a:r>
              <a:rPr lang="zh-CN" altLang="en-US" sz="20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80000"/>
              </a:lnSpc>
            </a:pPr>
            <a:endParaRPr lang="zh-CN" altLang="en-US" sz="20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为什么要学习算法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95400"/>
            <a:ext cx="7772400" cy="4837113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 smtClean="0">
                <a:solidFill>
                  <a:srgbClr val="000000"/>
                </a:solidFill>
                <a:ea typeface="楷体_GB2312" pitchFamily="49" charset="-122"/>
              </a:rPr>
              <a:t>算法是计算机科学的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基础</a:t>
            </a:r>
            <a:endParaRPr lang="en-US" altLang="zh-CN" sz="2400" b="1" dirty="0" smtClean="0">
              <a:solidFill>
                <a:srgbClr val="000000"/>
              </a:solidFill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 smtClean="0">
                <a:solidFill>
                  <a:srgbClr val="000000"/>
                </a:solidFill>
                <a:ea typeface="楷体_GB2312" pitchFamily="49" charset="-122"/>
              </a:rPr>
              <a:t>更是程序设计的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基石</a:t>
            </a:r>
            <a:endParaRPr lang="en-US" altLang="zh-CN" sz="2400" b="1" dirty="0" smtClean="0">
              <a:solidFill>
                <a:srgbClr val="000000"/>
              </a:solidFill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 smtClean="0">
                <a:solidFill>
                  <a:srgbClr val="000000"/>
                </a:solidFill>
                <a:ea typeface="楷体_GB2312" pitchFamily="49" charset="-122"/>
              </a:rPr>
              <a:t>只有具有良好的算法基础才能成为训练有素的软件人才。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 smtClean="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算法的目的是</a:t>
            </a:r>
            <a:r>
              <a:rPr lang="zh-CN" altLang="en-US" sz="2400" b="1" dirty="0" smtClean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求解问题</a:t>
            </a:r>
            <a:r>
              <a:rPr lang="zh-CN" altLang="en-US" sz="2400" b="1" dirty="0" smtClean="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 smtClean="0">
                <a:solidFill>
                  <a:srgbClr val="000000"/>
                </a:solidFill>
                <a:latin typeface="楷体_GB2312" pitchFamily="49" charset="-122"/>
              </a:rPr>
              <a:t>常见的应用问题类型有</a:t>
            </a:r>
            <a:endParaRPr lang="en-US" altLang="zh-CN" sz="3600" b="1" dirty="0" smtClean="0">
              <a:solidFill>
                <a:srgbClr val="000000"/>
              </a:solidFill>
              <a:latin typeface="楷体_GB2312" pitchFamily="49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295400"/>
            <a:ext cx="8631238" cy="4837113"/>
          </a:xfrm>
        </p:spPr>
        <p:txBody>
          <a:bodyPr/>
          <a:lstStyle/>
          <a:p>
            <a:pPr algn="just" eaLnBrk="1" hangingPunct="1"/>
            <a:r>
              <a:rPr lang="en-US" altLang="zh-CN" sz="36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6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搜索问题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所谓搜索，即是在给定的数据集合中寻找满足条件的数据对象。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如，在图书管理中，若要了解全部读者的借阅信息，就需要对每一位读者的借阅记录依次输出，这是数据对象的遍历问题。如果我们要查找借书超期的读者，则是按照规定的最大借书期限这一特征值去查找满足该条件的记录。</a:t>
            </a:r>
          </a:p>
          <a:p>
            <a:pPr eaLnBrk="1" hangingPunct="1"/>
            <a:endParaRPr lang="zh-CN" altLang="en-US" sz="28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排序问题</a:t>
            </a:r>
            <a:endParaRPr lang="zh-CN" alt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92283"/>
            <a:ext cx="8775700" cy="48371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所谓排序，就是把一组</a:t>
            </a:r>
            <a:r>
              <a:rPr lang="zh-CN" altLang="en-US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无序的数据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按照一定的规则排列起来。排序结果有</a:t>
            </a:r>
            <a:r>
              <a:rPr lang="zh-CN" altLang="en-US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升序和降序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两种。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例如，为便于查询学生的考试成绩，对于成绩单，通常按照学号排序；而在招生录取中，也可以按照成绩的高低排序。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对于同一个问题，排序的算法是多种的，如插入排序、选择排序、交换排序等。</a:t>
            </a:r>
          </a:p>
          <a:p>
            <a:pPr eaLnBrk="1" hangingPunct="1"/>
            <a:endParaRPr lang="zh-CN" altLang="en-US" sz="28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b="1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图论问题</a:t>
            </a:r>
            <a:endParaRPr lang="zh-CN" altLang="en-US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285860"/>
            <a:ext cx="7772400" cy="48371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endParaRPr lang="zh-CN" altLang="en-US" sz="3600" b="1" dirty="0" smtClean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图论问题主要研究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数据结构是图形结构或树形结构的算法问题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。简单的定义，可以认为图是由一些顶点和顶点之间的边所构成的集合。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图结构可以用来对各种各样的实际应用问题建模，包括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交通和通讯网络、工程项目时间表和各种竞赛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。图应用算法主要包括图的遍历算法、最短路径算法、最小生成树算法、拓扑排序算法和网络流算法等。</a:t>
            </a:r>
          </a:p>
          <a:p>
            <a:pPr eaLnBrk="1" hangingPunct="1"/>
            <a:endParaRPr lang="zh-CN" altLang="en-US" sz="2800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b="1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组合数学问题</a:t>
            </a:r>
            <a:endParaRPr lang="zh-CN" altLang="en-US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06" y="1071546"/>
            <a:ext cx="8415338" cy="48371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endParaRPr lang="zh-CN" altLang="en-US" sz="3600" b="1" dirty="0" smtClean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有一些问题要求寻找一个组合对象，比如一个排列、一个组合或者一个子集，这些对象能够满足特定的条件并具有我们想要的特性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如价值最大化或者成本最小化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。从更抽象的角度来看，这类问题是组合数学问题，例如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旅行售货商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问题和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图着色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问题。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组合数学问题所涉及的应用领域更加广阔，例如拓扑学、图论、博弈论、线性规划等。组合数学问题的特点是随着问题规模的增加，会达到计算机的处理能力的极限，所以，组合数学问题是计算机中的难解问题。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几何问题</a:t>
            </a:r>
            <a:endParaRPr lang="zh-CN" altLang="en-US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214422"/>
            <a:ext cx="8415338" cy="48371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6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几何算法处理类似于点、线、多面体这样的几何对象。</a:t>
            </a:r>
            <a:endParaRPr lang="en-US" altLang="zh-CN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经典的计算几何问题，如最近点对问题和凸包问题。</a:t>
            </a:r>
            <a:endParaRPr lang="en-US" altLang="zh-CN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顾名思义，最近点对问题求的是在给定平面上的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个点中，寻找距离最近的两个点。</a:t>
            </a:r>
            <a:endParaRPr lang="en-US" altLang="zh-CN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凸包问题要求找一个能把给定集合中所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有点都包含在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里面的最小凸多边形。</a:t>
            </a:r>
            <a:endParaRPr lang="en-US" altLang="zh-CN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当前，几何问题算法在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计算机图形学、机器人技术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断层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摄像技术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等方面都有广泛的应用。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zh-CN" altLang="en-US" b="1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数值计算问题</a:t>
            </a:r>
            <a:endParaRPr lang="zh-CN" altLang="en-US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520825"/>
            <a:ext cx="7772400" cy="4837113"/>
          </a:xfrm>
        </p:spPr>
        <p:txBody>
          <a:bodyPr/>
          <a:lstStyle/>
          <a:p>
            <a:pPr lvl="1" eaLnBrk="1" hangingPunct="1">
              <a:lnSpc>
                <a:spcPct val="125000"/>
              </a:lnSpc>
            </a:pPr>
            <a:r>
              <a:rPr lang="zh-CN" altLang="en-US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数值计算问题是另一大类问题，它要解决的问题包括：求解方程或者方程组和求数值积分等。</a:t>
            </a:r>
            <a:endParaRPr lang="en-US" altLang="zh-CN" sz="2400" b="1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这些问题常常只能给出一个近似的结果，而不是精确的解析答案。</a:t>
            </a:r>
          </a:p>
          <a:p>
            <a:pPr lvl="1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lvl="1" eaLnBrk="1" hangingPunct="1">
              <a:lnSpc>
                <a:spcPct val="125000"/>
              </a:lnSpc>
            </a:pPr>
            <a:endParaRPr lang="zh-CN" altLang="en-US" sz="2400" b="1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问题求解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95400"/>
            <a:ext cx="8415338" cy="4837113"/>
          </a:xfrm>
        </p:spPr>
        <p:txBody>
          <a:bodyPr/>
          <a:lstStyle/>
          <a:p>
            <a:pPr lvl="1" eaLnBrk="1" hangingPunct="1">
              <a:lnSpc>
                <a:spcPct val="125000"/>
              </a:lnSpc>
            </a:pPr>
            <a:r>
              <a:rPr lang="zh-CN" altLang="en-US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问题求解（</a:t>
            </a:r>
            <a:r>
              <a:rPr lang="en-US" altLang="zh-CN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problem solving</a:t>
            </a:r>
            <a:r>
              <a:rPr lang="zh-CN" altLang="en-US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）是寻找一种方法来实现目标。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计算机求解问题的关键之一是寻找一种问题求解策略（</a:t>
            </a:r>
            <a:r>
              <a:rPr lang="en-US" altLang="zh-CN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problem solving strategy</a:t>
            </a:r>
            <a:r>
              <a:rPr lang="zh-CN" altLang="en-US" sz="24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），得到求解问题的算法，从而得到问题的解。</a:t>
            </a:r>
          </a:p>
          <a:p>
            <a:pPr algn="just" eaLnBrk="1" hangingPunct="1">
              <a:lnSpc>
                <a:spcPct val="145000"/>
              </a:lnSpc>
              <a:spcBef>
                <a:spcPct val="0"/>
              </a:spcBef>
              <a:buFont typeface="Wingdings" pitchFamily="2" charset="2"/>
              <a:buNone/>
            </a:pPr>
            <a:endParaRPr lang="zh-CN" altLang="en-US" sz="2800" b="1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算法设计的一般过程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95400"/>
            <a:ext cx="8999537" cy="5302250"/>
          </a:xfrm>
        </p:spPr>
        <p:txBody>
          <a:bodyPr/>
          <a:lstStyle/>
          <a:p>
            <a:pPr algn="just" eaLnBrk="1" hangingPunct="1">
              <a:lnSpc>
                <a:spcPct val="14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一般情况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问题求解过程包括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lvl="1" eaLnBrk="1" hangingPunct="1">
              <a:lnSpc>
                <a:spcPct val="125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理解问题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预测所有可能的输入 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在精确解和近似解之间做选择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确定适当的数据结构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算法设计技术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贪心法、分治法、动态规划法等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描述算法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跟踪算法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分析算法效率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根据算法编写代码</a:t>
            </a:r>
          </a:p>
          <a:p>
            <a:pPr eaLnBrk="1" hangingPunct="1">
              <a:lnSpc>
                <a:spcPct val="90000"/>
              </a:lnSpc>
            </a:pPr>
            <a:endParaRPr lang="zh-CN" altLang="en-US" sz="2000" b="1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算法分类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81152"/>
            <a:ext cx="8643998" cy="5205434"/>
          </a:xfrm>
        </p:spPr>
        <p:txBody>
          <a:bodyPr/>
          <a:lstStyle/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一个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精确算法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exact algorithm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）总能保证求得问题的解。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一个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启发式算法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heuristic algorithm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）通过使用某种规则、简化或智能猜测来减少问题求解时间。</a:t>
            </a:r>
            <a:endParaRPr lang="en-US" altLang="zh-CN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对于最优化问题，若一个算法致力于寻找近似解而不是最优解，被称为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近似算法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approximation algorithm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如果在算法中需做出某些随机选择，则称为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随机算法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randomized algorithm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如何设计和描述算法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48" y="1295400"/>
            <a:ext cx="7772400" cy="4837113"/>
          </a:xfrm>
        </p:spPr>
        <p:txBody>
          <a:bodyPr/>
          <a:lstStyle/>
          <a:p>
            <a:pPr eaLnBrk="1" hangingPunct="1"/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算法设计</a:t>
            </a:r>
          </a:p>
          <a:p>
            <a:pPr lvl="1" eaLnBrk="1" hangingPunct="1"/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使用面向计算机的问题求解策略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算法设计策略（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algorithm design strategy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defRPr/>
            </a:pPr>
            <a:r>
              <a:rPr lang="zh-CN" altLang="en-US" sz="2800" dirty="0" smtClean="0">
                <a:solidFill>
                  <a:schemeClr val="tx2"/>
                </a:solidFill>
              </a:rPr>
              <a:t> 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算法描述方法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自然语言  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流程图 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伪代码 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程序设计语言 </a:t>
            </a:r>
            <a:endParaRPr lang="en-US" altLang="zh-CN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25000"/>
              </a:lnSpc>
              <a:buNone/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本课程使用 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C++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语言描述算法 </a:t>
            </a:r>
          </a:p>
          <a:p>
            <a:pPr lvl="1" eaLnBrk="1" hangingPunct="1">
              <a:lnSpc>
                <a:spcPct val="125000"/>
              </a:lnSpc>
              <a:buNone/>
              <a:defRPr/>
            </a:pPr>
            <a:endParaRPr lang="zh-CN" altLang="en-US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None/>
            </a:pPr>
            <a:endParaRPr lang="en-US" altLang="zh-CN" sz="24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如何验证算法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520825"/>
            <a:ext cx="8242300" cy="4837113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确认一个算法是否正确的活动称为算法验证（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algorithm validation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 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使用数学方法证明算法的正确性，称为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算法证明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algorithm proof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）。 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程序测试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program testing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）是指对程序模块或程序总体，输入事先准备好的样本数据（称为测试用例，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test case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），检查该程序的输出，来发现程序存在的错误及判定程序是否满足其设计要求。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如何分析算法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95400"/>
            <a:ext cx="7772400" cy="4837113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endParaRPr lang="en-US" altLang="zh-CN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算法分析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algorithm analysis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）是指对算法的执行时间和所需空间的估算</a:t>
            </a:r>
            <a:endParaRPr lang="en-US" altLang="zh-CN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endParaRPr lang="zh-CN" altLang="en-US" sz="24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在算法写成程序后，便可使用样本数据，实际测量一个程序所消耗的时间和空间，这称为程序的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性能测量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performance measurement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2362200" y="2514600"/>
            <a:ext cx="5105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第2章  程序性能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2.1 引论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71600"/>
            <a:ext cx="8018463" cy="5486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程序的性能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程序运行时所需的内存空间量和计算时间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系统开销和求解问题本身的开销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忽略系统开销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区分出算法的性能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为什么要研究性能？设计满足要求的算法</a:t>
            </a:r>
            <a:r>
              <a:rPr lang="en-US" altLang="zh-CN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怎样定义“要求”？需要某种度量指标</a:t>
            </a:r>
            <a:r>
              <a:rPr lang="en-US" altLang="zh-CN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实际应用中，很多问题找不到满足要求的算法。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endParaRPr lang="zh-CN" altLang="en-US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性能评价的方法</a:t>
            </a:r>
          </a:p>
          <a:p>
            <a:pPr lvl="1" algn="just" eaLnBrk="1" hangingPunct="1"/>
            <a:r>
              <a:rPr lang="zh-CN" altLang="en-US" sz="2400" b="1" dirty="0" smtClean="0"/>
              <a:t>解析方法</a:t>
            </a:r>
          </a:p>
          <a:p>
            <a:pPr lvl="1" algn="just" eaLnBrk="1" hangingPunct="1"/>
            <a:r>
              <a:rPr lang="zh-CN" altLang="en-US" sz="2400" b="1" dirty="0" smtClean="0"/>
              <a:t>测量方法</a:t>
            </a:r>
          </a:p>
          <a:p>
            <a:pPr algn="just" eaLnBrk="1" hangingPunct="1"/>
            <a:r>
              <a:rPr lang="zh-CN" altLang="en-US" sz="2800" b="1" dirty="0" smtClean="0"/>
              <a:t>本课程算法评价以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r>
              <a:rPr lang="zh-CN" altLang="en-US" sz="2800" b="1" dirty="0" smtClean="0">
                <a:solidFill>
                  <a:schemeClr val="hlink"/>
                </a:solidFill>
              </a:rPr>
              <a:t>析方法</a:t>
            </a:r>
            <a:r>
              <a:rPr lang="zh-CN" altLang="en-US" sz="2800" b="1" dirty="0" smtClean="0"/>
              <a:t>为主－算法分析</a:t>
            </a:r>
            <a:endParaRPr lang="zh-CN" altLang="en-US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算法复杂性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557338"/>
            <a:ext cx="7772400" cy="48371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kumimoji="0" lang="zh-CN" altLang="en-US" sz="2400" b="1" dirty="0" smtClean="0"/>
              <a:t>算法复杂性是算法运行所需要的计算机资源的量，需要时间资源的量称为</a:t>
            </a:r>
            <a:r>
              <a:rPr kumimoji="0" lang="zh-CN" altLang="en-US" sz="2400" b="1" dirty="0" smtClean="0">
                <a:solidFill>
                  <a:schemeClr val="hlink"/>
                </a:solidFill>
              </a:rPr>
              <a:t>时间复杂性</a:t>
            </a:r>
            <a:r>
              <a:rPr kumimoji="0" lang="zh-CN" altLang="en-US" sz="2400" b="1" dirty="0" smtClean="0"/>
              <a:t>，需要的空间资源的量称为</a:t>
            </a:r>
            <a:r>
              <a:rPr kumimoji="0" lang="zh-CN" altLang="en-US" sz="2400" b="1" dirty="0" smtClean="0">
                <a:solidFill>
                  <a:schemeClr val="hlink"/>
                </a:solidFill>
              </a:rPr>
              <a:t>空间复杂性</a:t>
            </a:r>
            <a:r>
              <a:rPr kumimoji="0" lang="zh-CN" altLang="en-US" sz="2400" b="1" dirty="0" smtClean="0"/>
              <a:t>。</a:t>
            </a:r>
          </a:p>
          <a:p>
            <a:pPr eaLnBrk="1" hangingPunct="1">
              <a:lnSpc>
                <a:spcPct val="120000"/>
              </a:lnSpc>
            </a:pPr>
            <a:endParaRPr kumimoji="0" lang="zh-CN" altLang="en-US" sz="2400" b="1" dirty="0" smtClean="0"/>
          </a:p>
          <a:p>
            <a:pPr eaLnBrk="1" hangingPunct="1">
              <a:lnSpc>
                <a:spcPct val="120000"/>
              </a:lnSpc>
            </a:pPr>
            <a:r>
              <a:rPr kumimoji="0" lang="zh-CN" altLang="en-US" sz="2400" b="1" dirty="0" smtClean="0"/>
              <a:t>算法复杂性只依赖于算法要解的问题的规模、算法的输入和算法本身的函数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问题和问题实例的概念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8569325" cy="511175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问题和问题的实例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 smtClean="0"/>
              <a:t> </a:t>
            </a:r>
            <a:r>
              <a:rPr lang="zh-CN" altLang="en-US" sz="2400" b="1" dirty="0" smtClean="0">
                <a:solidFill>
                  <a:schemeClr val="hlink"/>
                </a:solidFill>
              </a:rPr>
              <a:t>排序问题</a:t>
            </a:r>
            <a:r>
              <a:rPr lang="zh-CN" altLang="en-US" sz="2400" b="1" dirty="0" smtClean="0"/>
              <a:t>：</a:t>
            </a:r>
            <a:r>
              <a:rPr lang="en-US" altLang="zh-CN" sz="2400" b="1" dirty="0" smtClean="0"/>
              <a:t> </a:t>
            </a:r>
            <a:r>
              <a:rPr lang="zh-CN" altLang="en-US" sz="2400" b="1" dirty="0" smtClean="0"/>
              <a:t>任意给定具有</a:t>
            </a:r>
            <a:r>
              <a:rPr lang="zh-CN" altLang="en-US" sz="2400" b="1" dirty="0" smtClean="0">
                <a:latin typeface="Times New Roman" charset="0"/>
              </a:rPr>
              <a:t>“</a:t>
            </a:r>
            <a:r>
              <a:rPr lang="zh-CN" altLang="en-US" sz="2400" b="1" dirty="0" smtClean="0"/>
              <a:t>序</a:t>
            </a:r>
            <a:r>
              <a:rPr lang="zh-CN" altLang="en-US" sz="2400" b="1" dirty="0" smtClean="0">
                <a:latin typeface="Times New Roman" charset="0"/>
              </a:rPr>
              <a:t>”</a:t>
            </a:r>
            <a:r>
              <a:rPr lang="zh-CN" altLang="en-US" sz="2400" b="1" dirty="0" smtClean="0"/>
              <a:t>的关系的集合</a:t>
            </a:r>
            <a:r>
              <a:rPr lang="en-US" altLang="zh-CN" sz="2400" b="1" dirty="0" smtClean="0"/>
              <a:t>U</a:t>
            </a:r>
            <a:r>
              <a:rPr lang="zh-CN" altLang="en-US" sz="2400" b="1" dirty="0" smtClean="0"/>
              <a:t>上的</a:t>
            </a:r>
            <a:r>
              <a:rPr lang="en-US" altLang="zh-CN" sz="2400" b="1" dirty="0" smtClean="0"/>
              <a:t>n</a:t>
            </a:r>
            <a:r>
              <a:rPr lang="zh-CN" altLang="en-US" sz="2400" b="1" dirty="0" smtClean="0"/>
              <a:t>个元素，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给出一算法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将这些元素按</a:t>
            </a:r>
            <a:r>
              <a:rPr lang="zh-CN" altLang="en-US" sz="2400" b="1" dirty="0" smtClean="0">
                <a:latin typeface="Times New Roman" charset="0"/>
              </a:rPr>
              <a:t>“</a:t>
            </a:r>
            <a:r>
              <a:rPr lang="zh-CN" altLang="en-US" sz="2400" b="1" dirty="0" smtClean="0"/>
              <a:t>从小到大</a:t>
            </a:r>
            <a:r>
              <a:rPr lang="en-US" altLang="zh-CN" sz="2400" b="1" dirty="0" smtClean="0">
                <a:latin typeface="Times New Roman" charset="0"/>
              </a:rPr>
              <a:t>”</a:t>
            </a:r>
            <a:r>
              <a:rPr lang="zh-CN" altLang="en-US" sz="2400" b="1" dirty="0" smtClean="0"/>
              <a:t>进行排列。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 smtClean="0">
                <a:solidFill>
                  <a:schemeClr val="hlink"/>
                </a:solidFill>
              </a:rPr>
              <a:t>问题实例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算法输入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：任给</a:t>
            </a:r>
            <a:r>
              <a:rPr lang="en-US" altLang="zh-CN" sz="2400" b="1" dirty="0" smtClean="0"/>
              <a:t>n</a:t>
            </a:r>
            <a:r>
              <a:rPr lang="zh-CN" altLang="en-US" sz="2400" b="1" dirty="0" smtClean="0"/>
              <a:t>＝</a:t>
            </a:r>
            <a:r>
              <a:rPr lang="en-US" altLang="zh-CN" sz="2400" b="1" dirty="0" smtClean="0"/>
              <a:t>100</a:t>
            </a:r>
            <a:r>
              <a:rPr lang="zh-CN" altLang="en-US" sz="2400" b="1" dirty="0" smtClean="0"/>
              <a:t>个整数，试将其排序。</a:t>
            </a:r>
            <a:endParaRPr lang="en-US" altLang="zh-CN" sz="2400" b="1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 smtClean="0"/>
              <a:t>算法必须对任意问题实例都能给出结果</a:t>
            </a:r>
            <a:r>
              <a:rPr lang="en-US" altLang="zh-CN" sz="2400" b="1" dirty="0" smtClean="0"/>
              <a:t>-</a:t>
            </a:r>
            <a:r>
              <a:rPr lang="zh-CN" altLang="en-US" sz="2400" b="1" dirty="0" smtClean="0"/>
              <a:t>算法的一般性。</a:t>
            </a:r>
            <a:endParaRPr lang="en-US" altLang="zh-CN" sz="2400" b="1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 smtClean="0"/>
              <a:t>算法使用一些能机械执行的基本操作</a:t>
            </a:r>
            <a:r>
              <a:rPr lang="en-US" altLang="zh-CN" sz="2400" b="1" dirty="0" smtClean="0"/>
              <a:t>-</a:t>
            </a:r>
            <a:r>
              <a:rPr lang="zh-CN" altLang="en-US" sz="2400" b="1" dirty="0" smtClean="0"/>
              <a:t>算法的机械性。</a:t>
            </a:r>
            <a:endParaRPr lang="en-US" altLang="zh-CN" sz="2400" b="1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 smtClean="0"/>
              <a:t>算法由有穷长度的一组规则组成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例如有限自动机， 语言写的程序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实例长度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输入量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28775"/>
            <a:ext cx="8569325" cy="52562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smtClean="0">
                <a:solidFill>
                  <a:schemeClr val="hlink"/>
                </a:solidFill>
              </a:rPr>
              <a:t>实例长度</a:t>
            </a:r>
            <a:r>
              <a:rPr lang="en-US" altLang="zh-CN" sz="2400" b="1" smtClean="0">
                <a:solidFill>
                  <a:schemeClr val="hlink"/>
                </a:solidFill>
              </a:rPr>
              <a:t>(size)</a:t>
            </a:r>
            <a:r>
              <a:rPr lang="zh-CN" altLang="en-US" sz="2400" b="1" smtClean="0">
                <a:solidFill>
                  <a:schemeClr val="hlink"/>
                </a:solidFill>
              </a:rPr>
              <a:t>：</a:t>
            </a:r>
            <a:r>
              <a:rPr lang="zh-CN" altLang="en-US" sz="2400" b="1" smtClean="0"/>
              <a:t>表示实例的数据结构的长度。例如，向量的长度</a:t>
            </a:r>
            <a:r>
              <a:rPr lang="en-US" altLang="zh-CN" sz="2400" b="1" smtClean="0"/>
              <a:t>nu</a:t>
            </a:r>
            <a:r>
              <a:rPr lang="zh-CN" altLang="en-US" sz="2400" b="1" smtClean="0"/>
              <a:t>，</a:t>
            </a:r>
            <a:r>
              <a:rPr lang="en-US" altLang="zh-CN" sz="2400" b="1" smtClean="0"/>
              <a:t> u</a:t>
            </a:r>
            <a:r>
              <a:rPr lang="zh-CN" altLang="en-US" sz="2400" b="1" smtClean="0"/>
              <a:t>为单个元素的字节数。为了简化分析，我们往往忽略</a:t>
            </a:r>
            <a:r>
              <a:rPr lang="en-US" altLang="zh-CN" sz="2400" b="1" smtClean="0"/>
              <a:t>u</a:t>
            </a:r>
            <a:r>
              <a:rPr lang="zh-CN" altLang="en-US" sz="2400" b="1" smtClean="0"/>
              <a:t>，而用实例特征表示实例长度。</a:t>
            </a:r>
            <a:endParaRPr lang="en-US" altLang="zh-CN" sz="2400" b="1" smtClean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b="1" smtClean="0">
                <a:solidFill>
                  <a:schemeClr val="hlink"/>
                </a:solidFill>
              </a:rPr>
              <a:t>实例特征</a:t>
            </a:r>
            <a:r>
              <a:rPr lang="zh-CN" altLang="en-US" sz="2400" b="1" smtClean="0"/>
              <a:t>：描述问题实例长度</a:t>
            </a:r>
            <a:r>
              <a:rPr lang="en-US" altLang="zh-CN" sz="2400" b="1" smtClean="0"/>
              <a:t>(size)</a:t>
            </a:r>
            <a:r>
              <a:rPr lang="zh-CN" altLang="en-US" sz="2400" b="1" smtClean="0"/>
              <a:t>的参数。例如矩阵的阶数</a:t>
            </a:r>
            <a:r>
              <a:rPr lang="en-US" altLang="zh-CN" sz="2400" b="1" smtClean="0"/>
              <a:t>n</a:t>
            </a:r>
            <a:r>
              <a:rPr lang="zh-CN" altLang="en-US" sz="2400" b="1" smtClean="0"/>
              <a:t>是反映实例长度</a:t>
            </a:r>
            <a:r>
              <a:rPr lang="en-US" altLang="zh-CN" sz="2400" b="1" smtClean="0"/>
              <a:t>(n</a:t>
            </a:r>
            <a:r>
              <a:rPr lang="en-US" altLang="zh-CN" sz="2400" b="1" baseline="30000" smtClean="0"/>
              <a:t>2</a:t>
            </a:r>
            <a:r>
              <a:rPr lang="en-US" altLang="zh-CN" sz="2400" b="1" smtClean="0"/>
              <a:t>)</a:t>
            </a:r>
            <a:r>
              <a:rPr lang="zh-CN" altLang="en-US" sz="2400" b="1" smtClean="0"/>
              <a:t>的参数。</a:t>
            </a:r>
            <a:endParaRPr lang="en-US" altLang="zh-CN" sz="2400" b="1" smtClean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b="1" smtClean="0"/>
              <a:t>选取</a:t>
            </a:r>
            <a:r>
              <a:rPr lang="en-US" altLang="zh-CN" sz="2400" b="1" smtClean="0"/>
              <a:t>n</a:t>
            </a:r>
            <a:r>
              <a:rPr lang="zh-CN" altLang="en-US" sz="2400" b="1" smtClean="0"/>
              <a:t>为实例特征。</a:t>
            </a:r>
            <a:endParaRPr lang="en-US" altLang="zh-CN" sz="2400" b="1" smtClean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b="1" smtClean="0"/>
              <a:t>实例特征的选取有随意性，但要能客观地反应问题的规模。</a:t>
            </a:r>
            <a:endParaRPr lang="en-US" altLang="zh-CN" sz="2400" b="1" smtClean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b="1" smtClean="0">
                <a:latin typeface="Times New Roman" charset="0"/>
              </a:rPr>
              <a:t>算法分析建立算法执行时间或空间占用与实例特征的函数关系。</a:t>
            </a:r>
          </a:p>
          <a:p>
            <a:pPr eaLnBrk="1" hangingPunct="1"/>
            <a:endParaRPr lang="zh-CN" altLang="en-US" sz="2400" b="1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304800"/>
            <a:ext cx="8072437" cy="838200"/>
          </a:xfrm>
        </p:spPr>
        <p:txBody>
          <a:bodyPr/>
          <a:lstStyle/>
          <a:p>
            <a:pPr eaLnBrk="1" hangingPunct="1"/>
            <a:r>
              <a:rPr lang="zh-CN" altLang="en-US" sz="3600" smtClean="0">
                <a:solidFill>
                  <a:schemeClr val="tx1"/>
                </a:solidFill>
              </a:rPr>
              <a:t>2.2 空间复杂度(</a:t>
            </a:r>
            <a:r>
              <a:rPr lang="en-US" altLang="zh-CN" sz="3600" smtClean="0">
                <a:solidFill>
                  <a:schemeClr val="tx1"/>
                </a:solidFill>
              </a:rPr>
              <a:t>Space Complexity)</a:t>
            </a:r>
            <a:endParaRPr lang="zh-CN" altLang="en-US" sz="3600" smtClean="0">
              <a:solidFill>
                <a:schemeClr val="tx1"/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8768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800" b="1" smtClean="0">
                <a:latin typeface="Times New Roman" charset="0"/>
              </a:rPr>
              <a:t>程序</a:t>
            </a:r>
            <a:r>
              <a:rPr lang="en-US" altLang="zh-CN" sz="2800" b="1" smtClean="0">
                <a:latin typeface="Times New Roman" charset="0"/>
              </a:rPr>
              <a:t>p</a:t>
            </a:r>
            <a:r>
              <a:rPr lang="zh-CN" altLang="en-US" sz="2800" b="1" smtClean="0">
                <a:latin typeface="Times New Roman" charset="0"/>
              </a:rPr>
              <a:t>的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charset="0"/>
              </a:rPr>
              <a:t>空间复杂度</a:t>
            </a:r>
            <a:r>
              <a:rPr lang="zh-CN" altLang="en-US" sz="2800" b="1" smtClean="0">
                <a:latin typeface="Times New Roman" charset="0"/>
              </a:rPr>
              <a:t>指程序运行时所需的内存空间大小和实例特征的函数关系。</a:t>
            </a:r>
            <a:endParaRPr lang="en-US" altLang="zh-CN" sz="2800" b="1" smtClean="0">
              <a:latin typeface="Times New Roman" charset="0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b="1" smtClean="0">
                <a:latin typeface="Times New Roman" charset="0"/>
              </a:rPr>
              <a:t>记为</a:t>
            </a:r>
            <a:r>
              <a:rPr lang="en-US" altLang="zh-CN" sz="2800" b="1" smtClean="0">
                <a:latin typeface="Times New Roman" charset="0"/>
              </a:rPr>
              <a:t>S</a:t>
            </a:r>
            <a:r>
              <a:rPr lang="en-US" altLang="zh-CN" sz="2800" b="1" baseline="-25000" smtClean="0">
                <a:latin typeface="Times New Roman" charset="0"/>
              </a:rPr>
              <a:t>p</a:t>
            </a:r>
            <a:r>
              <a:rPr lang="en-US" altLang="zh-CN" sz="2800" b="1" smtClean="0">
                <a:latin typeface="Times New Roman" charset="0"/>
              </a:rPr>
              <a:t>(n)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b="1" smtClean="0">
                <a:latin typeface="Times New Roman" charset="0"/>
              </a:rPr>
              <a:t>程序运行时所需空间包括</a:t>
            </a:r>
            <a:r>
              <a:rPr lang="zh-CN" altLang="en-US" sz="2800" b="1" smtClean="0"/>
              <a:t>：</a:t>
            </a:r>
            <a:endParaRPr lang="en-US" altLang="zh-CN" sz="2800" b="1" smtClean="0">
              <a:latin typeface="Times New Roman" charset="0"/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b="1" smtClean="0">
                <a:latin typeface="Times New Roman" charset="0"/>
              </a:rPr>
              <a:t>指令空间</a:t>
            </a:r>
            <a:r>
              <a:rPr lang="en-US" altLang="zh-CN" sz="2400" b="1" smtClean="0">
                <a:latin typeface="Times New Roman" charset="0"/>
              </a:rPr>
              <a:t>-</a:t>
            </a:r>
            <a:r>
              <a:rPr lang="zh-CN" altLang="en-US" sz="2400" b="1" smtClean="0">
                <a:latin typeface="Times New Roman" charset="0"/>
              </a:rPr>
              <a:t>与实例特征无关的常数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b="1" smtClean="0">
                <a:latin typeface="Times New Roman" charset="0"/>
              </a:rPr>
              <a:t>数据空间：常量和简单变量</a:t>
            </a:r>
            <a:r>
              <a:rPr lang="en-US" altLang="zh-CN" sz="2400" b="1" smtClean="0">
                <a:latin typeface="Times New Roman" charset="0"/>
              </a:rPr>
              <a:t>-</a:t>
            </a:r>
            <a:r>
              <a:rPr lang="zh-CN" altLang="en-US" sz="2400" b="1" smtClean="0">
                <a:latin typeface="Times New Roman" charset="0"/>
              </a:rPr>
              <a:t>实例无关</a:t>
            </a:r>
          </a:p>
          <a:p>
            <a:pPr lvl="1"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smtClean="0">
                <a:latin typeface="Times New Roman" charset="0"/>
              </a:rPr>
              <a:t>                       复合变量</a:t>
            </a:r>
            <a:r>
              <a:rPr lang="en-US" altLang="zh-CN" sz="2400" b="1" smtClean="0">
                <a:latin typeface="Times New Roman" charset="0"/>
              </a:rPr>
              <a:t>(</a:t>
            </a:r>
            <a:r>
              <a:rPr lang="zh-CN" altLang="en-US" sz="2400" b="1" smtClean="0">
                <a:latin typeface="Times New Roman" charset="0"/>
              </a:rPr>
              <a:t>数组、链表、树和图等</a:t>
            </a:r>
            <a:r>
              <a:rPr lang="en-US" altLang="zh-CN" sz="2400" b="1" smtClean="0">
                <a:latin typeface="Times New Roman" charset="0"/>
              </a:rPr>
              <a:t>)</a:t>
            </a:r>
          </a:p>
          <a:p>
            <a:pPr lvl="1"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smtClean="0">
                <a:latin typeface="Times New Roman" charset="0"/>
              </a:rPr>
              <a:t>                       环境栈空间</a:t>
            </a:r>
            <a:r>
              <a:rPr lang="en-US" altLang="zh-CN" sz="2400" b="1" smtClean="0">
                <a:latin typeface="Times New Roman" charset="0"/>
              </a:rPr>
              <a:t>(</a:t>
            </a:r>
            <a:r>
              <a:rPr lang="zh-CN" altLang="en-US" sz="2400" b="1" smtClean="0">
                <a:latin typeface="Times New Roman" charset="0"/>
              </a:rPr>
              <a:t>函数调用</a:t>
            </a:r>
            <a:r>
              <a:rPr lang="en-US" altLang="zh-CN" sz="2400" b="1" smtClean="0">
                <a:latin typeface="Times New Roman" charset="0"/>
              </a:rPr>
              <a:t>)-</a:t>
            </a:r>
            <a:r>
              <a:rPr lang="zh-CN" altLang="en-US" sz="2400" b="1" smtClean="0">
                <a:latin typeface="Times New Roman" charset="0"/>
              </a:rPr>
              <a:t>是否递归</a:t>
            </a:r>
            <a:r>
              <a:rPr lang="en-US" altLang="zh-CN" sz="2400" b="1" smtClean="0">
                <a:latin typeface="Times New Roman" charset="0"/>
              </a:rPr>
              <a:t>?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b="1" smtClean="0">
                <a:latin typeface="Times New Roman" charset="0"/>
              </a:rPr>
              <a:t>复合变量所需空间常常和问题实例特征有关</a:t>
            </a:r>
          </a:p>
          <a:p>
            <a:pPr lvl="1" algn="just" eaLnBrk="1" hangingPunct="1">
              <a:buFont typeface="Wingdings" pitchFamily="2" charset="2"/>
              <a:buNone/>
            </a:pPr>
            <a:endParaRPr lang="zh-CN" altLang="en-US" sz="2400" b="1" smtClean="0">
              <a:latin typeface="Times New Roman" charset="0"/>
            </a:endParaRP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16075"/>
            <a:ext cx="8559800" cy="4837113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 smtClean="0">
                <a:latin typeface="Times New Roman" charset="0"/>
              </a:rPr>
              <a:t>程序</a:t>
            </a:r>
            <a:r>
              <a:rPr lang="en-US" altLang="zh-CN" sz="2800" b="1" dirty="0" smtClean="0">
                <a:latin typeface="Times New Roman" charset="0"/>
              </a:rPr>
              <a:t>p</a:t>
            </a:r>
            <a:r>
              <a:rPr lang="zh-CN" altLang="en-US" sz="2800" b="1" dirty="0" smtClean="0">
                <a:latin typeface="Times New Roman" charset="0"/>
              </a:rPr>
              <a:t>的空间需求量包括两部分：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 smtClean="0">
                <a:latin typeface="Times New Roman" charset="0"/>
              </a:rPr>
              <a:t>    </a:t>
            </a:r>
            <a:r>
              <a:rPr lang="en-US" altLang="zh-CN" sz="2800" b="1" dirty="0" smtClean="0">
                <a:latin typeface="Times New Roman" charset="0"/>
              </a:rPr>
              <a:t>S(p)=</a:t>
            </a:r>
            <a:r>
              <a:rPr lang="en-US" altLang="zh-CN" sz="2800" b="1" dirty="0" err="1" smtClean="0">
                <a:latin typeface="Times New Roman" charset="0"/>
              </a:rPr>
              <a:t>c+S</a:t>
            </a:r>
            <a:r>
              <a:rPr lang="en-US" altLang="zh-CN" sz="2800" b="1" baseline="-25000" dirty="0" err="1" smtClean="0">
                <a:latin typeface="Times New Roman" charset="0"/>
              </a:rPr>
              <a:t>p</a:t>
            </a:r>
            <a:r>
              <a:rPr lang="en-US" altLang="zh-CN" sz="2800" b="1" dirty="0" smtClean="0">
                <a:latin typeface="Times New Roman" charset="0"/>
              </a:rPr>
              <a:t>(instance characteristics)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latin typeface="Times New Roman" charset="0"/>
              </a:rPr>
              <a:t>    c</a:t>
            </a:r>
            <a:r>
              <a:rPr lang="zh-CN" altLang="en-US" sz="2800" b="1" dirty="0" smtClean="0">
                <a:latin typeface="Times New Roman" charset="0"/>
              </a:rPr>
              <a:t>为常量</a:t>
            </a:r>
            <a:r>
              <a:rPr lang="en-US" altLang="zh-CN" sz="2800" b="1" dirty="0" smtClean="0">
                <a:latin typeface="Times New Roman" charset="0"/>
              </a:rPr>
              <a:t>(</a:t>
            </a:r>
            <a:r>
              <a:rPr lang="zh-CN" altLang="en-US" sz="2800" b="1" dirty="0" smtClean="0">
                <a:latin typeface="Times New Roman" charset="0"/>
              </a:rPr>
              <a:t>实例无关部分</a:t>
            </a:r>
            <a:r>
              <a:rPr lang="en-US" altLang="zh-CN" sz="2800" b="1" dirty="0" smtClean="0">
                <a:latin typeface="Times New Roman" charset="0"/>
              </a:rPr>
              <a:t>)</a:t>
            </a:r>
            <a:r>
              <a:rPr lang="zh-CN" altLang="en-US" sz="2800" b="1" dirty="0" smtClean="0">
                <a:latin typeface="Times New Roman" charset="0"/>
              </a:rPr>
              <a:t>，</a:t>
            </a:r>
            <a:r>
              <a:rPr lang="en-US" altLang="zh-CN" sz="2800" b="1" dirty="0" smtClean="0">
                <a:latin typeface="Times New Roman" charset="0"/>
              </a:rPr>
              <a:t>S</a:t>
            </a:r>
            <a:r>
              <a:rPr lang="en-US" altLang="zh-CN" sz="2800" b="1" baseline="-25000" dirty="0" smtClean="0">
                <a:latin typeface="Times New Roman" charset="0"/>
              </a:rPr>
              <a:t>p</a:t>
            </a:r>
            <a:r>
              <a:rPr lang="zh-CN" altLang="en-US" sz="2800" b="1" dirty="0" smtClean="0">
                <a:latin typeface="Times New Roman" charset="0"/>
              </a:rPr>
              <a:t>为可变部分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 smtClean="0">
                <a:latin typeface="Times New Roman" charset="0"/>
              </a:rPr>
              <a:t>在使用解析方法研究程序</a:t>
            </a:r>
            <a:r>
              <a:rPr lang="en-US" altLang="zh-CN" sz="2800" b="1" dirty="0" smtClean="0">
                <a:latin typeface="Times New Roman" charset="0"/>
              </a:rPr>
              <a:t>p</a:t>
            </a:r>
            <a:r>
              <a:rPr lang="zh-CN" altLang="en-US" sz="2800" b="1" dirty="0" smtClean="0">
                <a:latin typeface="Times New Roman" charset="0"/>
              </a:rPr>
              <a:t>的空间复杂度仅考虑函数</a:t>
            </a:r>
            <a:r>
              <a:rPr lang="en-US" altLang="zh-CN" sz="2800" b="1" dirty="0" smtClean="0">
                <a:latin typeface="Times New Roman" charset="0"/>
              </a:rPr>
              <a:t>S</a:t>
            </a:r>
            <a:r>
              <a:rPr lang="en-US" altLang="zh-CN" sz="2800" b="1" baseline="-25000" dirty="0" smtClean="0">
                <a:latin typeface="Times New Roman" charset="0"/>
              </a:rPr>
              <a:t>p</a:t>
            </a:r>
            <a:r>
              <a:rPr lang="en-US" altLang="zh-CN" sz="2800" b="1" dirty="0" smtClean="0">
                <a:latin typeface="Times New Roman" charset="0"/>
              </a:rPr>
              <a:t>(instance characteristics)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 smtClean="0">
                <a:latin typeface="Times New Roman" charset="0"/>
              </a:rPr>
              <a:t>在分析空间复杂度时我们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charset="0"/>
              </a:rPr>
              <a:t>忽略与实例特征无关的空间需求量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85813" y="376238"/>
            <a:ext cx="8072437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zh-CN" altLang="en-US" sz="3600" kern="0" dirty="0">
                <a:latin typeface="+mj-lt"/>
                <a:ea typeface="+mj-ea"/>
                <a:cs typeface="+mj-cs"/>
              </a:rPr>
              <a:t>2.2 空间复杂度(</a:t>
            </a:r>
            <a:r>
              <a:rPr lang="en-US" altLang="zh-CN" sz="3600" kern="0" dirty="0">
                <a:latin typeface="+mj-lt"/>
                <a:ea typeface="+mj-ea"/>
                <a:cs typeface="+mj-cs"/>
              </a:rPr>
              <a:t>Space Complexity) (</a:t>
            </a:r>
            <a:r>
              <a:rPr lang="zh-CN" altLang="en-US" sz="3600" kern="0" dirty="0">
                <a:latin typeface="+mj-lt"/>
                <a:ea typeface="+mj-ea"/>
                <a:cs typeface="+mj-cs"/>
              </a:rPr>
              <a:t>续</a:t>
            </a:r>
            <a:r>
              <a:rPr lang="en-US" altLang="zh-CN" sz="3600" kern="0" dirty="0">
                <a:latin typeface="+mj-lt"/>
                <a:ea typeface="+mj-ea"/>
                <a:cs typeface="+mj-cs"/>
              </a:rPr>
              <a:t>)</a:t>
            </a:r>
            <a:endParaRPr lang="zh-CN" altLang="en-US" sz="3600" kern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7793037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例题2.2</a:t>
            </a:r>
          </a:p>
        </p:txBody>
      </p:sp>
      <p:pic>
        <p:nvPicPr>
          <p:cNvPr id="3891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9750" y="1746250"/>
            <a:ext cx="7848600" cy="4419600"/>
          </a:xfrm>
        </p:spPr>
      </p:pic>
      <p:sp>
        <p:nvSpPr>
          <p:cNvPr id="38916" name="Text Box 5"/>
          <p:cNvSpPr txBox="1">
            <a:spLocks noChangeArrowheads="1"/>
          </p:cNvSpPr>
          <p:nvPr/>
        </p:nvSpPr>
        <p:spPr bwMode="auto">
          <a:xfrm>
            <a:off x="611188" y="6211888"/>
            <a:ext cx="838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2.1 Sequential search</a:t>
            </a:r>
            <a:endParaRPr lang="zh-CN" altLang="en-US" sz="2400"/>
          </a:p>
        </p:txBody>
      </p:sp>
      <p:sp>
        <p:nvSpPr>
          <p:cNvPr id="93190" name="AutoShape 6"/>
          <p:cNvSpPr>
            <a:spLocks noChangeArrowheads="1"/>
          </p:cNvSpPr>
          <p:nvPr/>
        </p:nvSpPr>
        <p:spPr bwMode="auto">
          <a:xfrm>
            <a:off x="5334000" y="4979988"/>
            <a:ext cx="3048000" cy="609600"/>
          </a:xfrm>
          <a:prstGeom prst="wedgeRoundRectCallout">
            <a:avLst>
              <a:gd name="adj1" fmla="val -39685"/>
              <a:gd name="adj2" fmla="val -8359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zh-CN" altLang="en-US" sz="2000">
                <a:solidFill>
                  <a:schemeClr val="tx2"/>
                </a:solidFill>
                <a:latin typeface="Times New Roman" charset="0"/>
              </a:rPr>
              <a:t>实例特征：</a:t>
            </a:r>
            <a:r>
              <a:rPr lang="en-US" altLang="zh-CN" sz="2000">
                <a:solidFill>
                  <a:schemeClr val="tx2"/>
                </a:solidFill>
              </a:rPr>
              <a:t>n</a:t>
            </a:r>
            <a:r>
              <a:rPr lang="en-US" altLang="zh-CN" sz="2000">
                <a:solidFill>
                  <a:schemeClr val="tx2"/>
                </a:solidFill>
                <a:latin typeface="Times New Roman" charset="0"/>
              </a:rPr>
              <a:t>，</a:t>
            </a:r>
            <a:r>
              <a:rPr lang="en-US" altLang="zh-CN" sz="2000">
                <a:solidFill>
                  <a:schemeClr val="tx2"/>
                </a:solidFill>
              </a:rPr>
              <a:t>S(n)=0</a:t>
            </a:r>
            <a:endParaRPr lang="zh-CN" altLang="en-US" sz="20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0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2.2(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60538"/>
            <a:ext cx="8534400" cy="4837112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 a[] 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 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T&amp; x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 bytes 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指针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假定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为整型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形参 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n 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 bytes</a:t>
            </a:r>
            <a:endParaRPr lang="zh-CN" altLang="en-US" sz="28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 err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 bytes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以上均为实例特征独立的空间需求量，所以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s(n)=0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注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上述分析是从程序调用的角度看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存放无序表的数组占用的空间记在上层程序的帐上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例题2.3</a:t>
            </a:r>
          </a:p>
        </p:txBody>
      </p:sp>
      <p:pic>
        <p:nvPicPr>
          <p:cNvPr id="4096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9750" y="1773238"/>
            <a:ext cx="7239000" cy="4033837"/>
          </a:xfrm>
        </p:spPr>
      </p:pic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468313" y="6211888"/>
            <a:ext cx="838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Program 1.8 Add a[0:n-1]</a:t>
            </a:r>
          </a:p>
        </p:txBody>
      </p:sp>
      <p:sp>
        <p:nvSpPr>
          <p:cNvPr id="100358" name="AutoShape 6"/>
          <p:cNvSpPr>
            <a:spLocks noChangeArrowheads="1"/>
          </p:cNvSpPr>
          <p:nvPr/>
        </p:nvSpPr>
        <p:spPr bwMode="auto">
          <a:xfrm>
            <a:off x="5638800" y="4495800"/>
            <a:ext cx="3048000" cy="609600"/>
          </a:xfrm>
          <a:prstGeom prst="wedgeRoundRectCallout">
            <a:avLst>
              <a:gd name="adj1" fmla="val -39685"/>
              <a:gd name="adj2" fmla="val -8359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zh-CN" altLang="en-US" sz="2000">
                <a:solidFill>
                  <a:schemeClr val="tx2"/>
                </a:solidFill>
                <a:latin typeface="Times New Roman" charset="0"/>
              </a:rPr>
              <a:t>实例特征：</a:t>
            </a:r>
            <a:r>
              <a:rPr lang="en-US" altLang="zh-CN" sz="2000">
                <a:solidFill>
                  <a:schemeClr val="tx2"/>
                </a:solidFill>
              </a:rPr>
              <a:t>n</a:t>
            </a:r>
            <a:r>
              <a:rPr lang="en-US" altLang="zh-CN" sz="2000">
                <a:solidFill>
                  <a:schemeClr val="tx2"/>
                </a:solidFill>
                <a:latin typeface="Times New Roman" charset="0"/>
              </a:rPr>
              <a:t>，</a:t>
            </a:r>
            <a:r>
              <a:rPr lang="en-US" altLang="zh-CN" sz="2000">
                <a:solidFill>
                  <a:schemeClr val="tx2"/>
                </a:solidFill>
              </a:rPr>
              <a:t>S(n)=0</a:t>
            </a:r>
            <a:endParaRPr lang="zh-CN" altLang="en-US" sz="2000">
              <a:solidFill>
                <a:schemeClr val="tx2"/>
              </a:solidFill>
            </a:endParaRPr>
          </a:p>
        </p:txBody>
      </p:sp>
      <p:sp>
        <p:nvSpPr>
          <p:cNvPr id="40966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956550" y="549275"/>
            <a:ext cx="719138" cy="576263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8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例题2.4</a:t>
            </a:r>
          </a:p>
        </p:txBody>
      </p:sp>
      <p:pic>
        <p:nvPicPr>
          <p:cNvPr id="4198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84213" y="2312988"/>
            <a:ext cx="7315200" cy="3276600"/>
          </a:xfrm>
        </p:spPr>
      </p:pic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23850" y="5995988"/>
            <a:ext cx="838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</a:t>
            </a:r>
            <a:r>
              <a:rPr lang="zh-CN" altLang="en-US" sz="2400">
                <a:solidFill>
                  <a:srgbClr val="CD1A33"/>
                </a:solidFill>
                <a:latin typeface="Arial" charset="0"/>
              </a:rPr>
              <a:t>1.9 </a:t>
            </a: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Recursive code to add a[0:n-1]</a:t>
            </a:r>
            <a:endParaRPr lang="zh-CN" altLang="en-US" sz="2400"/>
          </a:p>
        </p:txBody>
      </p:sp>
      <p:sp>
        <p:nvSpPr>
          <p:cNvPr id="101381" name="AutoShape 5"/>
          <p:cNvSpPr>
            <a:spLocks noChangeArrowheads="1"/>
          </p:cNvSpPr>
          <p:nvPr/>
        </p:nvSpPr>
        <p:spPr bwMode="auto">
          <a:xfrm>
            <a:off x="5003800" y="4868863"/>
            <a:ext cx="4032250" cy="1079500"/>
          </a:xfrm>
          <a:prstGeom prst="wedgeRoundRectCallout">
            <a:avLst>
              <a:gd name="adj1" fmla="val -33583"/>
              <a:gd name="adj2" fmla="val -37940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zh-CN" altLang="en-US" sz="2000">
                <a:solidFill>
                  <a:schemeClr val="tx2"/>
                </a:solidFill>
                <a:latin typeface="Times New Roman" charset="0"/>
              </a:rPr>
              <a:t>实例特征</a:t>
            </a:r>
            <a:r>
              <a:rPr lang="en-US" altLang="zh-CN" sz="2000">
                <a:solidFill>
                  <a:schemeClr val="tx2"/>
                </a:solidFill>
                <a:latin typeface="Times New Roman" charset="0"/>
              </a:rPr>
              <a:t>:n </a:t>
            </a:r>
            <a:r>
              <a:rPr lang="en-US" altLang="zh-CN" sz="2000">
                <a:solidFill>
                  <a:schemeClr val="tx2"/>
                </a:solidFill>
              </a:rPr>
              <a:t>,</a:t>
            </a:r>
            <a:r>
              <a:rPr lang="zh-CN" altLang="en-US" sz="2000">
                <a:solidFill>
                  <a:schemeClr val="tx2"/>
                </a:solidFill>
              </a:rPr>
              <a:t>递归栈需</a:t>
            </a:r>
            <a:r>
              <a:rPr lang="en-US" altLang="zh-CN" sz="2000">
                <a:solidFill>
                  <a:schemeClr val="tx2"/>
                </a:solidFill>
              </a:rPr>
              <a:t>6 bytes</a:t>
            </a:r>
            <a:endParaRPr lang="en-US" altLang="zh-CN" sz="2000">
              <a:solidFill>
                <a:schemeClr val="tx2"/>
              </a:solidFill>
              <a:latin typeface="Times New Roman" charset="0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altLang="zh-CN" sz="2000">
                <a:solidFill>
                  <a:schemeClr val="tx2"/>
                </a:solidFill>
              </a:rPr>
              <a:t>S(n)=6(n+1)bytes </a:t>
            </a:r>
            <a:endParaRPr lang="zh-CN" altLang="en-US" sz="20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533400"/>
            <a:ext cx="4640263" cy="6937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例题2.5</a:t>
            </a:r>
            <a:endParaRPr lang="en-US" altLang="zh-CN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301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2549525"/>
            <a:ext cx="6248400" cy="2895600"/>
          </a:xfrm>
        </p:spPr>
      </p:pic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684213" y="5995988"/>
            <a:ext cx="830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</a:t>
            </a:r>
            <a:r>
              <a:rPr lang="zh-CN" altLang="en-US" sz="2400">
                <a:solidFill>
                  <a:srgbClr val="CD1A33"/>
                </a:solidFill>
                <a:latin typeface="Arial" charset="0"/>
              </a:rPr>
              <a:t>1.7 </a:t>
            </a: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Recursive function to compute n!</a:t>
            </a:r>
          </a:p>
        </p:txBody>
      </p:sp>
      <p:sp>
        <p:nvSpPr>
          <p:cNvPr id="102406" name="AutoShape 6"/>
          <p:cNvSpPr>
            <a:spLocks noChangeArrowheads="1"/>
          </p:cNvSpPr>
          <p:nvPr/>
        </p:nvSpPr>
        <p:spPr bwMode="auto">
          <a:xfrm>
            <a:off x="4267200" y="5127625"/>
            <a:ext cx="4343400" cy="533400"/>
          </a:xfrm>
          <a:prstGeom prst="wedgeRoundRectCallout">
            <a:avLst>
              <a:gd name="adj1" fmla="val -46676"/>
              <a:gd name="adj2" fmla="val -6577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zh-CN" altLang="en-US" sz="2000" b="1">
                <a:solidFill>
                  <a:schemeClr val="tx2"/>
                </a:solidFill>
                <a:latin typeface="Times New Roman" charset="0"/>
              </a:rPr>
              <a:t>实例特征</a:t>
            </a:r>
            <a:r>
              <a:rPr lang="zh-CN" altLang="en-US" sz="2000">
                <a:solidFill>
                  <a:schemeClr val="tx2"/>
                </a:solidFill>
                <a:latin typeface="Times New Roman" charset="0"/>
              </a:rPr>
              <a:t>：</a:t>
            </a:r>
            <a:r>
              <a:rPr lang="en-US" altLang="zh-CN" sz="2000">
                <a:solidFill>
                  <a:schemeClr val="tx2"/>
                </a:solidFill>
              </a:rPr>
              <a:t>n</a:t>
            </a:r>
            <a:r>
              <a:rPr lang="en-US" altLang="zh-CN" sz="2000">
                <a:solidFill>
                  <a:schemeClr val="tx2"/>
                </a:solidFill>
                <a:latin typeface="Times New Roman" charset="0"/>
              </a:rPr>
              <a:t>， </a:t>
            </a:r>
            <a:r>
              <a:rPr lang="en-US" altLang="zh-CN" sz="2000">
                <a:solidFill>
                  <a:schemeClr val="tx2"/>
                </a:solidFill>
              </a:rPr>
              <a:t>S(n)= </a:t>
            </a:r>
            <a:r>
              <a:rPr lang="zh-CN" altLang="en-US" sz="2000">
                <a:solidFill>
                  <a:schemeClr val="tx2"/>
                </a:solidFill>
              </a:rPr>
              <a:t>4*</a:t>
            </a:r>
            <a:r>
              <a:rPr lang="en-US" altLang="zh-CN" sz="2000">
                <a:solidFill>
                  <a:schemeClr val="tx2"/>
                </a:solidFill>
              </a:rPr>
              <a:t>max{n,1}</a:t>
            </a:r>
            <a:endParaRPr lang="zh-CN" altLang="en-US" sz="20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6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小结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16075"/>
            <a:ext cx="7772400" cy="4837113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对非递归算法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分析与实例特征有关的数据结构的大小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对递归算法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还要分析递归调用的深度和实例特征的关系</a:t>
            </a:r>
          </a:p>
          <a:p>
            <a:pPr eaLnBrk="1" hangingPunct="1"/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213" y="0"/>
            <a:ext cx="7793037" cy="1143000"/>
          </a:xfrm>
        </p:spPr>
        <p:txBody>
          <a:bodyPr/>
          <a:lstStyle/>
          <a:p>
            <a:pPr eaLnBrk="1" hangingPunct="1"/>
            <a:r>
              <a:rPr lang="zh-CN" altLang="en-US" sz="3600" smtClean="0">
                <a:solidFill>
                  <a:schemeClr val="tx1"/>
                </a:solidFill>
              </a:rPr>
              <a:t>2.3 时间复杂度(</a:t>
            </a:r>
            <a:r>
              <a:rPr lang="en-US" altLang="zh-CN" sz="3600" smtClean="0">
                <a:solidFill>
                  <a:schemeClr val="tx1"/>
                </a:solidFill>
              </a:rPr>
              <a:t>time complexity)</a:t>
            </a:r>
            <a:endParaRPr lang="zh-CN" altLang="en-US" sz="3600" smtClean="0">
              <a:solidFill>
                <a:schemeClr val="tx1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00188"/>
            <a:ext cx="8040688" cy="49530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时间复杂度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指程序执行时所用的时间。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在使用解析方法时，程序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的时间复杂度表示为输入量的函数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T。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机器独立的分析方法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解析的方法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在解析地分析时间复杂度时,使用以下两种时间单位并计算：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操作计数(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operation count):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算法的基本操作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(程序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步计数(</a:t>
            </a:r>
            <a:r>
              <a:rPr lang="en-US" altLang="zh-CN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step count):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分析全部程序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要点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基本操作或程序步的执行时间必须是常数。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793038" cy="609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2.3.2  操作计数</a:t>
            </a:r>
            <a:endParaRPr lang="en-US" altLang="zh-CN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608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27088" y="1905000"/>
            <a:ext cx="7924800" cy="4195763"/>
          </a:xfrm>
        </p:spPr>
      </p:pic>
      <p:sp>
        <p:nvSpPr>
          <p:cNvPr id="46084" name="Text Box 5"/>
          <p:cNvSpPr txBox="1">
            <a:spLocks noChangeArrowheads="1"/>
          </p:cNvSpPr>
          <p:nvPr/>
        </p:nvSpPr>
        <p:spPr bwMode="auto">
          <a:xfrm>
            <a:off x="755650" y="6211888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</a:t>
            </a:r>
            <a:r>
              <a:rPr lang="zh-CN" altLang="en-US" sz="2400">
                <a:solidFill>
                  <a:srgbClr val="CD1A33"/>
                </a:solidFill>
                <a:latin typeface="Arial" charset="0"/>
              </a:rPr>
              <a:t>1.31 </a:t>
            </a: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Finding the largest elements</a:t>
            </a:r>
          </a:p>
        </p:txBody>
      </p:sp>
      <p:sp>
        <p:nvSpPr>
          <p:cNvPr id="106504" name="AutoShape 8"/>
          <p:cNvSpPr>
            <a:spLocks noChangeArrowheads="1"/>
          </p:cNvSpPr>
          <p:nvPr/>
        </p:nvSpPr>
        <p:spPr bwMode="auto">
          <a:xfrm>
            <a:off x="5334000" y="5181600"/>
            <a:ext cx="3429000" cy="685800"/>
          </a:xfrm>
          <a:prstGeom prst="wedgeRoundRectCallout">
            <a:avLst>
              <a:gd name="adj1" fmla="val -38194"/>
              <a:gd name="adj2" fmla="val -6782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1600">
                <a:latin typeface="Times New Roman" charset="0"/>
              </a:rPr>
              <a:t>如果包含其他</a:t>
            </a:r>
            <a:r>
              <a:rPr lang="en-US" altLang="zh-CN" sz="1600"/>
              <a:t>operations</a:t>
            </a:r>
            <a:r>
              <a:rPr lang="en-US" altLang="zh-CN" sz="1600">
                <a:latin typeface="Times New Roman" charset="0"/>
              </a:rPr>
              <a:t>，</a:t>
            </a:r>
            <a:r>
              <a:rPr lang="zh-CN" altLang="en-US" sz="1600">
                <a:latin typeface="Times New Roman" charset="0"/>
              </a:rPr>
              <a:t>则时间复杂度</a:t>
            </a:r>
            <a:r>
              <a:rPr lang="en-US" altLang="zh-CN" sz="1600">
                <a:latin typeface="Times New Roman" charset="0"/>
              </a:rPr>
              <a:t>&lt;</a:t>
            </a:r>
            <a:r>
              <a:rPr lang="zh-CN" altLang="en-US" sz="1600">
                <a:latin typeface="Times New Roman" charset="0"/>
              </a:rPr>
              <a:t>某常数</a:t>
            </a:r>
            <a:r>
              <a:rPr lang="zh-CN" altLang="en-US" sz="1600"/>
              <a:t>*</a:t>
            </a:r>
            <a:r>
              <a:rPr lang="en-US" altLang="zh-CN" sz="1600"/>
              <a:t>t(n)</a:t>
            </a:r>
            <a:r>
              <a:rPr lang="en-US" altLang="zh-CN" sz="1600">
                <a:latin typeface="Times New Roman" charset="0"/>
              </a:rPr>
              <a:t>。</a:t>
            </a:r>
            <a:endParaRPr lang="zh-CN" altLang="en-US" sz="1600">
              <a:latin typeface="Times New Roman" charset="0"/>
            </a:endParaRPr>
          </a:p>
          <a:p>
            <a:pPr algn="ctr"/>
            <a:endParaRPr lang="zh-CN" altLang="en-US" sz="2400"/>
          </a:p>
        </p:txBody>
      </p:sp>
      <p:sp>
        <p:nvSpPr>
          <p:cNvPr id="106508" name="AutoShape 12"/>
          <p:cNvSpPr>
            <a:spLocks noChangeArrowheads="1"/>
          </p:cNvSpPr>
          <p:nvPr/>
        </p:nvSpPr>
        <p:spPr bwMode="auto">
          <a:xfrm>
            <a:off x="5943600" y="1524000"/>
            <a:ext cx="2590800" cy="1066800"/>
          </a:xfrm>
          <a:prstGeom prst="wedgeRoundRectCallout">
            <a:avLst>
              <a:gd name="adj1" fmla="val -44301"/>
              <a:gd name="adj2" fmla="val 62352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1600"/>
              <a:t>实例特征 </a:t>
            </a:r>
            <a:r>
              <a:rPr lang="en-US" altLang="zh-CN" sz="1600"/>
              <a:t>: n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operation: comparison 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t(n)=n-1 </a:t>
            </a:r>
            <a:r>
              <a:rPr lang="zh-CN" altLang="en-US" sz="1600"/>
              <a:t>且不可少于</a:t>
            </a:r>
            <a:r>
              <a:rPr lang="en-US" altLang="zh-CN" sz="1600"/>
              <a:t>n-1</a:t>
            </a:r>
          </a:p>
        </p:txBody>
      </p:sp>
      <p:sp>
        <p:nvSpPr>
          <p:cNvPr id="46087" name="Rectangle 13"/>
          <p:cNvSpPr>
            <a:spLocks noChangeArrowheads="1"/>
          </p:cNvSpPr>
          <p:nvPr/>
        </p:nvSpPr>
        <p:spPr bwMode="auto">
          <a:xfrm>
            <a:off x="900113" y="1306513"/>
            <a:ext cx="38084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chemeClr val="tx2"/>
                </a:solidFill>
                <a:latin typeface="Times New Roman" charset="0"/>
              </a:rPr>
              <a:t>例题2.7 </a:t>
            </a:r>
            <a:r>
              <a:rPr lang="en-US" altLang="zh-CN" sz="3200">
                <a:solidFill>
                  <a:schemeClr val="tx2"/>
                </a:solidFill>
                <a:latin typeface="Times New Roman" charset="0"/>
              </a:rPr>
              <a:t>Max Element</a:t>
            </a:r>
            <a:endParaRPr lang="zh-CN" altLang="en-US" sz="32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46088" name="AutoShape 1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956550" y="476250"/>
            <a:ext cx="647700" cy="431800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650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4" grpId="0" animBg="1" autoUpdateAnimBg="0"/>
      <p:bldP spid="106508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例题2.8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Polynomial Evaluation]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710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1347788"/>
            <a:ext cx="8229600" cy="4529137"/>
          </a:xfrm>
        </p:spPr>
      </p:pic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323850" y="6211888"/>
            <a:ext cx="7467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2.3 A function to evaluate a polynomial </a:t>
            </a:r>
          </a:p>
        </p:txBody>
      </p:sp>
      <p:sp>
        <p:nvSpPr>
          <p:cNvPr id="109574" name="AutoShape 6"/>
          <p:cNvSpPr>
            <a:spLocks noChangeArrowheads="1"/>
          </p:cNvSpPr>
          <p:nvPr/>
        </p:nvSpPr>
        <p:spPr bwMode="auto">
          <a:xfrm>
            <a:off x="5795963" y="4886325"/>
            <a:ext cx="2590800" cy="990600"/>
          </a:xfrm>
          <a:prstGeom prst="wedgeRoundRectCallout">
            <a:avLst>
              <a:gd name="adj1" fmla="val -50000"/>
              <a:gd name="adj2" fmla="val -90222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1600"/>
              <a:t>实例特征 </a:t>
            </a:r>
            <a:r>
              <a:rPr lang="en-US" altLang="zh-CN" sz="1600"/>
              <a:t>: n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operation: multiplication,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 t(n)=2n 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4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例题2.8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Polynomial Evaluation]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813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04800" y="1524000"/>
            <a:ext cx="8494713" cy="4316413"/>
          </a:xfrm>
        </p:spPr>
      </p:pic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179388" y="6067425"/>
            <a:ext cx="7467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2.4 Horner's rule for polynomial evaluation </a:t>
            </a:r>
          </a:p>
        </p:txBody>
      </p:sp>
      <p:sp>
        <p:nvSpPr>
          <p:cNvPr id="121861" name="AutoShape 5"/>
          <p:cNvSpPr>
            <a:spLocks noChangeArrowheads="1"/>
          </p:cNvSpPr>
          <p:nvPr/>
        </p:nvSpPr>
        <p:spPr bwMode="auto">
          <a:xfrm>
            <a:off x="5410200" y="5181600"/>
            <a:ext cx="2743200" cy="533400"/>
          </a:xfrm>
          <a:prstGeom prst="wedgeRoundRectCallout">
            <a:avLst>
              <a:gd name="adj1" fmla="val -36282"/>
              <a:gd name="adj2" fmla="val -6696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altLang="zh-CN" sz="2000">
                <a:latin typeface="Times New Roman" charset="0"/>
              </a:rPr>
              <a:t>Horner’s rule:  t(n)=n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例题2.9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Ranking]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915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66800" y="1371600"/>
            <a:ext cx="6553200" cy="4211638"/>
          </a:xfrm>
        </p:spPr>
      </p:pic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685800" y="5638800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2.5  Computing ranks</a:t>
            </a:r>
          </a:p>
        </p:txBody>
      </p:sp>
      <p:sp>
        <p:nvSpPr>
          <p:cNvPr id="110598" name="AutoShape 6"/>
          <p:cNvSpPr>
            <a:spLocks noChangeArrowheads="1"/>
          </p:cNvSpPr>
          <p:nvPr/>
        </p:nvSpPr>
        <p:spPr bwMode="auto">
          <a:xfrm>
            <a:off x="5562600" y="5257800"/>
            <a:ext cx="2819400" cy="990600"/>
          </a:xfrm>
          <a:prstGeom prst="wedgeRoundRectCallout">
            <a:avLst>
              <a:gd name="adj1" fmla="val -44370"/>
              <a:gd name="adj2" fmla="val -5561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Instance size : n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operation: comparison,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t(n)=n*(n-1)/2</a:t>
            </a:r>
          </a:p>
        </p:txBody>
      </p:sp>
      <p:sp>
        <p:nvSpPr>
          <p:cNvPr id="49158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956550" y="476250"/>
            <a:ext cx="647700" cy="431800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8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2.9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（续）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44638"/>
            <a:ext cx="7772400" cy="48371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smtClean="0">
                <a:latin typeface="宋体" pitchFamily="2" charset="-122"/>
              </a:rPr>
              <a:t>例如</a:t>
            </a:r>
            <a:r>
              <a:rPr lang="en-US" altLang="zh-CN" sz="2400" b="1" smtClean="0">
                <a:latin typeface="宋体" pitchFamily="2" charset="-122"/>
              </a:rPr>
              <a:t>a=[4,3,9,3,7] </a:t>
            </a:r>
            <a:r>
              <a:rPr lang="zh-CN" altLang="en-US" sz="2400" b="1" smtClean="0">
                <a:latin typeface="宋体" pitchFamily="2" charset="-122"/>
              </a:rPr>
              <a:t>则</a:t>
            </a:r>
            <a:r>
              <a:rPr lang="en-US" altLang="zh-CN" sz="2400" b="1" smtClean="0">
                <a:latin typeface="宋体" pitchFamily="2" charset="-122"/>
              </a:rPr>
              <a:t>r=[2,0,4,1,3]</a:t>
            </a:r>
            <a:endParaRPr lang="zh-CN" altLang="en-US" sz="2400" b="1" smtClean="0">
              <a:latin typeface="宋体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smtClean="0">
                <a:latin typeface="宋体" pitchFamily="2" charset="-122"/>
              </a:rPr>
              <a:t>又如</a:t>
            </a:r>
            <a:r>
              <a:rPr lang="en-US" altLang="zh-CN" sz="2400" b="1" smtClean="0">
                <a:latin typeface="宋体" pitchFamily="2" charset="-122"/>
              </a:rPr>
              <a:t>a</a:t>
            </a:r>
            <a:r>
              <a:rPr lang="zh-CN" altLang="en-US" sz="2400" b="1" smtClean="0">
                <a:latin typeface="宋体" pitchFamily="2" charset="-122"/>
              </a:rPr>
              <a:t>＝</a:t>
            </a:r>
            <a:r>
              <a:rPr lang="en-US" altLang="zh-CN" sz="2400" b="1" smtClean="0">
                <a:latin typeface="宋体" pitchFamily="2" charset="-122"/>
              </a:rPr>
              <a:t>[9,3,9,3,7]</a:t>
            </a:r>
            <a:r>
              <a:rPr lang="zh-CN" altLang="en-US" sz="2400" b="1" smtClean="0">
                <a:latin typeface="宋体" pitchFamily="2" charset="-122"/>
              </a:rPr>
              <a:t>则</a:t>
            </a:r>
            <a:r>
              <a:rPr lang="en-US" altLang="zh-CN" sz="2400" b="1" smtClean="0">
                <a:latin typeface="宋体" pitchFamily="2" charset="-122"/>
              </a:rPr>
              <a:t>r=[3,0,4,1,2]      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smtClean="0">
                <a:latin typeface="宋体" pitchFamily="2" charset="-122"/>
              </a:rPr>
              <a:t>a</a:t>
            </a:r>
            <a:r>
              <a:rPr lang="zh-CN" altLang="en-US" sz="2400" b="1" smtClean="0">
                <a:latin typeface="宋体" pitchFamily="2" charset="-122"/>
              </a:rPr>
              <a:t>中两个</a:t>
            </a:r>
            <a:r>
              <a:rPr lang="en-US" altLang="zh-CN" sz="2400" b="1" smtClean="0">
                <a:latin typeface="宋体" pitchFamily="2" charset="-122"/>
              </a:rPr>
              <a:t>3</a:t>
            </a:r>
            <a:r>
              <a:rPr lang="zh-CN" altLang="en-US" sz="2400" b="1" smtClean="0">
                <a:latin typeface="宋体" pitchFamily="2" charset="-122"/>
              </a:rPr>
              <a:t>有不同的</a:t>
            </a:r>
            <a:r>
              <a:rPr lang="en-US" altLang="zh-CN" sz="2400" b="1" smtClean="0">
                <a:latin typeface="宋体" pitchFamily="2" charset="-122"/>
              </a:rPr>
              <a:t>rank</a:t>
            </a:r>
            <a:r>
              <a:rPr lang="zh-CN" altLang="en-US" sz="2400" b="1" smtClean="0">
                <a:latin typeface="宋体" pitchFamily="2" charset="-122"/>
              </a:rPr>
              <a:t>值。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smtClean="0">
                <a:latin typeface="宋体" pitchFamily="2" charset="-122"/>
              </a:rPr>
              <a:t>每个元素有不同的</a:t>
            </a:r>
            <a:r>
              <a:rPr lang="en-US" altLang="zh-CN" sz="2400" b="1" smtClean="0">
                <a:latin typeface="宋体" pitchFamily="2" charset="-122"/>
              </a:rPr>
              <a:t>rank</a:t>
            </a:r>
            <a:r>
              <a:rPr lang="zh-CN" altLang="en-US" sz="2400" b="1" smtClean="0">
                <a:latin typeface="宋体" pitchFamily="2" charset="-122"/>
              </a:rPr>
              <a:t>值</a:t>
            </a:r>
            <a:r>
              <a:rPr lang="en-US" altLang="zh-CN" sz="2400" b="1" smtClean="0">
                <a:latin typeface="宋体" pitchFamily="2" charset="-122"/>
              </a:rPr>
              <a:t>; rank</a:t>
            </a:r>
            <a:r>
              <a:rPr lang="zh-CN" altLang="en-US" sz="2400" b="1" smtClean="0">
                <a:latin typeface="宋体" pitchFamily="2" charset="-122"/>
              </a:rPr>
              <a:t>取值于</a:t>
            </a:r>
            <a:r>
              <a:rPr lang="en-US" altLang="zh-CN" sz="2400" b="1" smtClean="0">
                <a:latin typeface="宋体" pitchFamily="2" charset="-122"/>
              </a:rPr>
              <a:t>{0,1,2,...,n-1}.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smtClean="0">
                <a:latin typeface="宋体" pitchFamily="2" charset="-122"/>
              </a:rPr>
              <a:t>如果</a:t>
            </a:r>
            <a:r>
              <a:rPr lang="en-US" altLang="zh-CN" sz="2400" b="1" smtClean="0">
                <a:latin typeface="宋体" pitchFamily="2" charset="-122"/>
              </a:rPr>
              <a:t>r[i]&lt;r[j],</a:t>
            </a:r>
            <a:r>
              <a:rPr lang="zh-CN" altLang="en-US" sz="2400" b="1" smtClean="0">
                <a:latin typeface="宋体" pitchFamily="2" charset="-122"/>
              </a:rPr>
              <a:t>则</a:t>
            </a:r>
            <a:r>
              <a:rPr lang="en-US" altLang="zh-CN" sz="2400" b="1" smtClean="0">
                <a:latin typeface="宋体" pitchFamily="2" charset="-122"/>
              </a:rPr>
              <a:t>a[i]≤a[j]</a:t>
            </a:r>
            <a:r>
              <a:rPr lang="zh-CN" altLang="en-US" sz="2400" b="1" smtClean="0">
                <a:latin typeface="宋体" pitchFamily="2" charset="-122"/>
              </a:rPr>
              <a:t> 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smtClean="0">
                <a:latin typeface="宋体" pitchFamily="2" charset="-122"/>
              </a:rPr>
              <a:t>上述关系可用于排序</a:t>
            </a:r>
            <a:r>
              <a:rPr lang="en-US" altLang="zh-CN" sz="2400" b="1" smtClean="0">
                <a:latin typeface="宋体" pitchFamily="2" charset="-122"/>
              </a:rPr>
              <a:t>:rank</a:t>
            </a:r>
            <a:r>
              <a:rPr lang="zh-CN" altLang="en-US" sz="2400" b="1" smtClean="0">
                <a:latin typeface="宋体" pitchFamily="2" charset="-122"/>
              </a:rPr>
              <a:t>值等于该元素在排序序列中的位置</a:t>
            </a:r>
            <a:r>
              <a:rPr lang="en-US" altLang="zh-CN" sz="2400" b="1" smtClean="0">
                <a:latin typeface="宋体" pitchFamily="2" charset="-122"/>
              </a:rPr>
              <a:t>,</a:t>
            </a:r>
            <a:r>
              <a:rPr lang="zh-CN" altLang="en-US" sz="2400" b="1" smtClean="0">
                <a:latin typeface="宋体" pitchFamily="2" charset="-122"/>
              </a:rPr>
              <a:t>按</a:t>
            </a:r>
            <a:r>
              <a:rPr lang="en-US" altLang="zh-CN" sz="2400" b="1" smtClean="0">
                <a:latin typeface="宋体" pitchFamily="2" charset="-122"/>
              </a:rPr>
              <a:t>rank</a:t>
            </a:r>
            <a:r>
              <a:rPr lang="zh-CN" altLang="en-US" sz="2400" b="1" smtClean="0">
                <a:latin typeface="宋体" pitchFamily="2" charset="-122"/>
              </a:rPr>
              <a:t>值将这些元素放到数组的相应位置</a:t>
            </a:r>
            <a:r>
              <a:rPr lang="en-US" altLang="zh-CN" sz="2400" b="1" smtClean="0">
                <a:latin typeface="宋体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例题2.10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Rank Sort] 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120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55650" y="1414463"/>
            <a:ext cx="7620000" cy="4678362"/>
          </a:xfrm>
        </p:spPr>
      </p:pic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539750" y="6211888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2.6 Rearranging using an additional array</a:t>
            </a:r>
          </a:p>
        </p:txBody>
      </p:sp>
      <p:sp>
        <p:nvSpPr>
          <p:cNvPr id="111621" name="AutoShape 5"/>
          <p:cNvSpPr>
            <a:spLocks noChangeArrowheads="1"/>
          </p:cNvSpPr>
          <p:nvPr/>
        </p:nvSpPr>
        <p:spPr bwMode="auto">
          <a:xfrm>
            <a:off x="3657600" y="5638800"/>
            <a:ext cx="3962400" cy="381000"/>
          </a:xfrm>
          <a:prstGeom prst="wedgeRoundRectCallout">
            <a:avLst>
              <a:gd name="adj1" fmla="val -42269"/>
              <a:gd name="adj2" fmla="val -7958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zh-CN" altLang="en-US" sz="1600">
                <a:latin typeface="宋体" pitchFamily="2" charset="-122"/>
              </a:rPr>
              <a:t>该题调用程序</a:t>
            </a:r>
            <a:r>
              <a:rPr lang="zh-CN" altLang="en-US" sz="1600"/>
              <a:t>2.5</a:t>
            </a:r>
            <a:r>
              <a:rPr lang="zh-CN" altLang="en-US" sz="1600">
                <a:latin typeface="宋体" pitchFamily="2" charset="-122"/>
              </a:rPr>
              <a:t>，</a:t>
            </a:r>
            <a:r>
              <a:rPr lang="en-US" altLang="zh-CN" sz="1600"/>
              <a:t>r[i]=rank of a[i] </a:t>
            </a:r>
            <a:endParaRPr lang="zh-CN" altLang="en-US" sz="1600"/>
          </a:p>
        </p:txBody>
      </p:sp>
      <p:sp>
        <p:nvSpPr>
          <p:cNvPr id="111622" name="AutoShape 6"/>
          <p:cNvSpPr>
            <a:spLocks noChangeArrowheads="1"/>
          </p:cNvSpPr>
          <p:nvPr/>
        </p:nvSpPr>
        <p:spPr bwMode="auto">
          <a:xfrm>
            <a:off x="5638800" y="3883025"/>
            <a:ext cx="3505200" cy="914400"/>
          </a:xfrm>
          <a:prstGeom prst="wedgeRoundRectCallout">
            <a:avLst>
              <a:gd name="adj1" fmla="val -40898"/>
              <a:gd name="adj2" fmla="val -63889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1600"/>
              <a:t>实例特征  </a:t>
            </a:r>
            <a:r>
              <a:rPr lang="en-US" altLang="zh-CN" sz="1600"/>
              <a:t>: n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operation: element move(</a:t>
            </a:r>
            <a:r>
              <a:rPr lang="zh-CN" altLang="en-US" sz="1600">
                <a:latin typeface="宋体" pitchFamily="2" charset="-122"/>
              </a:rPr>
              <a:t>即赋值</a:t>
            </a:r>
            <a:r>
              <a:rPr lang="zh-CN" altLang="en-US" sz="1600"/>
              <a:t>),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t(n)=2n </a:t>
            </a:r>
            <a:endParaRPr lang="zh-CN" altLang="en-US" sz="1600"/>
          </a:p>
        </p:txBody>
      </p:sp>
      <p:sp>
        <p:nvSpPr>
          <p:cNvPr id="51207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956550" y="476250"/>
            <a:ext cx="647700" cy="431800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 animBg="1" autoUpdateAnimBg="0"/>
      <p:bldP spid="111622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例题2.11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Selection Sort] 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222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1676400"/>
            <a:ext cx="7199313" cy="3733800"/>
          </a:xfrm>
        </p:spPr>
      </p:pic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685800" y="5791200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2.7 Selection sort</a:t>
            </a:r>
          </a:p>
        </p:txBody>
      </p:sp>
      <p:sp>
        <p:nvSpPr>
          <p:cNvPr id="112645" name="AutoShape 5"/>
          <p:cNvSpPr>
            <a:spLocks noChangeArrowheads="1"/>
          </p:cNvSpPr>
          <p:nvPr/>
        </p:nvSpPr>
        <p:spPr bwMode="auto">
          <a:xfrm>
            <a:off x="6553200" y="3657600"/>
            <a:ext cx="1828800" cy="838200"/>
          </a:xfrm>
          <a:prstGeom prst="wedgeRoundRectCallout">
            <a:avLst>
              <a:gd name="adj1" fmla="val -64148"/>
              <a:gd name="adj2" fmla="val 1666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altLang="zh-CN" sz="1600"/>
              <a:t>The number of element move is 3(n-1).</a:t>
            </a:r>
          </a:p>
        </p:txBody>
      </p:sp>
      <p:sp>
        <p:nvSpPr>
          <p:cNvPr id="112646" name="AutoShape 6"/>
          <p:cNvSpPr>
            <a:spLocks noChangeArrowheads="1"/>
          </p:cNvSpPr>
          <p:nvPr/>
        </p:nvSpPr>
        <p:spPr bwMode="auto">
          <a:xfrm>
            <a:off x="3429000" y="4724400"/>
            <a:ext cx="2667000" cy="990600"/>
          </a:xfrm>
          <a:prstGeom prst="wedgeRoundRectCallout">
            <a:avLst>
              <a:gd name="adj1" fmla="val -41727"/>
              <a:gd name="adj2" fmla="val -6025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Instance size : n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operation: </a:t>
            </a:r>
            <a:r>
              <a:rPr lang="zh-CN" altLang="en-US" sz="1600"/>
              <a:t> </a:t>
            </a:r>
            <a:r>
              <a:rPr lang="en-US" altLang="zh-CN" sz="1600"/>
              <a:t>comparison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t(n)=n*(n-1)/2 </a:t>
            </a:r>
            <a:endParaRPr lang="zh-CN" altLang="en-US" sz="1600"/>
          </a:p>
        </p:txBody>
      </p:sp>
      <p:sp>
        <p:nvSpPr>
          <p:cNvPr id="52231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956550" y="476250"/>
            <a:ext cx="647700" cy="431800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 animBg="1" autoUpdateAnimBg="0"/>
      <p:bldP spid="112646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357188"/>
            <a:ext cx="7793037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最好，最坏和平均情形时间复杂度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24000"/>
            <a:ext cx="8424862" cy="4497388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当长度相同的不同输入有不同的计算时间时，时间复杂度分析分别考虑三种情形：即最好，最坏和平均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当特定应用对计算时间有严格要求时，应做最坏情形分析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-upper bound.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最好情形分析给出一个算法的计算时间的下界，用来否定一个算法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algn="just" eaLnBrk="1" hangingPunct="1"/>
            <a:endParaRPr lang="en-US" altLang="zh-CN" sz="2800" b="1" dirty="0" smtClean="0">
              <a:latin typeface="Dotum" pitchFamily="34" charset="-127"/>
              <a:ea typeface="Dotum" pitchFamily="34" charset="-127"/>
            </a:endParaRPr>
          </a:p>
          <a:p>
            <a:pPr algn="just" eaLnBrk="1" hangingPunct="1"/>
            <a:endParaRPr lang="en-US" altLang="zh-CN" dirty="0" smtClean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例题2.13  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Sequential Search] 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427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27088" y="1295400"/>
            <a:ext cx="7504112" cy="4479925"/>
          </a:xfrm>
        </p:spPr>
      </p:pic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611188" y="5995988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</a:t>
            </a:r>
            <a:r>
              <a:rPr lang="zh-CN" altLang="en-US" sz="2400">
                <a:solidFill>
                  <a:srgbClr val="CD1A33"/>
                </a:solidFill>
                <a:latin typeface="Arial" charset="0"/>
              </a:rPr>
              <a:t>2.1 </a:t>
            </a: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Sequential search</a:t>
            </a:r>
          </a:p>
        </p:txBody>
      </p:sp>
      <p:sp>
        <p:nvSpPr>
          <p:cNvPr id="115717" name="AutoShape 5"/>
          <p:cNvSpPr>
            <a:spLocks noChangeArrowheads="1"/>
          </p:cNvSpPr>
          <p:nvPr/>
        </p:nvSpPr>
        <p:spPr bwMode="auto">
          <a:xfrm>
            <a:off x="5562600" y="4724400"/>
            <a:ext cx="3581400" cy="1295400"/>
          </a:xfrm>
          <a:prstGeom prst="wedgeRoundRectCallout">
            <a:avLst>
              <a:gd name="adj1" fmla="val -33023"/>
              <a:gd name="adj2" fmla="val -5551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1600">
                <a:latin typeface="宋体" pitchFamily="2" charset="-122"/>
              </a:rPr>
              <a:t>当仅考虑成功查找时，</a:t>
            </a:r>
            <a:r>
              <a:rPr lang="en-US" altLang="zh-CN" sz="1600">
                <a:latin typeface="Times New Roman" charset="0"/>
              </a:rPr>
              <a:t>average case : t(n)=</a:t>
            </a:r>
            <a:r>
              <a:rPr lang="en-US" altLang="zh-CN" sz="1600">
                <a:latin typeface="宋体" pitchFamily="2" charset="-122"/>
              </a:rPr>
              <a:t>（</a:t>
            </a:r>
            <a:r>
              <a:rPr lang="en-US" altLang="zh-CN" sz="1600">
                <a:latin typeface="Times New Roman" charset="0"/>
              </a:rPr>
              <a:t>n+1</a:t>
            </a:r>
            <a:r>
              <a:rPr lang="en-US" altLang="zh-CN" sz="1600">
                <a:latin typeface="宋体" pitchFamily="2" charset="-122"/>
              </a:rPr>
              <a:t>）</a:t>
            </a:r>
            <a:r>
              <a:rPr lang="en-US" altLang="zh-CN" sz="1600">
                <a:latin typeface="Times New Roman" charset="0"/>
              </a:rPr>
              <a:t>/2</a:t>
            </a:r>
            <a:r>
              <a:rPr lang="en-US" altLang="zh-CN" sz="1600">
                <a:latin typeface="宋体" pitchFamily="2" charset="-122"/>
              </a:rPr>
              <a:t>；</a:t>
            </a:r>
          </a:p>
          <a:p>
            <a:pPr>
              <a:spcBef>
                <a:spcPct val="50000"/>
              </a:spcBef>
            </a:pPr>
            <a:r>
              <a:rPr lang="en-US" altLang="zh-CN" sz="1600">
                <a:latin typeface="Times New Roman" charset="0"/>
              </a:rPr>
              <a:t> </a:t>
            </a:r>
            <a:endParaRPr lang="zh-CN" altLang="en-US" sz="1600">
              <a:latin typeface="Times New Roman" charset="0"/>
            </a:endParaRPr>
          </a:p>
        </p:txBody>
      </p:sp>
      <p:sp>
        <p:nvSpPr>
          <p:cNvPr id="115718" name="AutoShape 6"/>
          <p:cNvSpPr>
            <a:spLocks noChangeArrowheads="1"/>
          </p:cNvSpPr>
          <p:nvPr/>
        </p:nvSpPr>
        <p:spPr bwMode="auto">
          <a:xfrm>
            <a:off x="6172200" y="1676400"/>
            <a:ext cx="2590800" cy="685800"/>
          </a:xfrm>
          <a:prstGeom prst="wedgeRoundRectCallout">
            <a:avLst>
              <a:gd name="adj1" fmla="val -34495"/>
              <a:gd name="adj2" fmla="val 58796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Best case: t(n)=1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 Worst case : t(n)=n 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7" grpId="0" animBg="1" autoUpdateAnimBg="0"/>
      <p:bldP spid="115718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例题2.14  [</a:t>
            </a:r>
            <a:r>
              <a:rPr lang="en-US" altLang="zh-CN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Insertion into Sorted Array] </a:t>
            </a:r>
            <a:endParaRPr lang="zh-CN" altLang="en-US" sz="28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529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0" y="1431925"/>
            <a:ext cx="7913688" cy="4397375"/>
          </a:xfrm>
        </p:spPr>
      </p:pic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684213" y="5995988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</a:t>
            </a:r>
            <a:r>
              <a:rPr lang="zh-CN" altLang="en-US" sz="2400">
                <a:solidFill>
                  <a:srgbClr val="CD1A33"/>
                </a:solidFill>
                <a:latin typeface="Arial" charset="0"/>
              </a:rPr>
              <a:t>2.10 </a:t>
            </a: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Inserting into a sorted list</a:t>
            </a: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>
            <a:off x="5940425" y="4090988"/>
            <a:ext cx="2971800" cy="1066800"/>
          </a:xfrm>
          <a:prstGeom prst="wedgeRoundRectCallout">
            <a:avLst>
              <a:gd name="adj1" fmla="val -36644"/>
              <a:gd name="adj2" fmla="val -62648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best case : 1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worst case : n ,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/>
              <a:t>average case: (n/2)+n/(n+1)</a:t>
            </a: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zh-CN" sz="1600"/>
          </a:p>
        </p:txBody>
      </p:sp>
      <p:sp>
        <p:nvSpPr>
          <p:cNvPr id="55302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549275"/>
            <a:ext cx="504825" cy="503238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674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2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611188" y="3643313"/>
            <a:ext cx="7258050" cy="137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charset="0"/>
              </a:rPr>
              <a:t>例：</a:t>
            </a:r>
          </a:p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charset="0"/>
              </a:rPr>
              <a:t>向数组[0:5]=[1,2,6,8,9,11]中插入4，所得到的结果为</a:t>
            </a:r>
            <a:r>
              <a:rPr lang="en-US" altLang="zh-CN" sz="2400" b="1">
                <a:latin typeface="Times New Roman" charset="0"/>
              </a:rPr>
              <a:t>a[0:6]=[1,2,4,6,8,9,11]</a:t>
            </a:r>
          </a:p>
        </p:txBody>
      </p:sp>
      <p:sp>
        <p:nvSpPr>
          <p:cNvPr id="56323" name="Text Box 5"/>
          <p:cNvSpPr txBox="1">
            <a:spLocks noChangeArrowheads="1"/>
          </p:cNvSpPr>
          <p:nvPr/>
        </p:nvSpPr>
        <p:spPr bwMode="auto">
          <a:xfrm>
            <a:off x="611188" y="1804988"/>
            <a:ext cx="7993062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分析：被插入的数据</a:t>
            </a:r>
            <a:r>
              <a:rPr lang="en-US" altLang="zh-CN" sz="2400" b="1"/>
              <a:t>x</a:t>
            </a:r>
            <a:r>
              <a:rPr lang="zh-CN" altLang="en-US" sz="2400" b="1"/>
              <a:t>有相同的机会被插入到任何一个位置上，共有</a:t>
            </a:r>
            <a:r>
              <a:rPr lang="en-US" altLang="zh-CN" sz="2400" b="1"/>
              <a:t>n＋1</a:t>
            </a:r>
            <a:r>
              <a:rPr lang="zh-CN" altLang="en-US" sz="2400" b="1"/>
              <a:t>个可能的插入位置，如果</a:t>
            </a:r>
            <a:r>
              <a:rPr lang="en-US" altLang="zh-CN" sz="2400" b="1"/>
              <a:t>x</a:t>
            </a:r>
            <a:r>
              <a:rPr lang="zh-CN" altLang="en-US" sz="2400" b="1"/>
              <a:t>最终被插入到</a:t>
            </a:r>
            <a:r>
              <a:rPr lang="en-US" altLang="zh-CN" sz="2400" b="1"/>
              <a:t>a</a:t>
            </a:r>
            <a:r>
              <a:rPr lang="zh-CN" altLang="en-US" sz="2400" b="1"/>
              <a:t>的</a:t>
            </a:r>
            <a:r>
              <a:rPr lang="en-US" altLang="zh-CN" sz="2400" b="1"/>
              <a:t>i＋1</a:t>
            </a:r>
            <a:r>
              <a:rPr lang="zh-CN" altLang="en-US" sz="2400" b="1"/>
              <a:t>处，则执行的比较次数为</a:t>
            </a:r>
            <a:r>
              <a:rPr lang="en-US" altLang="zh-CN" sz="2400" b="1"/>
              <a:t>n－i，</a:t>
            </a:r>
            <a:r>
              <a:rPr lang="zh-CN" altLang="en-US" sz="2400" b="1"/>
              <a:t>如果</a:t>
            </a:r>
            <a:r>
              <a:rPr lang="en-US" altLang="zh-CN" sz="2400" b="1"/>
              <a:t>x</a:t>
            </a:r>
            <a:r>
              <a:rPr lang="zh-CN" altLang="en-US" sz="2400" b="1"/>
              <a:t>被插入到</a:t>
            </a:r>
            <a:r>
              <a:rPr lang="en-US" altLang="zh-CN" sz="2400" b="1"/>
              <a:t>a[0]，</a:t>
            </a:r>
            <a:r>
              <a:rPr lang="zh-CN" altLang="en-US" sz="2400" b="1"/>
              <a:t>则比较次数为</a:t>
            </a:r>
            <a:r>
              <a:rPr lang="en-US" altLang="zh-CN" sz="2400" b="1"/>
              <a:t>n。</a:t>
            </a:r>
            <a:r>
              <a:rPr lang="zh-CN" altLang="en-US" sz="2400" b="1"/>
              <a:t>然后求平均的比较次数</a:t>
            </a:r>
          </a:p>
        </p:txBody>
      </p:sp>
      <p:sp>
        <p:nvSpPr>
          <p:cNvPr id="5632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2.14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（续）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188913"/>
            <a:ext cx="7793037" cy="9540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例题2.15  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Rank Sort Revisited] 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734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82688" y="1295400"/>
            <a:ext cx="7199312" cy="4479925"/>
          </a:xfrm>
        </p:spPr>
      </p:pic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1143000" y="586740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</a:t>
            </a:r>
            <a:r>
              <a:rPr lang="zh-CN" altLang="en-US" sz="2400">
                <a:solidFill>
                  <a:srgbClr val="CD1A33"/>
                </a:solidFill>
                <a:latin typeface="Arial" charset="0"/>
              </a:rPr>
              <a:t>2.11 </a:t>
            </a: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In-place rearrangement of elements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44638"/>
            <a:ext cx="7772400" cy="4837112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宋体" pitchFamily="2" charset="-122"/>
              </a:rPr>
              <a:t>例如</a:t>
            </a:r>
            <a:r>
              <a:rPr lang="en-US" altLang="zh-CN" smtClean="0">
                <a:latin typeface="宋体" pitchFamily="2" charset="-122"/>
              </a:rPr>
              <a:t>a=[4,3,9,3,7] </a:t>
            </a:r>
            <a:r>
              <a:rPr lang="zh-CN" altLang="en-US" smtClean="0">
                <a:latin typeface="宋体" pitchFamily="2" charset="-122"/>
              </a:rPr>
              <a:t>则</a:t>
            </a:r>
            <a:r>
              <a:rPr lang="en-US" altLang="zh-CN" smtClean="0">
                <a:latin typeface="宋体" pitchFamily="2" charset="-122"/>
              </a:rPr>
              <a:t>r=[2,0,4,1,3]</a:t>
            </a:r>
            <a:endParaRPr lang="zh-CN" altLang="en-US" smtClean="0">
              <a:latin typeface="宋体" pitchFamily="2" charset="-122"/>
            </a:endParaRPr>
          </a:p>
          <a:p>
            <a:pPr eaLnBrk="1" hangingPunct="1"/>
            <a:r>
              <a:rPr lang="zh-CN" altLang="en-US" smtClean="0">
                <a:latin typeface="宋体" pitchFamily="2" charset="-122"/>
              </a:rPr>
              <a:t>交换过程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>
                <a:latin typeface="宋体" pitchFamily="2" charset="-122"/>
              </a:rPr>
              <a:t>1.</a:t>
            </a:r>
            <a:r>
              <a:rPr lang="zh-CN" altLang="en-US" smtClean="0">
                <a:latin typeface="宋体" pitchFamily="2" charset="-122"/>
              </a:rPr>
              <a:t>       </a:t>
            </a:r>
            <a:r>
              <a:rPr lang="en-US" altLang="zh-CN" smtClean="0">
                <a:latin typeface="宋体" pitchFamily="2" charset="-122"/>
              </a:rPr>
              <a:t>a=[9,3,4,3,7] r=[4,0,2,1,3]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>
                <a:latin typeface="宋体" pitchFamily="2" charset="-122"/>
              </a:rPr>
              <a:t>2.          [3,9,4,3,7]    [0,4,2,1,3]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>
                <a:latin typeface="宋体" pitchFamily="2" charset="-122"/>
              </a:rPr>
              <a:t>3.          [3,3,4,9,7]    [0,1,2,4,3]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>
                <a:latin typeface="宋体" pitchFamily="2" charset="-122"/>
              </a:rPr>
              <a:t>4.          [3,3,4,7,9]    [0,1,2,3,4]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例题2.15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Rank Sort Revisited]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616075"/>
            <a:ext cx="7772400" cy="4837113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Swap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操作需3次简单赋值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Swap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操作执行时间为常数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分析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swap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的执行次数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每次执行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Swap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至少使一个元素就位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交换后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a[t]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Rank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值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r[t]=t,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其后循环到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i=t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时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r[t]=t,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从而跳过循环体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算法最多做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2(n-1)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次交换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(swap)-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上界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(upper bound).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Rank Sort Revisited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95400"/>
            <a:ext cx="8486775" cy="4837113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best case: 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a[]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sorted, t(n)=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0, </a:t>
            </a:r>
            <a:endParaRPr lang="en-US" altLang="zh-CN" sz="2800" b="1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worst case: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当输入有以下形式时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:[5,3,1,2,4],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算法达到最坏情形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t(n)=2(n-1).(upper bound is tight.)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[5,4,3,2,1]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不是最坏情形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分析平均情形时间复杂度较难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例题2.16   [</a:t>
            </a:r>
            <a:r>
              <a:rPr lang="en-US" altLang="zh-CN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Selection Sort Revisited] </a:t>
            </a:r>
            <a:endParaRPr lang="zh-CN" altLang="en-US" sz="28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144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4400" y="1295400"/>
            <a:ext cx="7961313" cy="5164138"/>
          </a:xfrm>
        </p:spPr>
      </p:pic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827088" y="6427788"/>
            <a:ext cx="800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2.12 Early-terminating version of selection sort</a:t>
            </a:r>
          </a:p>
        </p:txBody>
      </p:sp>
      <p:sp>
        <p:nvSpPr>
          <p:cNvPr id="118789" name="AutoShape 5"/>
          <p:cNvSpPr>
            <a:spLocks noChangeArrowheads="1"/>
          </p:cNvSpPr>
          <p:nvPr/>
        </p:nvSpPr>
        <p:spPr bwMode="auto">
          <a:xfrm>
            <a:off x="4572000" y="3429000"/>
            <a:ext cx="3048000" cy="914400"/>
          </a:xfrm>
          <a:prstGeom prst="wedgeRoundRectCallout">
            <a:avLst>
              <a:gd name="adj1" fmla="val -884"/>
              <a:gd name="adj2" fmla="val -3194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zh-CN" altLang="en-US" sz="1600">
                <a:latin typeface="Times New Roman" charset="0"/>
              </a:rPr>
              <a:t>在求最大元素时，如发现已排好序则终止程序执行。</a:t>
            </a:r>
          </a:p>
        </p:txBody>
      </p:sp>
      <p:sp>
        <p:nvSpPr>
          <p:cNvPr id="118790" name="AutoShape 6"/>
          <p:cNvSpPr>
            <a:spLocks noChangeArrowheads="1"/>
          </p:cNvSpPr>
          <p:nvPr/>
        </p:nvSpPr>
        <p:spPr bwMode="auto">
          <a:xfrm>
            <a:off x="6300788" y="5445125"/>
            <a:ext cx="2438400" cy="914400"/>
          </a:xfrm>
          <a:prstGeom prst="wedgeRoundRectCallout">
            <a:avLst>
              <a:gd name="adj1" fmla="val -35546"/>
              <a:gd name="adj2" fmla="val -58162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1800">
                <a:latin typeface="Times New Roman" charset="0"/>
              </a:rPr>
              <a:t>best case : n-1</a:t>
            </a:r>
            <a:r>
              <a:rPr lang="en-US" altLang="zh-CN" sz="1800">
                <a:latin typeface="宋体" pitchFamily="2" charset="-122"/>
              </a:rPr>
              <a:t>，</a:t>
            </a:r>
          </a:p>
          <a:p>
            <a:r>
              <a:rPr lang="en-US" altLang="zh-CN" sz="1800">
                <a:latin typeface="Times New Roman" charset="0"/>
              </a:rPr>
              <a:t>worst case :(n-1)n/2</a:t>
            </a:r>
            <a:r>
              <a:rPr lang="en-US" altLang="zh-CN" sz="1800">
                <a:latin typeface="宋体" pitchFamily="2" charset="-122"/>
              </a:rPr>
              <a:t>。</a:t>
            </a:r>
            <a:r>
              <a:rPr lang="en-US" altLang="zh-CN" sz="1800">
                <a:latin typeface="Times New Roman" charset="0"/>
              </a:rPr>
              <a:t> </a:t>
            </a:r>
            <a:endParaRPr lang="zh-CN" altLang="en-US" sz="1800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9" grpId="0" animBg="1" autoUpdateAnimBg="0"/>
      <p:bldP spid="118790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例题2.18  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Insertion Sort] 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246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84213" y="1968500"/>
            <a:ext cx="6742112" cy="4197350"/>
          </a:xfrm>
        </p:spPr>
      </p:pic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755650" y="614045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</a:t>
            </a:r>
            <a:r>
              <a:rPr lang="zh-CN" altLang="en-US" sz="2400">
                <a:solidFill>
                  <a:srgbClr val="CD1A33"/>
                </a:solidFill>
                <a:latin typeface="Arial" charset="0"/>
              </a:rPr>
              <a:t>2.14 </a:t>
            </a: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Insertion sort</a:t>
            </a:r>
          </a:p>
        </p:txBody>
      </p:sp>
      <p:sp>
        <p:nvSpPr>
          <p:cNvPr id="62469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101013" y="404813"/>
            <a:ext cx="863600" cy="647700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例题2.18 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Insertion Sort] 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349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11188" y="1685925"/>
            <a:ext cx="7199312" cy="4479925"/>
          </a:xfrm>
        </p:spPr>
      </p:pic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468313" y="6284913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2.15 Another version of insertion 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779303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Insertion Sort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60538"/>
            <a:ext cx="7772400" cy="4837112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Insertion Sort 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最好情形使用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(n-1)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次比较：已排好序输入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最坏情形使用为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n(n-1)/2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次比较：从大到小排列的输入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(reverse ordered).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2.3.3 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Step Count 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方法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371600"/>
            <a:ext cx="8286750" cy="4992688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一条或多条执行时间是常数的语句称为“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步”，例如简单赋值语句；不涉及函数调用的表达式求值；简单的条件判断等。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Step Count 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方法以程序执行的总“步数”，即“步数”计数 ，作为算法的时间复杂度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T(n)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c1≤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每“步”的执行时间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≤c2,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则实际执行时间满足：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c1t(n)≤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实际执行时间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≤c2t(n)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划分程序步的方法不唯一，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t(n)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也不唯一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但数量级唯一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                    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例题2.19  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656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1295400"/>
            <a:ext cx="7961313" cy="5164138"/>
          </a:xfrm>
        </p:spPr>
      </p:pic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1042988" y="6381750"/>
            <a:ext cx="800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2.16 Counting steps in Program 1.8</a:t>
            </a:r>
          </a:p>
        </p:txBody>
      </p:sp>
      <p:sp>
        <p:nvSpPr>
          <p:cNvPr id="124934" name="AutoShape 6"/>
          <p:cNvSpPr>
            <a:spLocks noChangeArrowheads="1"/>
          </p:cNvSpPr>
          <p:nvPr/>
        </p:nvSpPr>
        <p:spPr bwMode="auto">
          <a:xfrm>
            <a:off x="6372225" y="5948363"/>
            <a:ext cx="2466975" cy="576262"/>
          </a:xfrm>
          <a:prstGeom prst="wedgeRoundRectCallout">
            <a:avLst>
              <a:gd name="adj1" fmla="val -35329"/>
              <a:gd name="adj2" fmla="val -130440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1800">
                <a:latin typeface="宋体" pitchFamily="2" charset="-122"/>
              </a:rPr>
              <a:t>step table</a:t>
            </a:r>
            <a:r>
              <a:rPr lang="zh-CN" altLang="en-US" sz="1800">
                <a:latin typeface="宋体" pitchFamily="2" charset="-122"/>
              </a:rPr>
              <a:t>是应用这种方法的范例。</a:t>
            </a:r>
          </a:p>
        </p:txBody>
      </p:sp>
      <p:sp>
        <p:nvSpPr>
          <p:cNvPr id="124935" name="AutoShape 7"/>
          <p:cNvSpPr>
            <a:spLocks noChangeArrowheads="1"/>
          </p:cNvSpPr>
          <p:nvPr/>
        </p:nvSpPr>
        <p:spPr bwMode="auto">
          <a:xfrm>
            <a:off x="6477000" y="2349500"/>
            <a:ext cx="2514600" cy="1371600"/>
          </a:xfrm>
          <a:prstGeom prst="wedgeRoundRectCallout">
            <a:avLst>
              <a:gd name="adj1" fmla="val -40278"/>
              <a:gd name="adj2" fmla="val 6400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1800">
                <a:latin typeface="宋体" pitchFamily="2" charset="-122"/>
              </a:rPr>
              <a:t>程序2.16仅用于说明</a:t>
            </a:r>
            <a:r>
              <a:rPr lang="en-US" altLang="zh-CN" sz="1800">
                <a:latin typeface="宋体" pitchFamily="2" charset="-122"/>
              </a:rPr>
              <a:t>Step Count</a:t>
            </a:r>
            <a:r>
              <a:rPr lang="zh-CN" altLang="en-US" sz="1800">
                <a:latin typeface="宋体" pitchFamily="2" charset="-122"/>
              </a:rPr>
              <a:t>方法，在应用该方法时并不需要写这样的程序。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49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 animBg="1" autoUpdateAnimBg="0"/>
      <p:bldP spid="124935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例题2.19 </a:t>
            </a:r>
          </a:p>
        </p:txBody>
      </p:sp>
      <p:pic>
        <p:nvPicPr>
          <p:cNvPr id="6758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4400" y="1905000"/>
            <a:ext cx="7504113" cy="3544888"/>
          </a:xfrm>
        </p:spPr>
      </p:pic>
      <p:sp>
        <p:nvSpPr>
          <p:cNvPr id="126981" name="AutoShape 5"/>
          <p:cNvSpPr>
            <a:spLocks noChangeArrowheads="1"/>
          </p:cNvSpPr>
          <p:nvPr/>
        </p:nvSpPr>
        <p:spPr bwMode="auto">
          <a:xfrm>
            <a:off x="685800" y="5715000"/>
            <a:ext cx="2133600" cy="914400"/>
          </a:xfrm>
          <a:prstGeom prst="wedgeRoundRectCallout">
            <a:avLst>
              <a:gd name="adj1" fmla="val 141370"/>
              <a:gd name="adj2" fmla="val -125176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altLang="zh-CN" sz="1600">
                <a:latin typeface="Times New Roman" charset="0"/>
              </a:rPr>
              <a:t>s/e</a:t>
            </a:r>
            <a:r>
              <a:rPr lang="zh-CN" altLang="en-US" sz="1600">
                <a:latin typeface="Times New Roman" charset="0"/>
              </a:rPr>
              <a:t>代表该语句执行后步数(</a:t>
            </a:r>
            <a:r>
              <a:rPr lang="en-US" altLang="zh-CN" sz="1600">
                <a:latin typeface="Times New Roman" charset="0"/>
              </a:rPr>
              <a:t>count)</a:t>
            </a:r>
            <a:r>
              <a:rPr lang="zh-CN" altLang="en-US" sz="1600">
                <a:latin typeface="Times New Roman" charset="0"/>
              </a:rPr>
              <a:t>的变化（增量）；</a:t>
            </a:r>
          </a:p>
        </p:txBody>
      </p:sp>
      <p:sp>
        <p:nvSpPr>
          <p:cNvPr id="126982" name="AutoShape 6"/>
          <p:cNvSpPr>
            <a:spLocks noChangeArrowheads="1"/>
          </p:cNvSpPr>
          <p:nvPr/>
        </p:nvSpPr>
        <p:spPr bwMode="auto">
          <a:xfrm>
            <a:off x="3581400" y="5715000"/>
            <a:ext cx="1676400" cy="914400"/>
          </a:xfrm>
          <a:prstGeom prst="wedgeRoundRectCallout">
            <a:avLst>
              <a:gd name="adj1" fmla="val 62500"/>
              <a:gd name="adj2" fmla="val -122569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altLang="zh-CN" sz="1600">
                <a:latin typeface="Times New Roman" charset="0"/>
              </a:rPr>
              <a:t>Frequency</a:t>
            </a:r>
            <a:r>
              <a:rPr lang="zh-CN" altLang="en-US" sz="1600">
                <a:latin typeface="Times New Roman" charset="0"/>
              </a:rPr>
              <a:t>代表该语句的执行次数；</a:t>
            </a:r>
          </a:p>
        </p:txBody>
      </p:sp>
      <p:sp>
        <p:nvSpPr>
          <p:cNvPr id="126983" name="AutoShape 7"/>
          <p:cNvSpPr>
            <a:spLocks noChangeArrowheads="1"/>
          </p:cNvSpPr>
          <p:nvPr/>
        </p:nvSpPr>
        <p:spPr bwMode="auto">
          <a:xfrm>
            <a:off x="5638800" y="5638800"/>
            <a:ext cx="2286000" cy="914400"/>
          </a:xfrm>
          <a:prstGeom prst="wedgeRoundRectCallout">
            <a:avLst>
              <a:gd name="adj1" fmla="val 17778"/>
              <a:gd name="adj2" fmla="val -74829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imes New Roman" charset="0"/>
              </a:rPr>
              <a:t>Total steps</a:t>
            </a:r>
            <a:r>
              <a:rPr lang="zh-CN" altLang="en-US" sz="1600">
                <a:latin typeface="宋体" pitchFamily="2" charset="-122"/>
              </a:rPr>
              <a:t>代表该语句在整个程序执行过程中引发的总步数。</a:t>
            </a:r>
            <a:r>
              <a:rPr lang="zh-CN" altLang="en-US" sz="1600">
                <a:latin typeface="Times New Roman" charset="0"/>
              </a:rPr>
              <a:t> </a:t>
            </a:r>
          </a:p>
        </p:txBody>
      </p:sp>
      <p:sp>
        <p:nvSpPr>
          <p:cNvPr id="67591" name="Rectangle 8"/>
          <p:cNvSpPr>
            <a:spLocks noChangeArrowheads="1"/>
          </p:cNvSpPr>
          <p:nvPr/>
        </p:nvSpPr>
        <p:spPr bwMode="auto">
          <a:xfrm>
            <a:off x="838200" y="1295400"/>
            <a:ext cx="5497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hlink"/>
                </a:solidFill>
                <a:latin typeface="Times New Roman" charset="0"/>
                <a:ea typeface="Dotum" pitchFamily="34" charset="-127"/>
              </a:rPr>
              <a:t>Figure 2.4 Step table for Program 1.8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698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animBg="1" autoUpdateAnimBg="0"/>
      <p:bldP spid="126982" grpId="0" animBg="1" autoUpdateAnimBg="0"/>
      <p:bldP spid="126983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8"/>
          <p:cNvSpPr>
            <a:spLocks noGrp="1" noChangeArrowheads="1"/>
          </p:cNvSpPr>
          <p:nvPr>
            <p:ph type="title"/>
          </p:nvPr>
        </p:nvSpPr>
        <p:spPr>
          <a:xfrm>
            <a:off x="1000125" y="500063"/>
            <a:ext cx="7793038" cy="6175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Frequency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可能不等于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Total steps， 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8611" name="Picture 9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84213" y="1981200"/>
            <a:ext cx="5294312" cy="2803525"/>
          </a:xfrm>
        </p:spPr>
      </p:pic>
      <p:sp>
        <p:nvSpPr>
          <p:cNvPr id="128005" name="AutoShape 5"/>
          <p:cNvSpPr>
            <a:spLocks noChangeArrowheads="1"/>
          </p:cNvSpPr>
          <p:nvPr/>
        </p:nvSpPr>
        <p:spPr bwMode="auto">
          <a:xfrm>
            <a:off x="5867400" y="4191000"/>
            <a:ext cx="2362200" cy="914400"/>
          </a:xfrm>
          <a:prstGeom prst="wedgeRoundRectCallout">
            <a:avLst>
              <a:gd name="adj1" fmla="val -62500"/>
              <a:gd name="adj2" fmla="val -7170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1600">
                <a:latin typeface="宋体" pitchFamily="2" charset="-122"/>
              </a:rPr>
              <a:t>该赋值语句不能当做</a:t>
            </a:r>
            <a:r>
              <a:rPr lang="zh-CN" altLang="en-US" sz="1600">
                <a:latin typeface="Times New Roman" charset="0"/>
              </a:rPr>
              <a:t>“</a:t>
            </a:r>
            <a:r>
              <a:rPr lang="en-US" altLang="zh-CN" sz="1600">
                <a:latin typeface="宋体" pitchFamily="2" charset="-122"/>
              </a:rPr>
              <a:t>1</a:t>
            </a:r>
            <a:r>
              <a:rPr lang="zh-CN" altLang="en-US" sz="1600">
                <a:latin typeface="宋体" pitchFamily="2" charset="-122"/>
              </a:rPr>
              <a:t>步</a:t>
            </a:r>
            <a:r>
              <a:rPr lang="zh-CN" altLang="en-US" sz="1600">
                <a:latin typeface="Times New Roman" charset="0"/>
              </a:rPr>
              <a:t>”</a:t>
            </a:r>
            <a:r>
              <a:rPr lang="en-US" altLang="zh-CN" sz="1600">
                <a:latin typeface="宋体" pitchFamily="2" charset="-122"/>
              </a:rPr>
              <a:t>:sum</a:t>
            </a:r>
            <a:r>
              <a:rPr lang="zh-CN" altLang="en-US" sz="1600">
                <a:latin typeface="宋体" pitchFamily="2" charset="-122"/>
              </a:rPr>
              <a:t>要执行</a:t>
            </a:r>
            <a:r>
              <a:rPr lang="en-US" altLang="zh-CN" sz="1600">
                <a:latin typeface="宋体" pitchFamily="2" charset="-122"/>
              </a:rPr>
              <a:t>2(j+1)+3</a:t>
            </a:r>
            <a:r>
              <a:rPr lang="zh-CN" altLang="en-US" sz="1600">
                <a:latin typeface="宋体" pitchFamily="2" charset="-122"/>
              </a:rPr>
              <a:t>步，</a:t>
            </a:r>
            <a:r>
              <a:rPr lang="en-US" altLang="zh-CN" sz="1600">
                <a:latin typeface="宋体" pitchFamily="2" charset="-122"/>
              </a:rPr>
              <a:t>j</a:t>
            </a:r>
            <a:r>
              <a:rPr lang="zh-CN" altLang="en-US" sz="1600">
                <a:latin typeface="宋体" pitchFamily="2" charset="-122"/>
              </a:rPr>
              <a:t>是变量 </a:t>
            </a:r>
          </a:p>
        </p:txBody>
      </p:sp>
      <p:sp>
        <p:nvSpPr>
          <p:cNvPr id="68613" name="Rectangle 11"/>
          <p:cNvSpPr>
            <a:spLocks noChangeArrowheads="1"/>
          </p:cNvSpPr>
          <p:nvPr/>
        </p:nvSpPr>
        <p:spPr bwMode="auto">
          <a:xfrm>
            <a:off x="755650" y="5419725"/>
            <a:ext cx="5064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2.23 Inefficient prefix sums</a:t>
            </a:r>
          </a:p>
        </p:txBody>
      </p:sp>
      <p:sp>
        <p:nvSpPr>
          <p:cNvPr id="68614" name="AutoShape 1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885113" y="333375"/>
            <a:ext cx="863600" cy="503238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5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993062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Step table for Program 2.23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9635" name="Picture 8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0" y="1447800"/>
            <a:ext cx="7427913" cy="3944938"/>
          </a:xfrm>
        </p:spPr>
      </p:pic>
      <p:sp>
        <p:nvSpPr>
          <p:cNvPr id="129029" name="AutoShape 5"/>
          <p:cNvSpPr>
            <a:spLocks noChangeArrowheads="1"/>
          </p:cNvSpPr>
          <p:nvPr/>
        </p:nvSpPr>
        <p:spPr bwMode="auto">
          <a:xfrm>
            <a:off x="5867400" y="5486400"/>
            <a:ext cx="3048000" cy="822325"/>
          </a:xfrm>
          <a:prstGeom prst="wedgeRoundRectCallout">
            <a:avLst>
              <a:gd name="adj1" fmla="val -45102"/>
              <a:gd name="adj2" fmla="val -14749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宋体" pitchFamily="2" charset="-122"/>
              </a:rPr>
              <a:t>Frequency</a:t>
            </a:r>
            <a:r>
              <a:rPr lang="zh-CN" altLang="en-US" sz="1600">
                <a:latin typeface="宋体" pitchFamily="2" charset="-122"/>
              </a:rPr>
              <a:t>不等于</a:t>
            </a:r>
            <a:r>
              <a:rPr lang="en-US" altLang="zh-CN" sz="1600">
                <a:latin typeface="宋体" pitchFamily="2" charset="-122"/>
              </a:rPr>
              <a:t>Total steps，</a:t>
            </a:r>
            <a:r>
              <a:rPr lang="zh-CN" altLang="en-US" sz="1600">
                <a:latin typeface="宋体" pitchFamily="2" charset="-122"/>
              </a:rPr>
              <a:t>应求和得到</a:t>
            </a:r>
            <a:r>
              <a:rPr lang="en-US" altLang="zh-CN" sz="1600">
                <a:latin typeface="宋体" pitchFamily="2" charset="-122"/>
              </a:rPr>
              <a:t>total.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902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例题2.20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123113" cy="1106488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当分析递归程序时，我们使用解递归方程的方法。 </a:t>
            </a:r>
          </a:p>
        </p:txBody>
      </p:sp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514600"/>
            <a:ext cx="59436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1219200" y="5486400"/>
            <a:ext cx="6099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1.9 Recursive code to add a[0:n-1]</a:t>
            </a:r>
          </a:p>
        </p:txBody>
      </p:sp>
      <p:sp>
        <p:nvSpPr>
          <p:cNvPr id="125958" name="AutoShape 6"/>
          <p:cNvSpPr>
            <a:spLocks noChangeArrowheads="1"/>
          </p:cNvSpPr>
          <p:nvPr/>
        </p:nvSpPr>
        <p:spPr bwMode="auto">
          <a:xfrm>
            <a:off x="5867400" y="2667000"/>
            <a:ext cx="2743200" cy="1482725"/>
          </a:xfrm>
          <a:prstGeom prst="wedgeRoundRectCallout">
            <a:avLst>
              <a:gd name="adj1" fmla="val -30611"/>
              <a:gd name="adj2" fmla="val 34259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altLang="zh-CN" sz="1600">
                <a:latin typeface="宋体" pitchFamily="2" charset="-122"/>
              </a:rPr>
              <a:t>t(0)=2</a:t>
            </a:r>
          </a:p>
          <a:p>
            <a:pPr algn="just">
              <a:spcBef>
                <a:spcPct val="50000"/>
              </a:spcBef>
            </a:pPr>
            <a:r>
              <a:rPr lang="en-US" altLang="zh-CN" sz="1600">
                <a:latin typeface="宋体" pitchFamily="2" charset="-122"/>
              </a:rPr>
              <a:t>t(n)=2+t(n-1)</a:t>
            </a:r>
          </a:p>
          <a:p>
            <a:pPr>
              <a:spcBef>
                <a:spcPct val="50000"/>
              </a:spcBef>
            </a:pPr>
            <a:r>
              <a:rPr lang="zh-CN" altLang="en-US" sz="1600">
                <a:latin typeface="宋体" pitchFamily="2" charset="-122"/>
              </a:rPr>
              <a:t>解此方程可得</a:t>
            </a:r>
            <a:r>
              <a:rPr lang="en-US" altLang="zh-CN" sz="1600">
                <a:latin typeface="宋体" pitchFamily="2" charset="-122"/>
              </a:rPr>
              <a:t>t(n)=2(n+1)。 </a:t>
            </a:r>
            <a:endParaRPr lang="zh-CN" altLang="en-US" sz="160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595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8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例题2.21[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Matrix Addition]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168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4400" y="1447800"/>
            <a:ext cx="7086600" cy="412273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Step table for Program 2.19</a:t>
            </a:r>
          </a:p>
        </p:txBody>
      </p:sp>
      <p:pic>
        <p:nvPicPr>
          <p:cNvPr id="72707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8600" y="1447800"/>
            <a:ext cx="8574088" cy="4114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例题2.22[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Sequential Search]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373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1295400"/>
            <a:ext cx="8305800" cy="4419600"/>
          </a:xfrm>
        </p:spPr>
      </p:pic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066800" y="5943600"/>
            <a:ext cx="4389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CD1A33"/>
                </a:solidFill>
                <a:latin typeface="Arial" charset="0"/>
              </a:rPr>
              <a:t>Program 2.1 Sequential search</a:t>
            </a:r>
          </a:p>
        </p:txBody>
      </p:sp>
      <p:sp>
        <p:nvSpPr>
          <p:cNvPr id="73733" name="AutoShap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740650" y="260350"/>
            <a:ext cx="935038" cy="576263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Step table for Pro2.1—best-case</a:t>
            </a:r>
          </a:p>
        </p:txBody>
      </p:sp>
      <p:pic>
        <p:nvPicPr>
          <p:cNvPr id="7475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04800" y="1447800"/>
            <a:ext cx="8574088" cy="4114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Step table for Pro2.1—worst-case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577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8600" y="1371600"/>
            <a:ext cx="8574088" cy="4419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符号</a:t>
            </a: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ru-RU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О</a:t>
            </a: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l-GR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Ω</a:t>
            </a: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l-GR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Θ</a:t>
            </a: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zh-CN" alt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295400"/>
            <a:ext cx="7772400" cy="1341438"/>
          </a:xfrm>
        </p:spPr>
        <p:txBody>
          <a:bodyPr/>
          <a:lstStyle/>
          <a:p>
            <a:pPr eaLnBrk="1" hangingPunct="1"/>
            <a:r>
              <a:rPr lang="zh-CN" altLang="en-US" sz="3600" dirty="0" smtClean="0">
                <a:latin typeface="Times New Roman" charset="0"/>
              </a:rPr>
              <a:t>计算机科学使用最多的符号</a:t>
            </a:r>
            <a:r>
              <a:rPr lang="en-US" altLang="zh-CN" sz="3600" dirty="0" smtClean="0">
                <a:latin typeface="Times New Roman" charset="0"/>
              </a:rPr>
              <a:t>-</a:t>
            </a:r>
            <a:r>
              <a:rPr lang="zh-CN" altLang="en-US" sz="3600" dirty="0" smtClean="0">
                <a:latin typeface="Times New Roman" charset="0"/>
              </a:rPr>
              <a:t>讨论算法时使用的共同语言</a:t>
            </a:r>
            <a:r>
              <a:rPr lang="en-US" altLang="zh-CN" sz="3600" dirty="0" smtClean="0">
                <a:latin typeface="Times New Roman" charset="0"/>
              </a:rPr>
              <a:t>.</a:t>
            </a:r>
          </a:p>
          <a:p>
            <a:pPr eaLnBrk="1" hangingPunct="1"/>
            <a:endParaRPr lang="zh-CN" altLang="en-US" sz="3600" dirty="0" smtClean="0">
              <a:latin typeface="Dotum" pitchFamily="34" charset="-127"/>
              <a:ea typeface="Dotum" pitchFamily="34" charset="-127"/>
            </a:endParaRP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1116013" y="2708275"/>
            <a:ext cx="777240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3600" dirty="0">
                <a:latin typeface="Times New Roman" charset="0"/>
              </a:rPr>
              <a:t>f(n)=O(g(n)) </a:t>
            </a:r>
            <a:r>
              <a:rPr lang="en-US" altLang="zh-CN" sz="3600" dirty="0" err="1">
                <a:latin typeface="Times New Roman" charset="0"/>
              </a:rPr>
              <a:t>iff</a:t>
            </a:r>
            <a:r>
              <a:rPr lang="en-US" altLang="zh-CN" sz="3600" dirty="0">
                <a:latin typeface="Times New Roman" charset="0"/>
              </a:rPr>
              <a:t> </a:t>
            </a:r>
            <a:r>
              <a:rPr lang="zh-CN" altLang="en-US" sz="3600" dirty="0">
                <a:latin typeface="Times New Roman" charset="0"/>
              </a:rPr>
              <a:t>存在常数</a:t>
            </a:r>
            <a:r>
              <a:rPr lang="en-US" altLang="zh-CN" sz="3600" dirty="0">
                <a:latin typeface="Times New Roman" charset="0"/>
              </a:rPr>
              <a:t>c</a:t>
            </a:r>
            <a:r>
              <a:rPr lang="zh-CN" altLang="en-US" sz="3600" dirty="0">
                <a:latin typeface="Times New Roman" charset="0"/>
              </a:rPr>
              <a:t>和</a:t>
            </a:r>
            <a:r>
              <a:rPr lang="en-US" altLang="zh-CN" sz="3600" dirty="0">
                <a:latin typeface="Times New Roman" charset="0"/>
              </a:rPr>
              <a:t>n</a:t>
            </a:r>
            <a:r>
              <a:rPr lang="en-US" altLang="zh-CN" sz="3600" baseline="-25000" dirty="0">
                <a:latin typeface="Times New Roman" charset="0"/>
              </a:rPr>
              <a:t>0</a:t>
            </a:r>
            <a:r>
              <a:rPr lang="zh-CN" altLang="en-US" sz="3600" dirty="0">
                <a:latin typeface="Times New Roman" charset="0"/>
              </a:rPr>
              <a:t>使得对所有</a:t>
            </a:r>
            <a:r>
              <a:rPr lang="en-US" altLang="zh-CN" sz="3600" dirty="0">
                <a:latin typeface="Times New Roman" charset="0"/>
              </a:rPr>
              <a:t>n&gt;n</a:t>
            </a:r>
            <a:r>
              <a:rPr lang="en-US" altLang="zh-CN" sz="3600" baseline="-25000" dirty="0">
                <a:latin typeface="Times New Roman" charset="0"/>
              </a:rPr>
              <a:t>0</a:t>
            </a:r>
            <a:r>
              <a:rPr lang="en-US" altLang="zh-CN" sz="3600" i="1" dirty="0">
                <a:latin typeface="Times New Roman" charset="0"/>
              </a:rPr>
              <a:t> </a:t>
            </a:r>
            <a:r>
              <a:rPr lang="zh-CN" altLang="en-US" sz="3600" dirty="0">
                <a:latin typeface="Times New Roman" charset="0"/>
              </a:rPr>
              <a:t>有</a:t>
            </a:r>
            <a:r>
              <a:rPr lang="en-US" altLang="zh-CN" sz="3600" dirty="0">
                <a:latin typeface="Times New Roman" charset="0"/>
              </a:rPr>
              <a:t>f(n)&lt;cg(n)</a:t>
            </a:r>
            <a:r>
              <a:rPr lang="en-US" altLang="zh-CN" sz="3600" i="1" dirty="0">
                <a:latin typeface="Times New Roman" charset="0"/>
              </a:rPr>
              <a:t> </a:t>
            </a:r>
            <a:r>
              <a:rPr lang="zh-CN" altLang="en-US" sz="3600" dirty="0">
                <a:latin typeface="Times New Roman" charset="0"/>
              </a:rPr>
              <a:t>成立</a:t>
            </a:r>
            <a:r>
              <a:rPr lang="en-US" altLang="zh-CN" sz="3600" dirty="0">
                <a:latin typeface="Times New Roman" charset="0"/>
              </a:rPr>
              <a:t>.</a:t>
            </a:r>
            <a:endParaRPr lang="zh-CN" altLang="en-US" sz="3600" dirty="0">
              <a:latin typeface="Dotum" pitchFamily="34" charset="-127"/>
              <a:ea typeface="Dotum" pitchFamily="34" charset="-127"/>
            </a:endParaRPr>
          </a:p>
        </p:txBody>
      </p:sp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1042988" y="4221163"/>
            <a:ext cx="7772400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3600" dirty="0">
                <a:latin typeface="Times New Roman" charset="0"/>
              </a:rPr>
              <a:t>Lim</a:t>
            </a:r>
            <a:r>
              <a:rPr lang="en-US" altLang="zh-CN" sz="3600" baseline="-25000" dirty="0">
                <a:latin typeface="Times New Roman" charset="0"/>
              </a:rPr>
              <a:t>n-&gt;</a:t>
            </a:r>
            <a:r>
              <a:rPr lang="en-US" altLang="zh-CN" sz="3600" baseline="-25000" dirty="0">
                <a:latin typeface="Times New Roman" charset="0"/>
                <a:cs typeface="Tahoma" pitchFamily="34" charset="0"/>
              </a:rPr>
              <a:t>∞</a:t>
            </a:r>
            <a:r>
              <a:rPr lang="en-US" altLang="en-US" sz="3200" dirty="0"/>
              <a:t>︱</a:t>
            </a:r>
            <a:r>
              <a:rPr lang="en-US" altLang="zh-CN" sz="3600" dirty="0">
                <a:latin typeface="Times New Roman" charset="0"/>
              </a:rPr>
              <a:t>f(n)/g(n) </a:t>
            </a:r>
            <a:r>
              <a:rPr lang="en-US" altLang="en-US" sz="3200" dirty="0"/>
              <a:t>︱</a:t>
            </a:r>
            <a:r>
              <a:rPr lang="en-US" altLang="zh-CN" sz="3600" dirty="0">
                <a:latin typeface="Times New Roman" charset="0"/>
              </a:rPr>
              <a:t>=c,  0≤c&lt;∞,</a:t>
            </a:r>
            <a:r>
              <a:rPr lang="zh-CN" altLang="en-US" sz="3600" dirty="0">
                <a:latin typeface="Times New Roman" charset="0"/>
              </a:rPr>
              <a:t>则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3600" dirty="0">
                <a:latin typeface="Times New Roman" charset="0"/>
              </a:rPr>
              <a:t>                f(n)=O(g(n))</a:t>
            </a:r>
            <a:endParaRPr lang="zh-CN" altLang="en-US" sz="3600" dirty="0">
              <a:latin typeface="Times New Roman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zh-CN" altLang="en-US" sz="3600" dirty="0">
              <a:latin typeface="Dotum" pitchFamily="34" charset="-127"/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  <p:bldP spid="142341" grpId="0"/>
      <p:bldP spid="14234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Times New Roman" charset="0"/>
              </a:rPr>
              <a:t>10n</a:t>
            </a:r>
            <a:r>
              <a:rPr lang="en-US" altLang="zh-CN" baseline="30000" smtClean="0">
                <a:latin typeface="Times New Roman" charset="0"/>
              </a:rPr>
              <a:t>2</a:t>
            </a:r>
            <a:r>
              <a:rPr lang="en-US" altLang="zh-CN" smtClean="0">
                <a:latin typeface="Times New Roman" charset="0"/>
              </a:rPr>
              <a:t>+3n+100=O(n</a:t>
            </a:r>
            <a:r>
              <a:rPr lang="en-US" altLang="zh-CN" baseline="30000" smtClean="0">
                <a:latin typeface="Times New Roman" charset="0"/>
              </a:rPr>
              <a:t>2</a:t>
            </a:r>
            <a:r>
              <a:rPr lang="en-US" altLang="zh-CN" smtClean="0">
                <a:latin typeface="Times New Roman" charset="0"/>
              </a:rPr>
              <a:t>),lim=10;</a:t>
            </a:r>
          </a:p>
          <a:p>
            <a:pPr eaLnBrk="1" hangingPunct="1"/>
            <a:r>
              <a:rPr lang="en-US" altLang="zh-CN" smtClean="0">
                <a:latin typeface="Times New Roman" charset="0"/>
              </a:rPr>
              <a:t>1000n</a:t>
            </a:r>
            <a:r>
              <a:rPr lang="en-US" altLang="zh-CN" baseline="30000" smtClean="0">
                <a:latin typeface="Times New Roman" charset="0"/>
              </a:rPr>
              <a:t>2</a:t>
            </a:r>
            <a:r>
              <a:rPr lang="en-US" altLang="zh-CN" smtClean="0">
                <a:latin typeface="Times New Roman" charset="0"/>
              </a:rPr>
              <a:t>=O(n</a:t>
            </a:r>
            <a:r>
              <a:rPr lang="en-US" altLang="zh-CN" baseline="30000" smtClean="0">
                <a:latin typeface="Times New Roman" charset="0"/>
              </a:rPr>
              <a:t>2.1</a:t>
            </a:r>
            <a:r>
              <a:rPr lang="en-US" altLang="zh-CN" smtClean="0">
                <a:latin typeface="Times New Roman" charset="0"/>
              </a:rPr>
              <a:t>),lim=0</a:t>
            </a:r>
          </a:p>
          <a:p>
            <a:pPr eaLnBrk="1" hangingPunct="1"/>
            <a:r>
              <a:rPr lang="zh-CN" altLang="en-US" smtClean="0">
                <a:latin typeface="Times New Roman" charset="0"/>
              </a:rPr>
              <a:t>称</a:t>
            </a:r>
            <a:r>
              <a:rPr lang="en-US" altLang="zh-CN" smtClean="0">
                <a:latin typeface="Times New Roman" charset="0"/>
              </a:rPr>
              <a:t>g(n)</a:t>
            </a:r>
            <a:r>
              <a:rPr lang="zh-CN" altLang="en-US" smtClean="0">
                <a:latin typeface="Times New Roman" charset="0"/>
              </a:rPr>
              <a:t>为</a:t>
            </a:r>
            <a:r>
              <a:rPr lang="en-US" altLang="zh-CN" smtClean="0">
                <a:latin typeface="Times New Roman" charset="0"/>
              </a:rPr>
              <a:t>f(n)</a:t>
            </a:r>
            <a:r>
              <a:rPr lang="zh-CN" altLang="en-US" smtClean="0">
                <a:latin typeface="Times New Roman" charset="0"/>
              </a:rPr>
              <a:t>的渐近上界</a:t>
            </a:r>
            <a:r>
              <a:rPr lang="en-US" altLang="zh-CN" smtClean="0">
                <a:latin typeface="Times New Roman" charset="0"/>
              </a:rPr>
              <a:t>(Asymptotic Upper Bound).</a:t>
            </a:r>
          </a:p>
          <a:p>
            <a:pPr eaLnBrk="1" hangingPunct="1"/>
            <a:r>
              <a:rPr lang="zh-CN" altLang="en-US" smtClean="0">
                <a:latin typeface="Times New Roman" charset="0"/>
              </a:rPr>
              <a:t>约定</a:t>
            </a:r>
            <a:r>
              <a:rPr lang="en-US" altLang="zh-CN" smtClean="0">
                <a:latin typeface="Times New Roman" charset="0"/>
              </a:rPr>
              <a:t>O(1)</a:t>
            </a:r>
            <a:r>
              <a:rPr lang="zh-CN" altLang="en-US" smtClean="0">
                <a:latin typeface="Times New Roman" charset="0"/>
              </a:rPr>
              <a:t>代表常数</a:t>
            </a:r>
            <a:r>
              <a:rPr lang="en-US" altLang="zh-CN" smtClean="0">
                <a:latin typeface="Times New Roman" charset="0"/>
              </a:rPr>
              <a:t>.</a:t>
            </a:r>
          </a:p>
          <a:p>
            <a:pPr eaLnBrk="1" hangingPunct="1"/>
            <a:r>
              <a:rPr lang="en-US" altLang="zh-CN" smtClean="0">
                <a:latin typeface="Times New Roman" charset="0"/>
              </a:rPr>
              <a:t>g(n)</a:t>
            </a:r>
            <a:r>
              <a:rPr lang="zh-CN" altLang="en-US" smtClean="0">
                <a:latin typeface="Times New Roman" charset="0"/>
              </a:rPr>
              <a:t>常取一些简单的初等函数</a:t>
            </a:r>
            <a:r>
              <a:rPr lang="en-US" altLang="zh-CN" smtClean="0">
                <a:latin typeface="Times New Roman" charset="0"/>
              </a:rPr>
              <a:t>,n</a:t>
            </a:r>
            <a:r>
              <a:rPr lang="en-US" altLang="zh-CN" baseline="30000" smtClean="0">
                <a:latin typeface="Times New Roman" charset="0"/>
              </a:rPr>
              <a:t>k</a:t>
            </a:r>
            <a:r>
              <a:rPr lang="en-US" altLang="zh-CN" smtClean="0">
                <a:latin typeface="Times New Roman" charset="0"/>
              </a:rPr>
              <a:t>,log</a:t>
            </a:r>
            <a:r>
              <a:rPr lang="en-US" altLang="zh-CN" baseline="-25000" smtClean="0">
                <a:latin typeface="Times New Roman" charset="0"/>
              </a:rPr>
              <a:t>2</a:t>
            </a:r>
            <a:r>
              <a:rPr lang="en-US" altLang="zh-CN" smtClean="0">
                <a:latin typeface="Times New Roman" charset="0"/>
              </a:rPr>
              <a:t>n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mtClean="0">
                <a:latin typeface="Times New Roman" charset="0"/>
              </a:rPr>
              <a:t>和</a:t>
            </a:r>
            <a:r>
              <a:rPr lang="en-US" altLang="zh-CN" smtClean="0">
                <a:latin typeface="Times New Roman" charset="0"/>
              </a:rPr>
              <a:t>n</a:t>
            </a:r>
            <a:r>
              <a:rPr lang="en-US" altLang="zh-CN" baseline="30000" smtClean="0">
                <a:latin typeface="Times New Roman" charset="0"/>
              </a:rPr>
              <a:t>k</a:t>
            </a:r>
            <a:r>
              <a:rPr lang="en-US" altLang="zh-CN" smtClean="0">
                <a:latin typeface="Times New Roman" charset="0"/>
              </a:rPr>
              <a:t>log</a:t>
            </a:r>
            <a:r>
              <a:rPr lang="en-US" altLang="zh-CN" baseline="-25000" smtClean="0">
                <a:latin typeface="Times New Roman" charset="0"/>
              </a:rPr>
              <a:t>2</a:t>
            </a:r>
            <a:r>
              <a:rPr lang="en-US" altLang="zh-CN" smtClean="0">
                <a:latin typeface="Times New Roman" charset="0"/>
              </a:rPr>
              <a:t>n</a:t>
            </a:r>
            <a:r>
              <a:rPr lang="zh-CN" altLang="en-US" smtClean="0">
                <a:latin typeface="Times New Roman" charset="0"/>
              </a:rPr>
              <a:t>等</a:t>
            </a:r>
            <a:r>
              <a:rPr lang="en-US" altLang="zh-CN" b="1" smtClean="0">
                <a:latin typeface="Dotum" pitchFamily="34" charset="-127"/>
                <a:ea typeface="Dotum" pitchFamily="34" charset="-127"/>
              </a:rPr>
              <a:t>:</a:t>
            </a:r>
          </a:p>
          <a:p>
            <a:pPr eaLnBrk="1" hangingPunct="1"/>
            <a:endParaRPr lang="zh-CN" altLang="en-US" smtClean="0">
              <a:latin typeface="Dotum" pitchFamily="34" charset="-127"/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8851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71550" y="1412875"/>
            <a:ext cx="7632700" cy="47529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Can an Algorithm </a:t>
            </a:r>
            <a:b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work with large input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</a:p>
        </p:txBody>
      </p:sp>
      <p:pic>
        <p:nvPicPr>
          <p:cNvPr id="7987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06045" y="1700213"/>
            <a:ext cx="7050505" cy="387192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随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的增加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T(n)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的增长率</a:t>
            </a:r>
          </a:p>
        </p:txBody>
      </p:sp>
      <p:pic>
        <p:nvPicPr>
          <p:cNvPr id="8089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339975" y="1341438"/>
            <a:ext cx="4681538" cy="48371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多项式函数与指数函数</a:t>
            </a:r>
            <a:endParaRPr lang="zh-CN" altLang="en-US" dirty="0"/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23998"/>
            <a:ext cx="8387283" cy="4448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多项式函数与指数函数</a:t>
            </a:r>
            <a:endParaRPr lang="zh-CN" altLang="en-US" dirty="0"/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830" y="1500174"/>
            <a:ext cx="8820326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亿次</a:t>
            </a:r>
            <a:r>
              <a:rPr lang="en-US" altLang="zh-CN" dirty="0" smtClean="0"/>
              <a:t>/</a:t>
            </a:r>
            <a:r>
              <a:rPr lang="zh-CN" altLang="en-US" dirty="0" smtClean="0"/>
              <a:t>秒机器求解的问题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9578" y="1333525"/>
            <a:ext cx="8591578" cy="5386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1917700"/>
          </a:xfrm>
        </p:spPr>
        <p:txBody>
          <a:bodyPr/>
          <a:lstStyle/>
          <a:p>
            <a:pPr eaLnBrk="1" hangingPunct="1"/>
            <a:r>
              <a:rPr lang="zh-CN" altLang="en-US" sz="3600" smtClean="0">
                <a:latin typeface="Times New Roman" charset="0"/>
              </a:rPr>
              <a:t>大</a:t>
            </a:r>
            <a:r>
              <a:rPr lang="en-US" altLang="zh-CN" sz="3600" smtClean="0">
                <a:latin typeface="Times New Roman" charset="0"/>
                <a:cs typeface="Tahoma" pitchFamily="34" charset="0"/>
              </a:rPr>
              <a:t>Ω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600" smtClean="0">
                <a:latin typeface="Times New Roman" charset="0"/>
              </a:rPr>
              <a:t>   f(n)=</a:t>
            </a:r>
            <a:r>
              <a:rPr lang="el-GR" altLang="zh-CN" sz="3600" smtClean="0">
                <a:latin typeface="Times New Roman" charset="0"/>
              </a:rPr>
              <a:t>Ω</a:t>
            </a:r>
            <a:r>
              <a:rPr lang="en-US" altLang="zh-CN" sz="3600" smtClean="0">
                <a:latin typeface="Times New Roman" charset="0"/>
              </a:rPr>
              <a:t>(g(n)) iff </a:t>
            </a:r>
            <a:r>
              <a:rPr lang="zh-CN" altLang="en-US" sz="3600" smtClean="0">
                <a:latin typeface="Times New Roman" charset="0"/>
              </a:rPr>
              <a:t>存在常数</a:t>
            </a:r>
            <a:r>
              <a:rPr lang="en-US" altLang="zh-CN" sz="3600" smtClean="0">
                <a:latin typeface="Times New Roman" charset="0"/>
              </a:rPr>
              <a:t>c</a:t>
            </a:r>
            <a:r>
              <a:rPr lang="zh-CN" altLang="en-US" sz="3600" smtClean="0">
                <a:latin typeface="Times New Roman" charset="0"/>
              </a:rPr>
              <a:t>和</a:t>
            </a:r>
            <a:r>
              <a:rPr lang="en-US" altLang="zh-CN" sz="3600" smtClean="0">
                <a:latin typeface="Times New Roman" charset="0"/>
              </a:rPr>
              <a:t>n</a:t>
            </a:r>
            <a:r>
              <a:rPr lang="en-US" altLang="zh-CN" sz="3600" baseline="-25000" smtClean="0">
                <a:latin typeface="Times New Roman" charset="0"/>
              </a:rPr>
              <a:t>0</a:t>
            </a:r>
            <a:r>
              <a:rPr lang="zh-CN" altLang="en-US" sz="3600" smtClean="0">
                <a:latin typeface="Times New Roman" charset="0"/>
              </a:rPr>
              <a:t>使得对所有</a:t>
            </a:r>
            <a:r>
              <a:rPr lang="en-US" altLang="zh-CN" sz="3600" smtClean="0">
                <a:latin typeface="Times New Roman" charset="0"/>
              </a:rPr>
              <a:t>n&gt;n</a:t>
            </a:r>
            <a:r>
              <a:rPr lang="en-US" altLang="zh-CN" sz="3600" baseline="-25000" smtClean="0">
                <a:latin typeface="Times New Roman" charset="0"/>
              </a:rPr>
              <a:t>0,</a:t>
            </a:r>
            <a:r>
              <a:rPr lang="zh-CN" altLang="en-US" sz="3600" smtClean="0">
                <a:latin typeface="Times New Roman" charset="0"/>
              </a:rPr>
              <a:t>有</a:t>
            </a:r>
            <a:r>
              <a:rPr lang="en-US" altLang="zh-CN" sz="3600" smtClean="0">
                <a:latin typeface="Times New Roman" charset="0"/>
              </a:rPr>
              <a:t>f(n)&gt;cg(n</a:t>
            </a:r>
            <a:r>
              <a:rPr lang="en-US" altLang="zh-CN" sz="3600" i="1" smtClean="0">
                <a:latin typeface="Times New Roman" charset="0"/>
              </a:rPr>
              <a:t>)</a:t>
            </a:r>
            <a:r>
              <a:rPr lang="zh-CN" altLang="en-US" sz="3600" smtClean="0">
                <a:latin typeface="Times New Roman" charset="0"/>
              </a:rPr>
              <a:t>成立</a:t>
            </a:r>
            <a:r>
              <a:rPr lang="en-US" altLang="zh-CN" sz="3600" smtClean="0">
                <a:latin typeface="Times New Roman" charset="0"/>
              </a:rPr>
              <a:t>.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3600" b="1" smtClean="0">
              <a:latin typeface="Dotum" pitchFamily="34" charset="-127"/>
              <a:ea typeface="Dotum" pitchFamily="34" charset="-127"/>
            </a:endParaRPr>
          </a:p>
          <a:p>
            <a:pPr eaLnBrk="1" hangingPunct="1"/>
            <a:endParaRPr lang="zh-CN" altLang="en-US" sz="2800" b="1" smtClean="0">
              <a:latin typeface="宋体" pitchFamily="2" charset="-122"/>
            </a:endParaRPr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1042988" y="3284538"/>
            <a:ext cx="77724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3600">
                <a:latin typeface="Times New Roman" charset="0"/>
              </a:rPr>
              <a:t>Lim</a:t>
            </a:r>
            <a:r>
              <a:rPr lang="en-US" altLang="zh-CN" sz="3600" baseline="-25000">
                <a:latin typeface="Times New Roman" charset="0"/>
              </a:rPr>
              <a:t>n-&gt;∞</a:t>
            </a:r>
            <a:r>
              <a:rPr lang="en-US" altLang="en-US" sz="3200"/>
              <a:t>︱</a:t>
            </a:r>
            <a:r>
              <a:rPr lang="en-US" altLang="zh-CN" sz="3600">
                <a:latin typeface="Times New Roman" charset="0"/>
              </a:rPr>
              <a:t>f(n)/g(n) </a:t>
            </a:r>
            <a:r>
              <a:rPr lang="en-US" altLang="en-US" sz="3200"/>
              <a:t>︱</a:t>
            </a:r>
            <a:r>
              <a:rPr lang="en-US" altLang="zh-CN" sz="3600">
                <a:latin typeface="Times New Roman" charset="0"/>
              </a:rPr>
              <a:t>=c,  0&lt;c≤∞,</a:t>
            </a:r>
            <a:r>
              <a:rPr lang="zh-CN" altLang="en-US" sz="3600">
                <a:latin typeface="Times New Roman" charset="0"/>
              </a:rPr>
              <a:t>则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3600">
                <a:latin typeface="Times New Roman" charset="0"/>
              </a:rPr>
              <a:t>                f(n)=Ω(g(n))</a:t>
            </a:r>
            <a:endParaRPr lang="zh-CN" altLang="en-US" sz="3600">
              <a:latin typeface="Times New Roman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zh-CN" sz="3600" b="1">
              <a:latin typeface="Dotum" pitchFamily="34" charset="-127"/>
              <a:ea typeface="Dotum" pitchFamily="34" charset="-127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zh-CN" altLang="en-US" sz="28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  <p:bldP spid="14336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zh-CN" alt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>
                <a:latin typeface="Times New Roman" charset="0"/>
              </a:rPr>
              <a:t>称</a:t>
            </a:r>
            <a:r>
              <a:rPr lang="en-US" altLang="zh-CN" sz="3600" smtClean="0">
                <a:latin typeface="Times New Roman" charset="0"/>
              </a:rPr>
              <a:t>g(n)</a:t>
            </a:r>
            <a:r>
              <a:rPr lang="zh-CN" altLang="en-US" sz="3600" smtClean="0">
                <a:latin typeface="Times New Roman" charset="0"/>
              </a:rPr>
              <a:t>为</a:t>
            </a:r>
            <a:r>
              <a:rPr lang="en-US" altLang="zh-CN" sz="3600" smtClean="0">
                <a:latin typeface="Times New Roman" charset="0"/>
              </a:rPr>
              <a:t>f(n)</a:t>
            </a:r>
            <a:r>
              <a:rPr lang="zh-CN" altLang="en-US" sz="3600" smtClean="0">
                <a:latin typeface="Times New Roman" charset="0"/>
              </a:rPr>
              <a:t>的渐近下界</a:t>
            </a:r>
          </a:p>
          <a:p>
            <a:pPr eaLnBrk="1" hangingPunct="1"/>
            <a:r>
              <a:rPr lang="zh-CN" altLang="en-US" sz="3600" smtClean="0">
                <a:latin typeface="Times New Roman" charset="0"/>
              </a:rPr>
              <a:t>例如</a:t>
            </a:r>
            <a:r>
              <a:rPr lang="en-US" altLang="zh-CN" sz="3600" smtClean="0">
                <a:latin typeface="Times New Roman" charset="0"/>
              </a:rPr>
              <a:t>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600" smtClean="0">
                <a:latin typeface="Times New Roman" charset="0"/>
              </a:rPr>
              <a:t>   f(n)=0.001n</a:t>
            </a:r>
            <a:r>
              <a:rPr lang="en-US" altLang="zh-CN" sz="3600" baseline="30000" smtClean="0">
                <a:latin typeface="Times New Roman" charset="0"/>
              </a:rPr>
              <a:t>2</a:t>
            </a:r>
            <a:r>
              <a:rPr lang="en-US" altLang="zh-CN" sz="3600" smtClean="0">
                <a:latin typeface="Times New Roman" charset="0"/>
              </a:rPr>
              <a:t>-10n-1000=</a:t>
            </a:r>
            <a:r>
              <a:rPr lang="en-US" altLang="zh-CN" sz="3600" smtClean="0">
                <a:latin typeface="Times New Roman" charset="0"/>
                <a:cs typeface="Tahoma" pitchFamily="34" charset="0"/>
              </a:rPr>
              <a:t>Ω</a:t>
            </a:r>
            <a:r>
              <a:rPr lang="en-US" altLang="zh-CN" sz="3600" smtClean="0">
                <a:latin typeface="Times New Roman" charset="0"/>
              </a:rPr>
              <a:t>(n</a:t>
            </a:r>
            <a:r>
              <a:rPr lang="en-US" altLang="zh-CN" sz="3600" baseline="30000" smtClean="0">
                <a:latin typeface="Times New Roman" charset="0"/>
              </a:rPr>
              <a:t>2</a:t>
            </a:r>
            <a:r>
              <a:rPr lang="en-US" altLang="zh-CN" sz="3600" smtClean="0">
                <a:latin typeface="Times New Roman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600" smtClean="0">
                <a:latin typeface="Times New Roman" charset="0"/>
              </a:rPr>
              <a:t>   </a:t>
            </a:r>
            <a:r>
              <a:rPr lang="zh-CN" altLang="en-US" sz="3600" smtClean="0">
                <a:latin typeface="Times New Roman" charset="0"/>
              </a:rPr>
              <a:t>因为</a:t>
            </a:r>
            <a:r>
              <a:rPr lang="en-US" altLang="zh-CN" sz="3600" smtClean="0">
                <a:latin typeface="Times New Roman" charset="0"/>
              </a:rPr>
              <a:t>:limf(n)/n</a:t>
            </a:r>
            <a:r>
              <a:rPr lang="en-US" altLang="zh-CN" sz="3600" baseline="30000" smtClean="0">
                <a:latin typeface="Times New Roman" charset="0"/>
              </a:rPr>
              <a:t>2</a:t>
            </a:r>
            <a:r>
              <a:rPr lang="en-US" altLang="zh-CN" sz="3600" smtClean="0">
                <a:latin typeface="Times New Roman" charset="0"/>
              </a:rPr>
              <a:t>=0.001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600" smtClean="0">
                <a:latin typeface="Times New Roman" charset="0"/>
              </a:rPr>
              <a:t>   </a:t>
            </a:r>
            <a:endParaRPr lang="en-US" altLang="zh-CN" sz="3600" baseline="30000" smtClean="0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>
                <a:latin typeface="Times New Roman" charset="0"/>
              </a:rPr>
              <a:t>符号</a:t>
            </a:r>
            <a:r>
              <a:rPr lang="el-GR" altLang="zh-CN" sz="3600" smtClean="0">
                <a:latin typeface="Times New Roman" charset="0"/>
              </a:rPr>
              <a:t>Θ</a:t>
            </a:r>
            <a:endParaRPr lang="en-US" altLang="zh-CN" sz="3600" smtClean="0">
              <a:latin typeface="Times New Roman" charset="0"/>
            </a:endParaRPr>
          </a:p>
          <a:p>
            <a:pPr eaLnBrk="1" hangingPunct="1"/>
            <a:r>
              <a:rPr lang="zh-CN" altLang="en-US" sz="3600" smtClean="0">
                <a:latin typeface="Times New Roman" charset="0"/>
              </a:rPr>
              <a:t>如果</a:t>
            </a:r>
            <a:r>
              <a:rPr lang="en-US" altLang="zh-CN" sz="3600" smtClean="0">
                <a:latin typeface="Times New Roman" charset="0"/>
              </a:rPr>
              <a:t>f(n)=O(g(n))</a:t>
            </a:r>
            <a:r>
              <a:rPr lang="zh-CN" altLang="en-US" sz="3600" smtClean="0">
                <a:latin typeface="Times New Roman" charset="0"/>
              </a:rPr>
              <a:t>同时 </a:t>
            </a:r>
            <a:r>
              <a:rPr lang="en-US" altLang="zh-CN" sz="3600" smtClean="0">
                <a:latin typeface="Times New Roman" charset="0"/>
              </a:rPr>
              <a:t>f(n)=</a:t>
            </a:r>
            <a:r>
              <a:rPr lang="en-US" altLang="zh-CN" sz="3600" smtClean="0">
                <a:latin typeface="Times New Roman" charset="0"/>
                <a:cs typeface="Tahoma" pitchFamily="34" charset="0"/>
              </a:rPr>
              <a:t>Ω</a:t>
            </a:r>
            <a:r>
              <a:rPr lang="en-US" altLang="zh-CN" sz="3600" smtClean="0">
                <a:latin typeface="Times New Roman" charset="0"/>
              </a:rPr>
              <a:t>(g(n))</a:t>
            </a:r>
            <a:r>
              <a:rPr lang="zh-CN" altLang="en-US" sz="3600" smtClean="0">
                <a:latin typeface="Times New Roman" charset="0"/>
              </a:rPr>
              <a:t>则</a:t>
            </a:r>
            <a:r>
              <a:rPr lang="en-US" altLang="zh-CN" sz="3600" smtClean="0">
                <a:latin typeface="Times New Roman" charset="0"/>
              </a:rPr>
              <a:t>f(n)=</a:t>
            </a:r>
            <a:r>
              <a:rPr lang="el-GR" altLang="zh-CN" sz="3600" smtClean="0">
                <a:latin typeface="Times New Roman" charset="0"/>
              </a:rPr>
              <a:t>Θ</a:t>
            </a:r>
            <a:r>
              <a:rPr lang="en-US" altLang="zh-CN" sz="3600" smtClean="0">
                <a:latin typeface="Times New Roman" charset="0"/>
              </a:rPr>
              <a:t>(g(n)),</a:t>
            </a:r>
            <a:r>
              <a:rPr lang="zh-CN" altLang="en-US" sz="3600" smtClean="0">
                <a:latin typeface="Times New Roman" charset="0"/>
              </a:rPr>
              <a:t>并称</a:t>
            </a:r>
            <a:r>
              <a:rPr lang="en-US" altLang="zh-CN" sz="3600" smtClean="0">
                <a:latin typeface="Times New Roman" charset="0"/>
              </a:rPr>
              <a:t>f(n)</a:t>
            </a:r>
            <a:r>
              <a:rPr lang="zh-CN" altLang="en-US" sz="3600" smtClean="0">
                <a:latin typeface="Times New Roman" charset="0"/>
              </a:rPr>
              <a:t>与</a:t>
            </a:r>
            <a:r>
              <a:rPr lang="en-US" altLang="zh-CN" sz="3600" smtClean="0">
                <a:latin typeface="Times New Roman" charset="0"/>
              </a:rPr>
              <a:t>g(n)</a:t>
            </a:r>
            <a:r>
              <a:rPr lang="zh-CN" altLang="en-US" sz="3600" smtClean="0">
                <a:latin typeface="Times New Roman" charset="0"/>
              </a:rPr>
              <a:t>同阶</a:t>
            </a:r>
            <a:r>
              <a:rPr lang="en-US" altLang="zh-CN" sz="3600" smtClean="0">
                <a:latin typeface="Times New Roman" charset="0"/>
              </a:rPr>
              <a:t>.</a:t>
            </a:r>
          </a:p>
          <a:p>
            <a:pPr eaLnBrk="1" hangingPunct="1"/>
            <a:r>
              <a:rPr lang="en-US" altLang="zh-CN" sz="3600" smtClean="0">
                <a:latin typeface="Times New Roman" charset="0"/>
              </a:rPr>
              <a:t>Lim f(n)/g(n)=c, 0&lt;c&lt;∞,</a:t>
            </a:r>
            <a:r>
              <a:rPr lang="zh-CN" altLang="en-US" sz="3600" smtClean="0">
                <a:latin typeface="Times New Roman" charset="0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600" smtClean="0">
                <a:latin typeface="Times New Roman" charset="0"/>
              </a:rPr>
              <a:t>  </a:t>
            </a:r>
            <a:r>
              <a:rPr lang="en-US" altLang="zh-CN" sz="3600" smtClean="0">
                <a:latin typeface="Times New Roman" charset="0"/>
              </a:rPr>
              <a:t>f(n)=</a:t>
            </a:r>
            <a:r>
              <a:rPr lang="el-GR" altLang="zh-CN" sz="3600" smtClean="0">
                <a:latin typeface="Times New Roman" charset="0"/>
              </a:rPr>
              <a:t>Θ</a:t>
            </a:r>
            <a:r>
              <a:rPr lang="en-US" altLang="zh-CN" sz="3600" smtClean="0">
                <a:latin typeface="Times New Roman" charset="0"/>
              </a:rPr>
              <a:t>(g(n))</a:t>
            </a:r>
          </a:p>
          <a:p>
            <a:pPr eaLnBrk="1" hangingPunct="1"/>
            <a:r>
              <a:rPr lang="en-US" altLang="zh-CN" sz="3600" smtClean="0">
                <a:latin typeface="Times New Roman" charset="0"/>
              </a:rPr>
              <a:t>g(n)</a:t>
            </a:r>
            <a:r>
              <a:rPr lang="zh-CN" altLang="en-US" sz="3600" smtClean="0">
                <a:latin typeface="Times New Roman" charset="0"/>
              </a:rPr>
              <a:t>取上述初等函数</a:t>
            </a:r>
          </a:p>
          <a:p>
            <a:pPr eaLnBrk="1" hangingPunct="1"/>
            <a:endParaRPr lang="en-US" altLang="zh-CN" sz="3600" b="1" smtClean="0">
              <a:latin typeface="Dotum" pitchFamily="34" charset="-127"/>
              <a:ea typeface="Dotum" pitchFamily="34" charset="-127"/>
            </a:endParaRPr>
          </a:p>
          <a:p>
            <a:pPr eaLnBrk="1" hangingPunct="1"/>
            <a:endParaRPr lang="zh-CN" altLang="en-US" smtClean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>
                <a:latin typeface="Times New Roman" charset="0"/>
                <a:cs typeface="Tahoma" pitchFamily="34" charset="0"/>
              </a:rPr>
              <a:t>当</a:t>
            </a:r>
            <a:r>
              <a:rPr lang="en-US" altLang="zh-CN" sz="3600" smtClean="0">
                <a:latin typeface="Times New Roman" charset="0"/>
                <a:cs typeface="Tahoma" pitchFamily="34" charset="0"/>
              </a:rPr>
              <a:t>f(n)</a:t>
            </a:r>
            <a:r>
              <a:rPr lang="zh-CN" altLang="en-US" sz="3600" smtClean="0">
                <a:latin typeface="Times New Roman" charset="0"/>
                <a:cs typeface="Tahoma" pitchFamily="34" charset="0"/>
              </a:rPr>
              <a:t>为算法的时间复杂度函数时，称</a:t>
            </a:r>
            <a:r>
              <a:rPr lang="en-US" altLang="zh-CN" sz="3600" smtClean="0">
                <a:latin typeface="Times New Roman" charset="0"/>
                <a:cs typeface="Tahoma" pitchFamily="34" charset="0"/>
              </a:rPr>
              <a:t>g(n)</a:t>
            </a:r>
            <a:r>
              <a:rPr lang="zh-CN" altLang="en-US" sz="3600" smtClean="0">
                <a:latin typeface="Times New Roman" charset="0"/>
                <a:cs typeface="Tahoma" pitchFamily="34" charset="0"/>
              </a:rPr>
              <a:t>为该算法的复杂度的阶</a:t>
            </a:r>
            <a:r>
              <a:rPr lang="zh-CN" altLang="en-US" sz="3600" b="1" smtClean="0">
                <a:ea typeface="Dotum" pitchFamily="34" charset="-127"/>
                <a:cs typeface="Tahoma" pitchFamily="34" charset="0"/>
              </a:rPr>
              <a:t>。</a:t>
            </a:r>
          </a:p>
          <a:p>
            <a:pPr eaLnBrk="1" hangingPunct="1"/>
            <a:endParaRPr lang="zh-CN" altLang="en-US" smtClean="0">
              <a:ea typeface="Dotum" pitchFamily="34" charset="-127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渐近分析时用到的一些等式</a:t>
            </a:r>
            <a:endParaRPr lang="en-US" altLang="zh-CN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8601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428596" y="1196975"/>
            <a:ext cx="7429552" cy="4660917"/>
          </a:xfrm>
        </p:spPr>
      </p:pic>
      <p:graphicFrame>
        <p:nvGraphicFramePr>
          <p:cNvPr id="2049" name="Object 7"/>
          <p:cNvGraphicFramePr>
            <a:graphicFrameLocks noChangeAspect="1"/>
          </p:cNvGraphicFramePr>
          <p:nvPr/>
        </p:nvGraphicFramePr>
        <p:xfrm>
          <a:off x="2143109" y="5913207"/>
          <a:ext cx="2643205" cy="810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公式" r:id="rId4" imgW="1117440" imgH="342720" progId="Equation.3">
                  <p:embed/>
                </p:oleObj>
              </mc:Choice>
              <mc:Fallback>
                <p:oleObj name="公式" r:id="rId4" imgW="1117440" imgH="3427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9" y="5913207"/>
                        <a:ext cx="2643205" cy="8108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71538" y="1357298"/>
            <a:ext cx="6985000" cy="1714512"/>
          </a:xfrm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148476"/>
            <a:ext cx="8143932" cy="356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推导规则</a:t>
            </a:r>
            <a:endParaRPr lang="en-US" altLang="zh-CN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8704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31913" y="1341438"/>
            <a:ext cx="6840537" cy="48958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推导规则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pic>
        <p:nvPicPr>
          <p:cNvPr id="8806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87450" y="1700213"/>
            <a:ext cx="7416800" cy="3600450"/>
          </a:xfr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渐近分析例题</a:t>
            </a:r>
          </a:p>
        </p:txBody>
      </p:sp>
      <p:pic>
        <p:nvPicPr>
          <p:cNvPr id="89091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42988" y="1341438"/>
            <a:ext cx="7632700" cy="4751387"/>
          </a:xfr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</a:p>
        </p:txBody>
      </p:sp>
      <p:pic>
        <p:nvPicPr>
          <p:cNvPr id="901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71550" y="1484313"/>
            <a:ext cx="7721600" cy="4752975"/>
          </a:xfr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</a:p>
        </p:txBody>
      </p:sp>
      <p:pic>
        <p:nvPicPr>
          <p:cNvPr id="9113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00113" y="1484313"/>
            <a:ext cx="7669212" cy="4284662"/>
          </a:xfr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</a:p>
        </p:txBody>
      </p:sp>
      <p:pic>
        <p:nvPicPr>
          <p:cNvPr id="9216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62075" y="1336675"/>
            <a:ext cx="7412038" cy="4752975"/>
          </a:xfr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1295400"/>
            <a:ext cx="7781925" cy="4837113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Times New Roman" charset="0"/>
              </a:rPr>
              <a:t>顺序查找最好情形时间复杂度为</a:t>
            </a:r>
            <a:r>
              <a:rPr lang="el-GR" altLang="zh-CN" smtClean="0">
                <a:latin typeface="Times New Roman" charset="0"/>
              </a:rPr>
              <a:t>Θ</a:t>
            </a:r>
            <a:r>
              <a:rPr lang="en-US" altLang="zh-CN" smtClean="0">
                <a:latin typeface="Times New Roman" charset="0"/>
                <a:cs typeface="Tahoma" pitchFamily="34" charset="0"/>
              </a:rPr>
              <a:t>(1)</a:t>
            </a:r>
          </a:p>
          <a:p>
            <a:pPr eaLnBrk="1" hangingPunct="1"/>
            <a:r>
              <a:rPr lang="zh-CN" altLang="en-US" smtClean="0">
                <a:latin typeface="Times New Roman" charset="0"/>
              </a:rPr>
              <a:t>顺序查找最坏情形时间复杂度为</a:t>
            </a:r>
            <a:r>
              <a:rPr lang="el-GR" altLang="zh-CN" smtClean="0">
                <a:latin typeface="Times New Roman" charset="0"/>
              </a:rPr>
              <a:t>Θ</a:t>
            </a:r>
            <a:r>
              <a:rPr lang="en-US" altLang="zh-CN" smtClean="0">
                <a:latin typeface="Times New Roman" charset="0"/>
              </a:rPr>
              <a:t>(n)</a:t>
            </a:r>
          </a:p>
          <a:p>
            <a:pPr eaLnBrk="1" hangingPunct="1"/>
            <a:r>
              <a:rPr lang="zh-CN" altLang="en-US" smtClean="0">
                <a:latin typeface="Times New Roman" charset="0"/>
              </a:rPr>
              <a:t>顺序查找平均情形时间复杂度为</a:t>
            </a:r>
            <a:r>
              <a:rPr lang="el-GR" altLang="zh-CN" smtClean="0">
                <a:latin typeface="Times New Roman" charset="0"/>
              </a:rPr>
              <a:t>Θ</a:t>
            </a:r>
            <a:r>
              <a:rPr lang="en-US" altLang="zh-CN" smtClean="0">
                <a:latin typeface="Times New Roman" charset="0"/>
              </a:rPr>
              <a:t>(n)</a:t>
            </a:r>
            <a:endParaRPr lang="el-GR" altLang="zh-CN" smtClean="0">
              <a:latin typeface="Times New Roman" charset="0"/>
            </a:endParaRPr>
          </a:p>
          <a:p>
            <a:pPr eaLnBrk="1" hangingPunct="1"/>
            <a:r>
              <a:rPr lang="zh-CN" altLang="en-US" sz="2800" smtClean="0">
                <a:latin typeface="Times New Roman" charset="0"/>
              </a:rPr>
              <a:t>插入排序</a:t>
            </a:r>
            <a:r>
              <a:rPr lang="en-US" altLang="zh-CN" sz="2800" smtClean="0">
                <a:latin typeface="Times New Roman" charset="0"/>
              </a:rPr>
              <a:t>,</a:t>
            </a:r>
            <a:r>
              <a:rPr lang="zh-CN" altLang="en-US" sz="2800" smtClean="0">
                <a:latin typeface="Times New Roman" charset="0"/>
              </a:rPr>
              <a:t>选择排序和</a:t>
            </a:r>
            <a:r>
              <a:rPr lang="en-US" altLang="zh-CN" sz="2800" smtClean="0">
                <a:latin typeface="Times New Roman" charset="0"/>
              </a:rPr>
              <a:t>rank</a:t>
            </a:r>
            <a:r>
              <a:rPr lang="zh-CN" altLang="en-US" sz="2800" smtClean="0">
                <a:latin typeface="Times New Roman" charset="0"/>
              </a:rPr>
              <a:t>排序最坏情形时间复杂度为</a:t>
            </a:r>
            <a:r>
              <a:rPr lang="en-US" altLang="zh-CN" sz="2800" smtClean="0">
                <a:latin typeface="Times New Roman" charset="0"/>
              </a:rPr>
              <a:t>O(n</a:t>
            </a:r>
            <a:r>
              <a:rPr lang="en-US" altLang="zh-CN" sz="2800" baseline="30000" smtClean="0">
                <a:latin typeface="Times New Roman" charset="0"/>
              </a:rPr>
              <a:t>2</a:t>
            </a:r>
            <a:r>
              <a:rPr lang="en-US" altLang="zh-CN" sz="2800" smtClean="0">
                <a:latin typeface="Times New Roman" charset="0"/>
              </a:rPr>
              <a:t>).(upper bound)</a:t>
            </a:r>
          </a:p>
          <a:p>
            <a:pPr eaLnBrk="1" hangingPunct="1"/>
            <a:r>
              <a:rPr lang="zh-CN" altLang="en-US" sz="2800" smtClean="0">
                <a:latin typeface="Times New Roman" charset="0"/>
              </a:rPr>
              <a:t>更准确地讲它们的最坏情形复杂度是</a:t>
            </a:r>
            <a:r>
              <a:rPr lang="el-GR" altLang="zh-CN" sz="2800" smtClean="0">
                <a:latin typeface="Times New Roman" charset="0"/>
              </a:rPr>
              <a:t>Θ</a:t>
            </a:r>
            <a:r>
              <a:rPr lang="en-US" altLang="zh-CN" sz="2800" smtClean="0">
                <a:latin typeface="Times New Roman" charset="0"/>
              </a:rPr>
              <a:t>(n</a:t>
            </a:r>
            <a:r>
              <a:rPr lang="en-US" altLang="zh-CN" sz="2800" baseline="30000" smtClean="0">
                <a:latin typeface="Times New Roman" charset="0"/>
              </a:rPr>
              <a:t>2</a:t>
            </a:r>
            <a:r>
              <a:rPr lang="en-US" altLang="zh-CN" sz="2800" smtClean="0">
                <a:latin typeface="Times New Roman" charset="0"/>
              </a:rPr>
              <a:t>).(tight bound)</a:t>
            </a:r>
          </a:p>
          <a:p>
            <a:pPr eaLnBrk="1" hangingPunct="1"/>
            <a:r>
              <a:rPr lang="zh-CN" altLang="en-US" sz="2800" smtClean="0">
                <a:latin typeface="Times New Roman" charset="0"/>
              </a:rPr>
              <a:t>平均情形时间复杂度为</a:t>
            </a:r>
            <a:r>
              <a:rPr lang="el-GR" altLang="zh-CN" sz="2800" smtClean="0">
                <a:latin typeface="Times New Roman" charset="0"/>
              </a:rPr>
              <a:t>Θ</a:t>
            </a:r>
            <a:r>
              <a:rPr lang="en-US" altLang="zh-CN" sz="2800" smtClean="0">
                <a:latin typeface="Times New Roman" charset="0"/>
              </a:rPr>
              <a:t>(n</a:t>
            </a:r>
            <a:r>
              <a:rPr lang="en-US" altLang="zh-CN" sz="2800" baseline="30000" smtClean="0">
                <a:latin typeface="Times New Roman" charset="0"/>
              </a:rPr>
              <a:t>2</a:t>
            </a:r>
            <a:r>
              <a:rPr lang="en-US" altLang="zh-CN" sz="2800" smtClean="0">
                <a:latin typeface="Times New Roman" charset="0"/>
              </a:rPr>
              <a:t>).</a:t>
            </a:r>
            <a:endParaRPr lang="zh-CN" altLang="en-US" sz="2800" smtClean="0">
              <a:latin typeface="Times New Roman" charset="0"/>
            </a:endParaRPr>
          </a:p>
          <a:p>
            <a:pPr eaLnBrk="1" hangingPunct="1"/>
            <a:endParaRPr lang="el-GR" altLang="zh-CN" sz="2800" smtClean="0">
              <a:latin typeface="Times New Roman" charset="0"/>
            </a:endParaRPr>
          </a:p>
          <a:p>
            <a:pPr eaLnBrk="1" hangingPunct="1"/>
            <a:endParaRPr lang="el-GR" altLang="zh-CN" smtClean="0">
              <a:latin typeface="Dotum" pitchFamily="34" charset="-127"/>
              <a:ea typeface="Dotum" pitchFamily="34" charset="-127"/>
            </a:endParaRPr>
          </a:p>
        </p:txBody>
      </p:sp>
      <p:sp>
        <p:nvSpPr>
          <p:cNvPr id="93188" name="AutoShape 8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885113" y="404813"/>
            <a:ext cx="790575" cy="576262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Dotum" pitchFamily="34" charset="-127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多项式时间算法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Times New Roman" charset="0"/>
              </a:rPr>
              <a:t>如果一算法的最坏情形时间复杂度</a:t>
            </a:r>
            <a:r>
              <a:rPr lang="en-US" altLang="zh-CN" smtClean="0">
                <a:latin typeface="Times New Roman" charset="0"/>
              </a:rPr>
              <a:t>t(n)=O(n</a:t>
            </a:r>
            <a:r>
              <a:rPr lang="en-US" altLang="zh-CN" baseline="30000" smtClean="0">
                <a:latin typeface="Times New Roman" charset="0"/>
              </a:rPr>
              <a:t>k</a:t>
            </a:r>
            <a:r>
              <a:rPr lang="en-US" altLang="zh-CN" smtClean="0">
                <a:latin typeface="Times New Roman" charset="0"/>
              </a:rPr>
              <a:t>),</a:t>
            </a:r>
            <a:r>
              <a:rPr lang="zh-CN" altLang="en-US" smtClean="0">
                <a:latin typeface="Times New Roman" charset="0"/>
              </a:rPr>
              <a:t>则称该算法为多项式复杂度的算法或有多项式界的算法</a:t>
            </a:r>
            <a:r>
              <a:rPr lang="en-US" altLang="zh-CN" smtClean="0">
                <a:latin typeface="Times New Roman" charset="0"/>
              </a:rPr>
              <a:t>.</a:t>
            </a:r>
          </a:p>
          <a:p>
            <a:pPr eaLnBrk="1" hangingPunct="1"/>
            <a:r>
              <a:rPr lang="zh-CN" altLang="en-US" smtClean="0">
                <a:latin typeface="Times New Roman" charset="0"/>
              </a:rPr>
              <a:t>如果一算法的最坏情形时间复杂度</a:t>
            </a:r>
            <a:r>
              <a:rPr lang="en-US" altLang="zh-CN" smtClean="0">
                <a:latin typeface="Times New Roman" charset="0"/>
              </a:rPr>
              <a:t>t(n)</a:t>
            </a:r>
            <a:r>
              <a:rPr lang="zh-CN" altLang="en-US" smtClean="0">
                <a:latin typeface="Times New Roman" charset="0"/>
              </a:rPr>
              <a:t>不能用多项式限界</a:t>
            </a:r>
            <a:r>
              <a:rPr lang="en-US" altLang="zh-CN" smtClean="0">
                <a:latin typeface="Times New Roman" charset="0"/>
              </a:rPr>
              <a:t>,</a:t>
            </a:r>
            <a:r>
              <a:rPr lang="zh-CN" altLang="en-US" smtClean="0">
                <a:latin typeface="Times New Roman" charset="0"/>
              </a:rPr>
              <a:t>则称该算法为指数复杂度的算法。这类算法可认为计算上不可行的算法。</a:t>
            </a:r>
          </a:p>
          <a:p>
            <a:pPr eaLnBrk="1" hangingPunct="1"/>
            <a:endParaRPr lang="zh-CN" altLang="ru-RU" smtClean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NP-hard 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问题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charset="0"/>
              </a:rPr>
              <a:t>如果一个问题有多项式界的算法称该问题属于多项式类</a:t>
            </a:r>
            <a:r>
              <a:rPr lang="en-US" altLang="zh-CN" b="1" smtClean="0">
                <a:latin typeface="Times New Roman" charset="0"/>
              </a:rPr>
              <a:t>P</a:t>
            </a:r>
          </a:p>
          <a:p>
            <a:pPr eaLnBrk="1" hangingPunct="1"/>
            <a:r>
              <a:rPr lang="zh-CN" altLang="en-US" b="1" smtClean="0">
                <a:latin typeface="Times New Roman" charset="0"/>
              </a:rPr>
              <a:t>有很多实际上有意义的问题找不到有多项式界的算法称这些问题是</a:t>
            </a:r>
            <a:r>
              <a:rPr lang="en-US" altLang="zh-CN" b="1" smtClean="0">
                <a:latin typeface="Times New Roman" charset="0"/>
              </a:rPr>
              <a:t>NP-hard</a:t>
            </a:r>
            <a:r>
              <a:rPr lang="zh-CN" altLang="en-US" b="1" smtClean="0">
                <a:latin typeface="Times New Roman" charset="0"/>
              </a:rPr>
              <a:t>问题</a:t>
            </a:r>
            <a:r>
              <a:rPr lang="en-US" altLang="zh-CN" b="1" smtClean="0">
                <a:latin typeface="Times New Roman" charset="0"/>
              </a:rPr>
              <a:t>,</a:t>
            </a:r>
            <a:r>
              <a:rPr lang="zh-CN" altLang="en-US" b="1" smtClean="0">
                <a:latin typeface="Times New Roman" charset="0"/>
              </a:rPr>
              <a:t>即问题本身难</a:t>
            </a:r>
            <a:r>
              <a:rPr lang="en-US" altLang="zh-CN" b="1" smtClean="0">
                <a:latin typeface="Times New Roman" charset="0"/>
              </a:rPr>
              <a:t>.</a:t>
            </a:r>
          </a:p>
          <a:p>
            <a:pPr eaLnBrk="1" hangingPunct="1"/>
            <a:r>
              <a:rPr lang="zh-CN" altLang="en-US" b="1" smtClean="0">
                <a:latin typeface="Times New Roman" charset="0"/>
              </a:rPr>
              <a:t>上述难问题只能通过近似算法或启发式算法求解</a:t>
            </a:r>
            <a:r>
              <a:rPr lang="en-US" altLang="zh-CN" b="1" smtClean="0">
                <a:latin typeface="Times New Roman" charset="0"/>
              </a:rPr>
              <a:t>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数值比较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:1G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指令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秒的计算能力</a:t>
            </a:r>
          </a:p>
        </p:txBody>
      </p:sp>
      <p:pic>
        <p:nvPicPr>
          <p:cNvPr id="9625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87450" y="1557338"/>
            <a:ext cx="7561263" cy="4824412"/>
          </a:xfr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数值比较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:1G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指令</a:t>
            </a:r>
            <a:r>
              <a:rPr lang="en-US" altLang="zh-CN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秒的计算能力</a:t>
            </a:r>
          </a:p>
        </p:txBody>
      </p:sp>
      <p:pic>
        <p:nvPicPr>
          <p:cNvPr id="9728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87450" y="1557338"/>
            <a:ext cx="7561263" cy="4824412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Designs\Artsy.pot</Template>
  <TotalTime>6671</TotalTime>
  <Words>4125</Words>
  <Application>Microsoft Office PowerPoint</Application>
  <PresentationFormat>全屏显示(4:3)</PresentationFormat>
  <Paragraphs>384</Paragraphs>
  <Slides>92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92</vt:i4>
      </vt:variant>
    </vt:vector>
  </HeadingPairs>
  <TitlesOfParts>
    <vt:vector size="102" baseType="lpstr">
      <vt:lpstr>Dotum</vt:lpstr>
      <vt:lpstr>仿宋_GB2312</vt:lpstr>
      <vt:lpstr>楷体_GB2312</vt:lpstr>
      <vt:lpstr>宋体</vt:lpstr>
      <vt:lpstr>Arial</vt:lpstr>
      <vt:lpstr>Tahoma</vt:lpstr>
      <vt:lpstr>Times New Roman</vt:lpstr>
      <vt:lpstr>Wingdings</vt:lpstr>
      <vt:lpstr>Blends</vt:lpstr>
      <vt:lpstr>公式</vt:lpstr>
      <vt:lpstr>算法设计与分析</vt:lpstr>
      <vt:lpstr>课程目的</vt:lpstr>
      <vt:lpstr>课程安排</vt:lpstr>
      <vt:lpstr>教材及参考书目</vt:lpstr>
      <vt:lpstr>PowerPoint 演示文稿</vt:lpstr>
      <vt:lpstr>算法是计算机科学的主题</vt:lpstr>
      <vt:lpstr>计算机科学的体系</vt:lpstr>
      <vt:lpstr>算法及其特征</vt:lpstr>
      <vt:lpstr>程序(Program)</vt:lpstr>
      <vt:lpstr>为什么要学习算法</vt:lpstr>
      <vt:lpstr>常见的应用问题类型有</vt:lpstr>
      <vt:lpstr>2. 排序问题</vt:lpstr>
      <vt:lpstr>3. 图论问题</vt:lpstr>
      <vt:lpstr>4.组合数学问题</vt:lpstr>
      <vt:lpstr>5.几何问题</vt:lpstr>
      <vt:lpstr>6.数值计算问题</vt:lpstr>
      <vt:lpstr>问题求解</vt:lpstr>
      <vt:lpstr>算法设计的一般过程</vt:lpstr>
      <vt:lpstr>算法分类</vt:lpstr>
      <vt:lpstr>如何设计和描述算法</vt:lpstr>
      <vt:lpstr>如何验证算法</vt:lpstr>
      <vt:lpstr>如何分析算法</vt:lpstr>
      <vt:lpstr>PowerPoint 演示文稿</vt:lpstr>
      <vt:lpstr>2.1 引论</vt:lpstr>
      <vt:lpstr>PowerPoint 演示文稿</vt:lpstr>
      <vt:lpstr>算法复杂性</vt:lpstr>
      <vt:lpstr>问题和问题实例的概念</vt:lpstr>
      <vt:lpstr>实例长度-输入量</vt:lpstr>
      <vt:lpstr>2.2 空间复杂度(Space Complexity)</vt:lpstr>
      <vt:lpstr>PowerPoint 演示文稿</vt:lpstr>
      <vt:lpstr>例题2.2</vt:lpstr>
      <vt:lpstr>例题2.2(续)</vt:lpstr>
      <vt:lpstr>例题2.3</vt:lpstr>
      <vt:lpstr>例题2.4</vt:lpstr>
      <vt:lpstr>例题2.5</vt:lpstr>
      <vt:lpstr>小结</vt:lpstr>
      <vt:lpstr>2.3 时间复杂度(time complexity)</vt:lpstr>
      <vt:lpstr>2.3.2  操作计数</vt:lpstr>
      <vt:lpstr>例题2.8 [Polynomial Evaluation]</vt:lpstr>
      <vt:lpstr>例题2.8 [Polynomial Evaluation]</vt:lpstr>
      <vt:lpstr>例题2.9 [Ranking]</vt:lpstr>
      <vt:lpstr>例题2.9（续）</vt:lpstr>
      <vt:lpstr>例题2.10 [Rank Sort] </vt:lpstr>
      <vt:lpstr>例题2.11 [Selection Sort] </vt:lpstr>
      <vt:lpstr>最好，最坏和平均情形时间复杂度</vt:lpstr>
      <vt:lpstr>例题2.13   [Sequential Search] </vt:lpstr>
      <vt:lpstr>例题2.14  [Insertion into Sorted Array] </vt:lpstr>
      <vt:lpstr>例题2.14（续）</vt:lpstr>
      <vt:lpstr>例题2.15   [Rank Sort Revisited] </vt:lpstr>
      <vt:lpstr>(续)</vt:lpstr>
      <vt:lpstr>例题2.15 [Rank Sort Revisited]</vt:lpstr>
      <vt:lpstr>Rank Sort Revisited</vt:lpstr>
      <vt:lpstr>例题2.16   [Selection Sort Revisited] </vt:lpstr>
      <vt:lpstr>例题2.18   [Insertion Sort] </vt:lpstr>
      <vt:lpstr>例题2.18 [Insertion Sort] </vt:lpstr>
      <vt:lpstr>Insertion Sort</vt:lpstr>
      <vt:lpstr>2.3.3 Step Count 方法</vt:lpstr>
      <vt:lpstr>例题2.19   </vt:lpstr>
      <vt:lpstr>例题2.19 </vt:lpstr>
      <vt:lpstr>Frequency可能不等于Total steps， </vt:lpstr>
      <vt:lpstr>Step table for Program 2.23</vt:lpstr>
      <vt:lpstr>例题2.20</vt:lpstr>
      <vt:lpstr>例题2.21[Matrix Addition]</vt:lpstr>
      <vt:lpstr>Step table for Program 2.19</vt:lpstr>
      <vt:lpstr>例题2.22[Sequential Search]</vt:lpstr>
      <vt:lpstr>Step table for Pro2.1—best-case</vt:lpstr>
      <vt:lpstr>Step table for Pro2.1—worst-case</vt:lpstr>
      <vt:lpstr>2.4渐近分析,符号(О,Ω,Θ)</vt:lpstr>
      <vt:lpstr>渐近分析(续)</vt:lpstr>
      <vt:lpstr>2.4渐近分析(续)</vt:lpstr>
      <vt:lpstr>Can an Algorithm  work with large input ?</vt:lpstr>
      <vt:lpstr>渐近分析-随n的增加T(n)的增长率</vt:lpstr>
      <vt:lpstr>多项式函数与指数函数</vt:lpstr>
      <vt:lpstr>多项式函数与指数函数</vt:lpstr>
      <vt:lpstr>10亿次/秒机器求解的问题</vt:lpstr>
      <vt:lpstr>2.4渐近分析(续)</vt:lpstr>
      <vt:lpstr>渐近分析(续)</vt:lpstr>
      <vt:lpstr>2.4渐近分析(续)</vt:lpstr>
      <vt:lpstr>渐近分析(续)</vt:lpstr>
      <vt:lpstr>2.4渐近分析时用到的一些等式</vt:lpstr>
      <vt:lpstr>续</vt:lpstr>
      <vt:lpstr>推导规则</vt:lpstr>
      <vt:lpstr>推导规则(续)</vt:lpstr>
      <vt:lpstr>渐近分析例题</vt:lpstr>
      <vt:lpstr>续</vt:lpstr>
      <vt:lpstr>续</vt:lpstr>
      <vt:lpstr>续</vt:lpstr>
      <vt:lpstr>续</vt:lpstr>
      <vt:lpstr>多项式时间算法</vt:lpstr>
      <vt:lpstr>NP-hard 问题</vt:lpstr>
      <vt:lpstr>数值比较:1G指令/秒的计算能力</vt:lpstr>
      <vt:lpstr>数值比较:1G指令/秒的计算能力</vt:lpstr>
    </vt:vector>
  </TitlesOfParts>
  <Company>future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数据结构，算法与程序设计</dc:title>
  <dc:creator>forest</dc:creator>
  <cp:lastModifiedBy>cfliutju@outlook.com</cp:lastModifiedBy>
  <cp:revision>323</cp:revision>
  <cp:lastPrinted>1601-01-01T00:00:00Z</cp:lastPrinted>
  <dcterms:created xsi:type="dcterms:W3CDTF">2003-02-13T01:01:11Z</dcterms:created>
  <dcterms:modified xsi:type="dcterms:W3CDTF">2025-03-03T15:09:26Z</dcterms:modified>
</cp:coreProperties>
</file>