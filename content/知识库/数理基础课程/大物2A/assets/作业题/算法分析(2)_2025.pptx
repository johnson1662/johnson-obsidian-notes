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handoutMasterIdLst>
    <p:handoutMasterId r:id="rId49"/>
  </p:handoutMasterIdLst>
  <p:sldIdLst>
    <p:sldId id="301" r:id="rId2"/>
    <p:sldId id="262" r:id="rId3"/>
    <p:sldId id="288" r:id="rId4"/>
    <p:sldId id="284" r:id="rId5"/>
    <p:sldId id="259" r:id="rId6"/>
    <p:sldId id="268" r:id="rId7"/>
    <p:sldId id="274" r:id="rId8"/>
    <p:sldId id="275" r:id="rId9"/>
    <p:sldId id="276" r:id="rId10"/>
    <p:sldId id="261" r:id="rId11"/>
    <p:sldId id="263" r:id="rId12"/>
    <p:sldId id="264" r:id="rId13"/>
    <p:sldId id="267" r:id="rId14"/>
    <p:sldId id="269" r:id="rId15"/>
    <p:sldId id="270" r:id="rId16"/>
    <p:sldId id="271" r:id="rId17"/>
    <p:sldId id="272" r:id="rId18"/>
    <p:sldId id="290" r:id="rId19"/>
    <p:sldId id="273" r:id="rId20"/>
    <p:sldId id="285" r:id="rId21"/>
    <p:sldId id="291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7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309" r:id="rId38"/>
    <p:sldId id="307" r:id="rId39"/>
    <p:sldId id="299" r:id="rId40"/>
    <p:sldId id="300" r:id="rId41"/>
    <p:sldId id="308" r:id="rId42"/>
    <p:sldId id="313" r:id="rId43"/>
    <p:sldId id="314" r:id="rId44"/>
    <p:sldId id="315" r:id="rId45"/>
    <p:sldId id="303" r:id="rId46"/>
    <p:sldId id="305" r:id="rId47"/>
    <p:sldId id="306" r:id="rId48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6D8F3A81-5BBB-47D0-9CDB-612A2EC778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71672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l">
              <a:defRPr/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115511-D320-4F56-88BE-FBFCA1606F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4D063-A921-42DA-B21E-600EDF2FB3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7E4797-AD9F-4C96-896E-2F52C24CCA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FBD054-EC6C-44BD-BA59-0A799F08E8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52AA1-5ABA-4182-86A9-3DED76B7CC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A37A32-2F92-40E6-805C-6F494934AF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05357-B529-4C1D-931D-920DB83CFA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8C2457-0707-48A0-9F6D-FBDD154D7A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3585D-2D4D-4B59-AF16-17D3D62B01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5DC7C0-41F7-4A40-AF8F-9C06A4734B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BECFFF-71A4-433F-A551-B6382FB3E8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F0254-A793-43A2-9967-05AC8D8EF6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CB4BC-DA57-4B51-84E1-0E882354ADC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0BB5E4-0229-49D9-B05B-EABDA2C0A2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3316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pPr algn="l">
              <a:defRPr/>
            </a:pPr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2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+mn-lt"/>
              </a:defRPr>
            </a:lvl1pPr>
          </a:lstStyle>
          <a:p>
            <a:pPr>
              <a:defRPr/>
            </a:pPr>
            <a:fld id="{25867B61-8F5A-4402-A5CA-A0A0D06168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8" y="2519363"/>
            <a:ext cx="8001000" cy="3052762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zh-CN" altLang="en-US" sz="4000" dirty="0"/>
              <a:t>算法分析（续）</a:t>
            </a:r>
            <a:endParaRPr lang="en-US" altLang="zh-CN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3713" y="1916113"/>
            <a:ext cx="6985000" cy="208915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3500" b="1"/>
              <a:t>Pseudocode (</a:t>
            </a:r>
            <a:r>
              <a:rPr lang="zh-CN" altLang="en-US" sz="3500" b="1"/>
              <a:t>伪代码</a:t>
            </a:r>
            <a:r>
              <a:rPr lang="en-US" altLang="zh-CN" sz="3500" b="1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3500" b="1"/>
              <a:t>Solving Recurrences(</a:t>
            </a:r>
            <a:r>
              <a:rPr lang="zh-CN" altLang="en-US" sz="3500" b="1"/>
              <a:t>解递归</a:t>
            </a:r>
            <a:r>
              <a:rPr lang="en-US" altLang="zh-CN" sz="3500" b="1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5300663"/>
            <a:ext cx="7750175" cy="719137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200"/>
              <a:t>While-</a:t>
            </a:r>
            <a:r>
              <a:rPr lang="zh-CN" altLang="en-US" sz="2200"/>
              <a:t>循环最坏情形</a:t>
            </a:r>
            <a:r>
              <a:rPr lang="el-GR" altLang="zh-CN" sz="2200">
                <a:ea typeface="Dotum" pitchFamily="34" charset="-127"/>
              </a:rPr>
              <a:t>Θ</a:t>
            </a:r>
            <a:r>
              <a:rPr lang="en-US" altLang="zh-CN" sz="2200"/>
              <a:t>(j).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200"/>
              <a:t>While-</a:t>
            </a:r>
            <a:r>
              <a:rPr lang="zh-CN" altLang="en-US" sz="2200"/>
              <a:t>循环平均情形</a:t>
            </a:r>
            <a:r>
              <a:rPr lang="el-GR" altLang="zh-CN" sz="2200">
                <a:ea typeface="Dotum" pitchFamily="34" charset="-127"/>
              </a:rPr>
              <a:t>Θ</a:t>
            </a:r>
            <a:r>
              <a:rPr lang="en-US" altLang="zh-CN" sz="2200"/>
              <a:t>(j/2),</a:t>
            </a:r>
            <a:r>
              <a:rPr lang="zh-CN" altLang="en-US" sz="2200"/>
              <a:t>当插入位置有相同概率时</a:t>
            </a:r>
            <a:r>
              <a:rPr lang="en-US" altLang="zh-CN" sz="2200"/>
              <a:t>.</a:t>
            </a:r>
            <a:endParaRPr lang="zh-CN" altLang="el-GR" sz="2200"/>
          </a:p>
        </p:txBody>
      </p:sp>
      <p:pic>
        <p:nvPicPr>
          <p:cNvPr id="717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331913" y="1773238"/>
            <a:ext cx="6121400" cy="3241675"/>
          </a:xfr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伪代码</a:t>
            </a:r>
            <a:r>
              <a:rPr lang="en-US" altLang="zh-CN" b="1"/>
              <a:t>-</a:t>
            </a:r>
            <a:r>
              <a:rPr lang="zh-CN" altLang="en-US" b="1"/>
              <a:t>插入排序</a:t>
            </a:r>
            <a:endParaRPr lang="en-US" altLang="zh-CN" b="1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Arial" charset="0"/>
                <a:cs typeface="Arial" charset="0"/>
              </a:rPr>
              <a:t>“←”</a:t>
            </a:r>
            <a:r>
              <a:rPr lang="zh-CN" altLang="en-US">
                <a:latin typeface="Arial" charset="0"/>
                <a:cs typeface="Arial" charset="0"/>
              </a:rPr>
              <a:t>表示”赋值“</a:t>
            </a:r>
            <a:r>
              <a:rPr lang="en-US" altLang="zh-CN">
                <a:latin typeface="Arial" charset="0"/>
                <a:cs typeface="Arial" charset="0"/>
              </a:rPr>
              <a:t>(assignment</a:t>
            </a:r>
            <a:r>
              <a:rPr lang="en-US" altLang="zh-CN"/>
              <a:t>).</a:t>
            </a:r>
          </a:p>
          <a:p>
            <a:pPr eaLnBrk="1" hangingPunct="1"/>
            <a:r>
              <a:rPr lang="zh-CN" altLang="en-US"/>
              <a:t>忽略数据类型、变量的说明等与算法无关的部分</a:t>
            </a:r>
            <a:r>
              <a:rPr lang="en-US" altLang="zh-CN"/>
              <a:t>.</a:t>
            </a:r>
          </a:p>
          <a:p>
            <a:pPr eaLnBrk="1" hangingPunct="1"/>
            <a:r>
              <a:rPr lang="zh-CN" altLang="en-US"/>
              <a:t>允许使用自然语言表示一些相关步骤</a:t>
            </a:r>
          </a:p>
          <a:p>
            <a:pPr eaLnBrk="1" hangingPunct="1"/>
            <a:r>
              <a:rPr lang="zh-CN" altLang="en-US"/>
              <a:t>伪代码突出了程序使用的算法</a:t>
            </a:r>
            <a:r>
              <a:rPr lang="en-US" altLang="zh-CN"/>
              <a:t>. </a:t>
            </a: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插入排序实例</a:t>
            </a:r>
            <a:endParaRPr lang="en-US" altLang="zh-CN" b="1"/>
          </a:p>
        </p:txBody>
      </p:sp>
      <p:pic>
        <p:nvPicPr>
          <p:cNvPr id="9219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87450" y="1828800"/>
            <a:ext cx="6985000" cy="4337050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插入排序分析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zh-CN" altLang="en-US" sz="3000" kern="0" dirty="0">
                <a:latin typeface="+mn-lt"/>
                <a:ea typeface="+mn-ea"/>
              </a:rPr>
              <a:t>最坏情形：输入数据已按倒序排列</a:t>
            </a:r>
            <a:endParaRPr lang="en-US" altLang="zh-CN" sz="3000" kern="0" dirty="0">
              <a:latin typeface="+mn-lt"/>
              <a:ea typeface="+mn-ea"/>
            </a:endParaRPr>
          </a:p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altLang="zh-CN" sz="3000" kern="0" dirty="0">
              <a:latin typeface="+mn-lt"/>
              <a:ea typeface="+mn-ea"/>
            </a:endParaRPr>
          </a:p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altLang="zh-CN" sz="3000" kern="0" dirty="0">
              <a:latin typeface="+mn-lt"/>
              <a:ea typeface="+mn-ea"/>
            </a:endParaRPr>
          </a:p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zh-CN" altLang="en-US" sz="3000" kern="0" dirty="0">
                <a:latin typeface="+mn-lt"/>
                <a:ea typeface="+mn-ea"/>
              </a:rPr>
              <a:t>平均情形：输入数据为所有可能的排列</a:t>
            </a:r>
            <a:endParaRPr lang="en-US" altLang="zh-CN" sz="3000" kern="0" dirty="0">
              <a:latin typeface="+mn-lt"/>
              <a:ea typeface="+mn-ea"/>
            </a:endParaRPr>
          </a:p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altLang="zh-CN" sz="3000" kern="0" dirty="0">
              <a:latin typeface="+mn-lt"/>
              <a:ea typeface="+mn-ea"/>
            </a:endParaRPr>
          </a:p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zh-CN" altLang="en-US" sz="3000" kern="0" dirty="0">
                <a:latin typeface="+mn-lt"/>
                <a:ea typeface="+mn-ea"/>
              </a:rPr>
              <a:t>插入排序是否是最快的排序算法？</a:t>
            </a:r>
            <a:endParaRPr lang="en-US" altLang="zh-CN" sz="3000" kern="0" dirty="0">
              <a:latin typeface="+mn-lt"/>
              <a:ea typeface="+mn-ea"/>
            </a:endParaRPr>
          </a:p>
          <a:p>
            <a:pPr marL="927100" lvl="1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zh-CN" altLang="en-US" sz="3000" kern="0" dirty="0">
                <a:latin typeface="+mn-lt"/>
                <a:ea typeface="+mn-ea"/>
              </a:rPr>
              <a:t>当</a:t>
            </a:r>
            <a:r>
              <a:rPr lang="en-US" altLang="zh-CN" sz="3000" kern="0" dirty="0">
                <a:latin typeface="+mn-lt"/>
                <a:ea typeface="+mn-ea"/>
              </a:rPr>
              <a:t>n</a:t>
            </a:r>
            <a:r>
              <a:rPr lang="zh-CN" altLang="en-US" sz="3000" kern="0" dirty="0">
                <a:latin typeface="+mn-lt"/>
                <a:ea typeface="+mn-ea"/>
              </a:rPr>
              <a:t>很小时，结论肯定</a:t>
            </a:r>
            <a:endParaRPr lang="en-US" altLang="zh-CN" sz="3000" kern="0" dirty="0">
              <a:latin typeface="+mn-lt"/>
              <a:ea typeface="+mn-ea"/>
            </a:endParaRPr>
          </a:p>
          <a:p>
            <a:pPr marL="927100" lvl="1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r>
              <a:rPr lang="zh-CN" altLang="en-US" sz="3000" kern="0" dirty="0">
                <a:latin typeface="+mn-lt"/>
                <a:ea typeface="+mn-ea"/>
              </a:rPr>
              <a:t>当</a:t>
            </a:r>
            <a:r>
              <a:rPr lang="en-US" altLang="zh-CN" sz="3000" kern="0" dirty="0">
                <a:latin typeface="+mn-lt"/>
                <a:ea typeface="+mn-ea"/>
              </a:rPr>
              <a:t>n</a:t>
            </a:r>
            <a:r>
              <a:rPr lang="zh-CN" altLang="en-US" sz="3000" kern="0" dirty="0">
                <a:latin typeface="+mn-lt"/>
                <a:ea typeface="+mn-ea"/>
              </a:rPr>
              <a:t>很大时，不一定</a:t>
            </a:r>
            <a:endParaRPr lang="en-US" altLang="zh-CN" sz="3000" kern="0" dirty="0">
              <a:latin typeface="+mn-lt"/>
              <a:ea typeface="+mn-ea"/>
            </a:endParaRPr>
          </a:p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altLang="zh-CN" sz="3000" kern="0" dirty="0">
              <a:latin typeface="+mn-lt"/>
              <a:ea typeface="+mn-ea"/>
            </a:endParaRPr>
          </a:p>
          <a:p>
            <a:pPr marL="469900" indent="-469900" algn="l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/>
            </a:pPr>
            <a:endParaRPr lang="en-US" altLang="zh-CN" sz="3000" kern="0" dirty="0">
              <a:latin typeface="+mn-lt"/>
              <a:ea typeface="+mn-ea"/>
            </a:endParaRPr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2214563" y="2500313"/>
          <a:ext cx="314325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473120" imgH="444240" progId="Equation.3">
                  <p:embed/>
                </p:oleObj>
              </mc:Choice>
              <mc:Fallback>
                <p:oleObj name="公式" r:id="rId2" imgW="1473120" imgH="4442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2500313"/>
                        <a:ext cx="3143250" cy="862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8"/>
          <p:cNvGraphicFramePr>
            <a:graphicFrameLocks noChangeAspect="1"/>
          </p:cNvGraphicFramePr>
          <p:nvPr/>
        </p:nvGraphicFramePr>
        <p:xfrm>
          <a:off x="2357438" y="3929063"/>
          <a:ext cx="3071812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50960" imgH="444240" progId="Equation.3">
                  <p:embed/>
                </p:oleObj>
              </mc:Choice>
              <mc:Fallback>
                <p:oleObj name="公式" r:id="rId4" imgW="1650960" imgH="4442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3929063"/>
                        <a:ext cx="3071812" cy="67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400" dirty="0"/>
              <a:t>最优二叉树</a:t>
            </a:r>
            <a:r>
              <a:rPr lang="en-US" altLang="zh-CN" sz="3400" dirty="0"/>
              <a:t>(optimized binary tree)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for m </a:t>
            </a:r>
            <a:r>
              <a:rPr lang="en-US" altLang="zh-CN" sz="2000" dirty="0">
                <a:latin typeface="Arial" charset="0"/>
                <a:cs typeface="Arial" charset="0"/>
              </a:rPr>
              <a:t>←</a:t>
            </a:r>
            <a:r>
              <a:rPr lang="en-US" altLang="zh-CN" sz="2000" dirty="0"/>
              <a:t>2 to n                                                   </a:t>
            </a:r>
            <a:r>
              <a:rPr lang="el-GR" altLang="zh-CN" sz="2000" dirty="0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sz="2000" dirty="0">
                <a:latin typeface="Dotum" pitchFamily="34" charset="-127"/>
                <a:ea typeface="Dotum" pitchFamily="34" charset="-127"/>
              </a:rPr>
              <a:t>(1)</a:t>
            </a:r>
            <a:r>
              <a:rPr lang="en-US" altLang="zh-CN" sz="2000" dirty="0"/>
              <a:t> 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do 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   {for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</a:t>
            </a:r>
            <a:r>
              <a:rPr lang="en-US" altLang="zh-CN" sz="2000" dirty="0">
                <a:latin typeface="Arial" charset="0"/>
                <a:cs typeface="Arial" charset="0"/>
              </a:rPr>
              <a:t>←</a:t>
            </a:r>
            <a:r>
              <a:rPr lang="en-US" altLang="zh-CN" sz="2000" dirty="0"/>
              <a:t>0 to n-m                                            </a:t>
            </a:r>
            <a:r>
              <a:rPr lang="el-GR" altLang="zh-CN" sz="2000" dirty="0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sz="2000" dirty="0">
                <a:latin typeface="Dotum" pitchFamily="34" charset="-127"/>
                <a:ea typeface="Dotum" pitchFamily="34" charset="-127"/>
              </a:rPr>
              <a:t>(1)</a:t>
            </a:r>
            <a:r>
              <a:rPr lang="en-US" altLang="zh-CN" sz="2000" dirty="0"/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          do{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              j </a:t>
            </a:r>
            <a:r>
              <a:rPr lang="en-US" altLang="zh-CN" sz="2000" dirty="0">
                <a:latin typeface="Arial" charset="0"/>
                <a:cs typeface="Arial" charset="0"/>
              </a:rPr>
              <a:t>←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+ m                                            </a:t>
            </a:r>
            <a:r>
              <a:rPr lang="el-GR" altLang="zh-CN" sz="2000" dirty="0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sz="2000" dirty="0">
                <a:latin typeface="Dotum" pitchFamily="34" charset="-127"/>
                <a:ea typeface="Dotum" pitchFamily="34" charset="-127"/>
              </a:rPr>
              <a:t>(1)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              w(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j) </a:t>
            </a:r>
            <a:r>
              <a:rPr lang="en-US" altLang="zh-CN" sz="2000" dirty="0">
                <a:latin typeface="Arial" charset="0"/>
                <a:cs typeface="Arial" charset="0"/>
              </a:rPr>
              <a:t>←</a:t>
            </a:r>
            <a:r>
              <a:rPr lang="en-US" altLang="zh-CN" sz="2000" dirty="0"/>
              <a:t>w(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j-1) + P(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 + Q(j)              </a:t>
            </a:r>
            <a:r>
              <a:rPr lang="el-GR" altLang="zh-CN" sz="2000" dirty="0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sz="2000" dirty="0">
                <a:latin typeface="Dotum" pitchFamily="34" charset="-127"/>
                <a:ea typeface="Dotum" pitchFamily="34" charset="-127"/>
              </a:rPr>
              <a:t>(1)</a:t>
            </a:r>
            <a:endParaRPr lang="en-US" altLang="zh-CN" sz="20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              c(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j)</a:t>
            </a:r>
            <a:r>
              <a:rPr lang="en-US" altLang="zh-CN" sz="2000" dirty="0">
                <a:latin typeface="Arial" charset="0"/>
                <a:cs typeface="Arial" charset="0"/>
              </a:rPr>
              <a:t>←</a:t>
            </a:r>
            <a:r>
              <a:rPr lang="en-US" altLang="zh-CN" sz="2000" dirty="0"/>
              <a:t>min</a:t>
            </a:r>
            <a:r>
              <a:rPr lang="en-US" altLang="zh-CN" sz="2000" baseline="-25000" dirty="0"/>
              <a:t>i&lt;</a:t>
            </a:r>
            <a:r>
              <a:rPr lang="en-US" altLang="zh-CN" sz="2000" baseline="-25000" dirty="0" err="1"/>
              <a:t>l</a:t>
            </a:r>
            <a:r>
              <a:rPr lang="en-US" altLang="zh-CN" sz="2000" baseline="-25000" dirty="0" err="1">
                <a:sym typeface="Symbol" pitchFamily="18" charset="2"/>
              </a:rPr>
              <a:t></a:t>
            </a:r>
            <a:r>
              <a:rPr lang="en-US" altLang="zh-CN" sz="2000" baseline="-25000" dirty="0" err="1"/>
              <a:t>j</a:t>
            </a:r>
            <a:r>
              <a:rPr lang="en-US" altLang="zh-CN" sz="2000" dirty="0"/>
              <a:t> { c(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l-1) + c (l, j) } + w(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j)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            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000" dirty="0"/>
              <a:t>W(</a:t>
            </a:r>
            <a:r>
              <a:rPr lang="en-US" altLang="zh-CN" sz="2000" dirty="0" err="1"/>
              <a:t>n,n</a:t>
            </a:r>
            <a:r>
              <a:rPr lang="en-US" altLang="zh-CN" sz="2000" dirty="0"/>
              <a:t>),P(n),Q(n),c(</a:t>
            </a:r>
            <a:r>
              <a:rPr lang="en-US" altLang="zh-CN" sz="2000" dirty="0" err="1"/>
              <a:t>n,n</a:t>
            </a:r>
            <a:r>
              <a:rPr lang="en-US" altLang="zh-CN" sz="2000" dirty="0"/>
              <a:t>) </a:t>
            </a:r>
            <a:r>
              <a:rPr lang="zh-CN" altLang="en-US" sz="2000" dirty="0"/>
              <a:t>是算法使用的数组</a:t>
            </a:r>
            <a:r>
              <a:rPr lang="en-US" altLang="zh-CN" sz="2000" dirty="0"/>
              <a:t>,</a:t>
            </a:r>
            <a:r>
              <a:rPr lang="zh-CN" altLang="en-US" sz="2000" dirty="0"/>
              <a:t>假定已初始化</a:t>
            </a:r>
            <a:r>
              <a:rPr lang="en-US" altLang="zh-CN" sz="20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最优二叉树：时间复杂度分析</a:t>
            </a:r>
            <a:endParaRPr lang="en-US" altLang="zh-CN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min</a:t>
            </a:r>
            <a:r>
              <a:rPr lang="en-US" altLang="zh-CN" baseline="-25000" dirty="0"/>
              <a:t>i&lt;</a:t>
            </a:r>
            <a:r>
              <a:rPr lang="en-US" altLang="zh-CN" baseline="-25000" dirty="0" err="1"/>
              <a:t>l</a:t>
            </a:r>
            <a:r>
              <a:rPr lang="en-US" altLang="zh-CN" baseline="-25000" dirty="0" err="1">
                <a:sym typeface="Symbol" pitchFamily="18" charset="2"/>
              </a:rPr>
              <a:t></a:t>
            </a:r>
            <a:r>
              <a:rPr lang="en-US" altLang="zh-CN" baseline="-25000" dirty="0" err="1"/>
              <a:t>j</a:t>
            </a:r>
            <a:r>
              <a:rPr lang="en-US" altLang="zh-CN" dirty="0"/>
              <a:t> { c(</a:t>
            </a:r>
            <a:r>
              <a:rPr lang="en-US" altLang="zh-CN" dirty="0" err="1"/>
              <a:t>i</a:t>
            </a:r>
            <a:r>
              <a:rPr lang="en-US" altLang="zh-CN" dirty="0"/>
              <a:t>, l-1) + c (l, j) }: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ea typeface="Dotum" pitchFamily="34" charset="-127"/>
              </a:rPr>
              <a:t>   </a:t>
            </a:r>
            <a:r>
              <a:rPr lang="el-GR" altLang="zh-CN" dirty="0">
                <a:ea typeface="Dotum" pitchFamily="34" charset="-127"/>
              </a:rPr>
              <a:t>Θ</a:t>
            </a:r>
            <a:r>
              <a:rPr lang="en-US" altLang="zh-CN" dirty="0"/>
              <a:t>(j-</a:t>
            </a:r>
            <a:r>
              <a:rPr lang="en-US" altLang="zh-CN" dirty="0" err="1"/>
              <a:t>i</a:t>
            </a:r>
            <a:r>
              <a:rPr lang="en-US" altLang="zh-CN" dirty="0">
                <a:latin typeface="Dotum" pitchFamily="34" charset="-127"/>
                <a:ea typeface="Dotum" pitchFamily="34" charset="-127"/>
              </a:rPr>
              <a:t>)=</a:t>
            </a:r>
            <a:r>
              <a:rPr lang="el-GR" altLang="zh-CN" dirty="0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dirty="0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 dirty="0"/>
              <a:t>m)    </a:t>
            </a:r>
          </a:p>
          <a:p>
            <a:pPr eaLnBrk="1" hangingPunct="1"/>
            <a:r>
              <a:rPr lang="zh-CN" altLang="en-US" dirty="0"/>
              <a:t>内层循环</a:t>
            </a:r>
            <a:r>
              <a:rPr lang="en-US" altLang="zh-CN" dirty="0"/>
              <a:t>:</a:t>
            </a:r>
            <a:r>
              <a:rPr lang="el-GR" altLang="zh-CN" dirty="0">
                <a:ea typeface="Dotum" pitchFamily="34" charset="-127"/>
              </a:rPr>
              <a:t>Θ</a:t>
            </a:r>
            <a:r>
              <a:rPr lang="en-US" altLang="zh-CN" dirty="0"/>
              <a:t>(m(n-m))</a:t>
            </a:r>
            <a:r>
              <a:rPr lang="zh-CN" altLang="en-US" dirty="0"/>
              <a:t>；</a:t>
            </a:r>
          </a:p>
          <a:p>
            <a:pPr eaLnBrk="1" hangingPunct="1"/>
            <a:r>
              <a:rPr lang="zh-CN" altLang="en-US" dirty="0"/>
              <a:t>总的时间复杂度：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/>
              <a:t>     </a:t>
            </a:r>
            <a:r>
              <a:rPr lang="el-GR" altLang="zh-CN" dirty="0">
                <a:ea typeface="Dotum" pitchFamily="34" charset="-127"/>
              </a:rPr>
              <a:t>Θ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(∑</a:t>
            </a:r>
            <a:r>
              <a:rPr lang="en-US" altLang="zh-CN" baseline="-25000" dirty="0">
                <a:latin typeface="Dotum" pitchFamily="34" charset="-127"/>
                <a:ea typeface="Dotum" pitchFamily="34" charset="-127"/>
              </a:rPr>
              <a:t>2≤m≤n</a:t>
            </a:r>
            <a:r>
              <a:rPr lang="en-US" altLang="zh-CN" dirty="0"/>
              <a:t>m(n-m))=</a:t>
            </a:r>
            <a:r>
              <a:rPr lang="el-GR" altLang="zh-CN" dirty="0">
                <a:ea typeface="Dotum" pitchFamily="34" charset="-127"/>
              </a:rPr>
              <a:t>Θ</a:t>
            </a:r>
            <a:r>
              <a:rPr lang="en-US" altLang="zh-CN" dirty="0">
                <a:ea typeface="Dotum" pitchFamily="34" charset="-127"/>
              </a:rPr>
              <a:t>(n</a:t>
            </a:r>
            <a:r>
              <a:rPr lang="en-US" altLang="zh-CN" baseline="30000" dirty="0">
                <a:ea typeface="Dotum" pitchFamily="34" charset="-127"/>
              </a:rPr>
              <a:t>3</a:t>
            </a:r>
            <a:r>
              <a:rPr lang="en-US" altLang="zh-CN" dirty="0">
                <a:ea typeface="Dotum" pitchFamily="34" charset="-127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解递归方程的方法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p"/>
            </a:pPr>
            <a:r>
              <a:rPr lang="en-US" altLang="zh-CN" dirty="0"/>
              <a:t> </a:t>
            </a:r>
            <a:r>
              <a:rPr lang="zh-CN" altLang="en-US" dirty="0"/>
              <a:t>递归树（</a:t>
            </a:r>
            <a:r>
              <a:rPr lang="en-US" altLang="zh-CN" dirty="0"/>
              <a:t>Recursion tree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buFont typeface="Wingdings" pitchFamily="2" charset="2"/>
              <a:buChar char="p"/>
            </a:pPr>
            <a:r>
              <a:rPr lang="en-US" altLang="zh-CN" dirty="0"/>
              <a:t> </a:t>
            </a:r>
            <a:r>
              <a:rPr lang="zh-CN" altLang="en-US" dirty="0"/>
              <a:t>替代法（</a:t>
            </a:r>
            <a:r>
              <a:rPr lang="en-US" altLang="zh-CN" dirty="0"/>
              <a:t>Substitution method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buFont typeface="Wingdings" pitchFamily="2" charset="2"/>
              <a:buChar char="p"/>
            </a:pPr>
            <a:r>
              <a:rPr lang="en-US" altLang="zh-CN" dirty="0"/>
              <a:t> Master</a:t>
            </a:r>
            <a:r>
              <a:rPr lang="zh-CN" altLang="en-US" dirty="0"/>
              <a:t>方法（</a:t>
            </a:r>
            <a:r>
              <a:rPr lang="en-US" altLang="zh-CN" dirty="0"/>
              <a:t>Master method</a:t>
            </a:r>
            <a:r>
              <a:rPr lang="zh-CN" altLang="en-US" dirty="0"/>
              <a:t>）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84213" y="1628775"/>
            <a:ext cx="7775575" cy="4464050"/>
          </a:xfrm>
          <a:noFill/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归并排序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79388" y="1752600"/>
            <a:ext cx="8964612" cy="4845050"/>
          </a:xfrm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71500" y="284163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r>
              <a:rPr lang="zh-CN" altLang="en-US" sz="3800" b="1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合并已排序的子序列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归并排序时间复杂度分析</a:t>
            </a:r>
            <a:endParaRPr lang="en-US" altLang="zh-CN" b="1"/>
          </a:p>
        </p:txBody>
      </p:sp>
      <p:sp>
        <p:nvSpPr>
          <p:cNvPr id="15363" name="Rectangle 7"/>
          <p:cNvSpPr>
            <a:spLocks noGrp="1" noChangeArrowheads="1"/>
          </p:cNvSpPr>
          <p:nvPr>
            <p:ph sz="half" idx="1"/>
          </p:nvPr>
        </p:nvSpPr>
        <p:spPr>
          <a:xfrm>
            <a:off x="566738" y="4941888"/>
            <a:ext cx="7534275" cy="863600"/>
          </a:xfrm>
        </p:spPr>
        <p:txBody>
          <a:bodyPr/>
          <a:lstStyle/>
          <a:p>
            <a:pPr eaLnBrk="1" hangingPunct="1"/>
            <a:r>
              <a:rPr lang="en-US" altLang="zh-CN" sz="2600"/>
              <a:t>Should be </a:t>
            </a:r>
          </a:p>
          <a:p>
            <a:pPr eaLnBrk="1" hangingPunct="1"/>
            <a:r>
              <a:rPr lang="zh-CN" altLang="en-US" sz="2600"/>
              <a:t>假定</a:t>
            </a:r>
            <a:r>
              <a:rPr lang="en-US" altLang="zh-CN" sz="2600"/>
              <a:t>n=2</a:t>
            </a:r>
            <a:r>
              <a:rPr lang="en-US" altLang="zh-CN" sz="2600" baseline="30000"/>
              <a:t>h</a:t>
            </a:r>
            <a:r>
              <a:rPr lang="en-US" altLang="zh-CN" sz="2600"/>
              <a:t> ,h≥0,</a:t>
            </a:r>
            <a:r>
              <a:rPr lang="zh-CN" altLang="en-US" sz="2600"/>
              <a:t>上式变为</a:t>
            </a:r>
            <a:r>
              <a:rPr lang="en-US" altLang="zh-CN" sz="2600"/>
              <a:t>2</a:t>
            </a:r>
            <a:r>
              <a:rPr lang="en-US" altLang="zh-CN" sz="2600" i="1"/>
              <a:t>T</a:t>
            </a:r>
            <a:r>
              <a:rPr lang="en-US" altLang="zh-CN" sz="2600"/>
              <a:t>(n/2)</a:t>
            </a:r>
            <a:endParaRPr lang="en-US" altLang="zh-CN" sz="2600" baseline="30000"/>
          </a:p>
        </p:txBody>
      </p:sp>
      <p:pic>
        <p:nvPicPr>
          <p:cNvPr id="15364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2916238" y="4941888"/>
            <a:ext cx="3324225" cy="552450"/>
          </a:xfrm>
          <a:noFill/>
        </p:spPr>
      </p:pic>
      <p:pic>
        <p:nvPicPr>
          <p:cNvPr id="15365" name="Picture 11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/>
          <a:srcRect/>
          <a:stretch>
            <a:fillRect/>
          </a:stretch>
        </p:blipFill>
        <p:spPr>
          <a:xfrm>
            <a:off x="611188" y="1844675"/>
            <a:ext cx="8137525" cy="2736850"/>
          </a:xfr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zh-CN" sz="3400"/>
            </a:br>
            <a:r>
              <a:rPr lang="zh-CN" altLang="en-US" b="1"/>
              <a:t>归并排序时间复杂度：递归方程</a:t>
            </a:r>
            <a:endParaRPr lang="en-US" altLang="zh-CN" b="1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3644900"/>
            <a:ext cx="7561262" cy="23749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600" dirty="0"/>
              <a:t>隐含假定</a:t>
            </a:r>
            <a:r>
              <a:rPr lang="en-US" altLang="zh-CN" sz="2600" dirty="0"/>
              <a:t>n=2</a:t>
            </a:r>
            <a:r>
              <a:rPr lang="en-US" altLang="zh-CN" sz="2600" baseline="30000" dirty="0"/>
              <a:t>h</a:t>
            </a:r>
            <a:r>
              <a:rPr lang="en-US" altLang="zh-CN" sz="2600" dirty="0"/>
              <a:t>.</a:t>
            </a:r>
          </a:p>
          <a:p>
            <a:pPr eaLnBrk="1" hangingPunct="1">
              <a:defRPr/>
            </a:pPr>
            <a:r>
              <a:rPr lang="zh-CN" altLang="en-US" sz="2600" dirty="0">
                <a:latin typeface="+mn-ea"/>
              </a:rPr>
              <a:t>以</a:t>
            </a:r>
            <a:r>
              <a:rPr lang="en-US" altLang="zh-CN" sz="2600" dirty="0" err="1">
                <a:latin typeface="+mn-ea"/>
              </a:rPr>
              <a:t>cn</a:t>
            </a:r>
            <a:r>
              <a:rPr lang="zh-CN" altLang="en-US" sz="2600" dirty="0">
                <a:latin typeface="+mn-ea"/>
              </a:rPr>
              <a:t>代替</a:t>
            </a:r>
            <a:r>
              <a:rPr lang="el-GR" altLang="zh-CN" sz="2600" b="1" dirty="0">
                <a:latin typeface="+mn-ea"/>
              </a:rPr>
              <a:t>Θ</a:t>
            </a:r>
            <a:r>
              <a:rPr lang="en-US" altLang="zh-CN" sz="2600" dirty="0">
                <a:latin typeface="+mn-ea"/>
              </a:rPr>
              <a:t>(n),</a:t>
            </a:r>
            <a:r>
              <a:rPr lang="zh-CN" altLang="en-US" sz="2600" dirty="0">
                <a:latin typeface="+mn-ea"/>
              </a:rPr>
              <a:t>不影响渐近分析的结果</a:t>
            </a:r>
            <a:r>
              <a:rPr lang="en-US" altLang="zh-CN" sz="2600" dirty="0">
                <a:latin typeface="+mn-ea"/>
              </a:rPr>
              <a:t>.</a:t>
            </a:r>
          </a:p>
          <a:p>
            <a:pPr eaLnBrk="1" hangingPunct="1">
              <a:defRPr/>
            </a:pPr>
            <a:r>
              <a:rPr lang="en-US" altLang="zh-CN" sz="2600" dirty="0">
                <a:latin typeface="Arial"/>
              </a:rPr>
              <a:t>“</a:t>
            </a:r>
            <a:r>
              <a:rPr lang="en-US" altLang="zh-CN" sz="2600" dirty="0"/>
              <a:t>If n=1</a:t>
            </a:r>
            <a:r>
              <a:rPr lang="en-US" altLang="zh-CN" sz="2600" dirty="0">
                <a:latin typeface="Arial"/>
              </a:rPr>
              <a:t>”</a:t>
            </a:r>
            <a:r>
              <a:rPr lang="en-US" altLang="zh-CN" sz="2600" dirty="0"/>
              <a:t>,</a:t>
            </a:r>
            <a:r>
              <a:rPr lang="zh-CN" altLang="en-US" sz="2600" dirty="0"/>
              <a:t>更一般的是</a:t>
            </a:r>
            <a:r>
              <a:rPr lang="zh-CN" altLang="en-US" sz="2600" dirty="0">
                <a:latin typeface="Arial"/>
              </a:rPr>
              <a:t>“</a:t>
            </a:r>
            <a:r>
              <a:rPr lang="en-US" altLang="zh-CN" sz="2600" dirty="0"/>
              <a:t>if n&lt;n</a:t>
            </a:r>
            <a:r>
              <a:rPr lang="en-US" altLang="zh-CN" sz="2600" baseline="-25000" dirty="0"/>
              <a:t>0</a:t>
            </a:r>
            <a:r>
              <a:rPr lang="en-US" altLang="zh-CN" sz="2600" dirty="0"/>
              <a:t>, </a:t>
            </a:r>
            <a:r>
              <a:rPr lang="en-US" altLang="zh-CN" sz="2600" i="1" dirty="0"/>
              <a:t>T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</a:t>
            </a:r>
            <a:r>
              <a:rPr lang="el-GR" altLang="zh-CN" sz="2600" b="1" dirty="0">
                <a:ea typeface="Dotum" pitchFamily="34" charset="-127"/>
              </a:rPr>
              <a:t>Θ</a:t>
            </a:r>
            <a:r>
              <a:rPr lang="en-US" altLang="zh-CN" sz="2600" dirty="0"/>
              <a:t>(1)</a:t>
            </a:r>
            <a:r>
              <a:rPr lang="en-US" altLang="zh-CN" sz="2600" dirty="0">
                <a:latin typeface="Arial"/>
              </a:rPr>
              <a:t>”</a:t>
            </a:r>
            <a:r>
              <a:rPr lang="zh-CN" altLang="en-US" sz="2600" dirty="0"/>
              <a:t>：指</a:t>
            </a:r>
            <a:r>
              <a:rPr lang="en-US" altLang="zh-CN" sz="2600" dirty="0"/>
              <a:t>:</a:t>
            </a:r>
            <a:r>
              <a:rPr lang="zh-CN" altLang="en-US" sz="2600" dirty="0"/>
              <a:t>可找到足够大常数</a:t>
            </a:r>
            <a:r>
              <a:rPr lang="en-US" altLang="zh-CN" sz="2600" dirty="0"/>
              <a:t>c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,</a:t>
            </a:r>
            <a:r>
              <a:rPr lang="zh-CN" altLang="en-US" sz="2600" dirty="0"/>
              <a:t>使得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z="2600" i="1" dirty="0"/>
              <a:t>                      </a:t>
            </a:r>
            <a:r>
              <a:rPr lang="en-US" altLang="zh-CN" sz="2600" i="1" dirty="0"/>
              <a:t>T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)&lt;c</a:t>
            </a:r>
            <a:r>
              <a:rPr lang="en-US" altLang="zh-CN" sz="2600" baseline="-25000" dirty="0"/>
              <a:t>1</a:t>
            </a:r>
            <a:r>
              <a:rPr lang="en-US" altLang="zh-CN" sz="2600" dirty="0"/>
              <a:t> if n&lt;n</a:t>
            </a:r>
            <a:r>
              <a:rPr lang="en-US" altLang="zh-CN" sz="2600" baseline="-25000" dirty="0"/>
              <a:t>0</a:t>
            </a:r>
            <a:r>
              <a:rPr lang="en-US" altLang="zh-CN" sz="2600" dirty="0"/>
              <a:t>.</a:t>
            </a:r>
          </a:p>
          <a:p>
            <a:pPr eaLnBrk="1" hangingPunct="1">
              <a:defRPr/>
            </a:pPr>
            <a:endParaRPr lang="en-US" altLang="zh-CN" sz="2600" dirty="0"/>
          </a:p>
        </p:txBody>
      </p:sp>
      <p:pic>
        <p:nvPicPr>
          <p:cNvPr id="16388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331913" y="2060575"/>
            <a:ext cx="6119812" cy="1368425"/>
          </a:xfr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8108950" cy="4267200"/>
          </a:xfrm>
        </p:spPr>
        <p:txBody>
          <a:bodyPr/>
          <a:lstStyle/>
          <a:p>
            <a:pPr eaLnBrk="1" hangingPunct="1"/>
            <a:r>
              <a:rPr lang="zh-CN" altLang="en-US" sz="2600"/>
              <a:t>解</a:t>
            </a:r>
            <a:r>
              <a:rPr lang="en-US" altLang="zh-CN" sz="2600" i="1"/>
              <a:t>T</a:t>
            </a:r>
            <a:r>
              <a:rPr lang="en-US" altLang="zh-CN" sz="2600"/>
              <a:t>(</a:t>
            </a:r>
            <a:r>
              <a:rPr lang="en-US" altLang="zh-CN" sz="2600" i="1"/>
              <a:t>n</a:t>
            </a:r>
            <a:r>
              <a:rPr lang="en-US" altLang="zh-CN" sz="2600"/>
              <a:t>) = 2</a:t>
            </a:r>
            <a:r>
              <a:rPr lang="en-US" altLang="zh-CN" sz="2600" i="1"/>
              <a:t>T</a:t>
            </a:r>
            <a:r>
              <a:rPr lang="en-US" altLang="zh-CN" sz="2600"/>
              <a:t>(</a:t>
            </a:r>
            <a:r>
              <a:rPr lang="en-US" altLang="zh-CN" sz="2600" i="1"/>
              <a:t>n</a:t>
            </a:r>
            <a:r>
              <a:rPr lang="en-US" altLang="zh-CN" sz="2600"/>
              <a:t>/2) + </a:t>
            </a:r>
            <a:r>
              <a:rPr lang="en-US" altLang="zh-CN" sz="2600" i="1"/>
              <a:t>cn</a:t>
            </a:r>
            <a:r>
              <a:rPr lang="en-US" altLang="zh-CN" sz="2600"/>
              <a:t>, </a:t>
            </a:r>
            <a:r>
              <a:rPr lang="zh-CN" altLang="en-US" sz="2600"/>
              <a:t>其中 </a:t>
            </a:r>
            <a:r>
              <a:rPr lang="en-US" altLang="zh-CN" sz="2600" i="1"/>
              <a:t>c </a:t>
            </a:r>
            <a:r>
              <a:rPr lang="en-US" altLang="zh-CN" sz="2600"/>
              <a:t>&gt; 0 </a:t>
            </a:r>
            <a:r>
              <a:rPr lang="zh-CN" altLang="en-US" sz="2600"/>
              <a:t>为常数</a:t>
            </a:r>
            <a:r>
              <a:rPr lang="en-US" altLang="zh-CN" sz="2600"/>
              <a:t>.</a:t>
            </a:r>
          </a:p>
          <a:p>
            <a:pPr eaLnBrk="1" hangingPunct="1"/>
            <a:r>
              <a:rPr lang="zh-CN" altLang="en-US" sz="2600"/>
              <a:t>递归展开到</a:t>
            </a:r>
            <a:r>
              <a:rPr lang="en-US" altLang="zh-CN" sz="2600" i="1"/>
              <a:t>T</a:t>
            </a:r>
            <a:r>
              <a:rPr lang="en-US" altLang="zh-CN" sz="2600"/>
              <a:t>(n</a:t>
            </a:r>
            <a:r>
              <a:rPr lang="en-US" altLang="zh-CN" sz="2600" baseline="-25000"/>
              <a:t>0</a:t>
            </a:r>
            <a:r>
              <a:rPr lang="en-US" altLang="zh-CN" sz="2600"/>
              <a:t>),</a:t>
            </a:r>
            <a:r>
              <a:rPr lang="zh-CN" altLang="en-US" sz="2600"/>
              <a:t>然后再从前</a:t>
            </a:r>
            <a:r>
              <a:rPr lang="en-US" altLang="zh-CN" sz="2600"/>
              <a:t>n</a:t>
            </a:r>
            <a:r>
              <a:rPr lang="en-US" altLang="zh-CN" sz="2600" baseline="-25000"/>
              <a:t>0</a:t>
            </a:r>
            <a:r>
              <a:rPr lang="zh-CN" altLang="en-US" sz="2600"/>
              <a:t>个</a:t>
            </a:r>
            <a:r>
              <a:rPr lang="en-US" altLang="zh-CN" sz="2600"/>
              <a:t>T(n)</a:t>
            </a:r>
            <a:r>
              <a:rPr lang="zh-CN" altLang="en-US" sz="2600"/>
              <a:t>的值确定渐近分析的常数</a:t>
            </a:r>
            <a:r>
              <a:rPr lang="en-US" altLang="zh-CN" sz="2600"/>
              <a:t>.</a:t>
            </a:r>
          </a:p>
          <a:p>
            <a:pPr eaLnBrk="1" hangingPunct="1"/>
            <a:r>
              <a:rPr lang="zh-CN" altLang="en-US" sz="2600"/>
              <a:t>展开到</a:t>
            </a:r>
            <a:r>
              <a:rPr lang="en-US" altLang="zh-CN" sz="2600" i="1"/>
              <a:t>T</a:t>
            </a:r>
            <a:r>
              <a:rPr lang="en-US" altLang="zh-CN" sz="2600"/>
              <a:t>(n</a:t>
            </a:r>
            <a:r>
              <a:rPr lang="en-US" altLang="zh-CN" sz="2600" baseline="-25000"/>
              <a:t>0</a:t>
            </a:r>
            <a:r>
              <a:rPr lang="en-US" altLang="zh-CN" sz="2600"/>
              <a:t>),</a:t>
            </a:r>
            <a:r>
              <a:rPr lang="zh-CN" altLang="en-US" sz="2600"/>
              <a:t>有时会导致推导的麻烦，所以展开到</a:t>
            </a:r>
            <a:r>
              <a:rPr lang="en-US" altLang="zh-CN" sz="2600"/>
              <a:t>T(1).</a:t>
            </a:r>
          </a:p>
        </p:txBody>
      </p:sp>
      <p:pic>
        <p:nvPicPr>
          <p:cNvPr id="17411" name="Picture 7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1835150" y="3983038"/>
            <a:ext cx="5616575" cy="2089150"/>
          </a:xfrm>
          <a:noFill/>
        </p:spPr>
      </p:pic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zh-CN" sz="3400"/>
            </a:br>
            <a:r>
              <a:rPr lang="zh-CN" altLang="en-US" b="1"/>
              <a:t>递归树</a:t>
            </a:r>
            <a:endParaRPr lang="en-US" altLang="zh-CN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递归树</a:t>
            </a:r>
            <a:endParaRPr lang="en-US" altLang="zh-CN" b="1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7966075" cy="4267200"/>
          </a:xfrm>
        </p:spPr>
        <p:txBody>
          <a:bodyPr/>
          <a:lstStyle/>
          <a:p>
            <a:pPr eaLnBrk="1" hangingPunct="1"/>
            <a:r>
              <a:rPr lang="zh-CN" altLang="en-US" sz="2600"/>
              <a:t>解</a:t>
            </a:r>
            <a:r>
              <a:rPr lang="en-US" altLang="zh-CN" sz="2600" i="1"/>
              <a:t>T</a:t>
            </a:r>
            <a:r>
              <a:rPr lang="en-US" altLang="zh-CN" sz="2600"/>
              <a:t>(</a:t>
            </a:r>
            <a:r>
              <a:rPr lang="en-US" altLang="zh-CN" sz="2600" i="1"/>
              <a:t>n</a:t>
            </a:r>
            <a:r>
              <a:rPr lang="en-US" altLang="zh-CN" sz="2600"/>
              <a:t>) = 2</a:t>
            </a:r>
            <a:r>
              <a:rPr lang="en-US" altLang="zh-CN" sz="2600" i="1"/>
              <a:t>T</a:t>
            </a:r>
            <a:r>
              <a:rPr lang="en-US" altLang="zh-CN" sz="2600"/>
              <a:t>(</a:t>
            </a:r>
            <a:r>
              <a:rPr lang="en-US" altLang="zh-CN" sz="2600" i="1"/>
              <a:t>n</a:t>
            </a:r>
            <a:r>
              <a:rPr lang="en-US" altLang="zh-CN" sz="2600"/>
              <a:t>/2) + </a:t>
            </a:r>
            <a:r>
              <a:rPr lang="en-US" altLang="zh-CN" sz="2600" i="1"/>
              <a:t>cn</a:t>
            </a:r>
            <a:r>
              <a:rPr lang="en-US" altLang="zh-CN" sz="2600"/>
              <a:t>, </a:t>
            </a:r>
            <a:r>
              <a:rPr lang="zh-CN" altLang="en-US" sz="2600"/>
              <a:t>其中</a:t>
            </a:r>
            <a:r>
              <a:rPr lang="en-US" altLang="zh-CN" sz="2600"/>
              <a:t> </a:t>
            </a:r>
            <a:r>
              <a:rPr lang="en-US" altLang="zh-CN" sz="2600" i="1"/>
              <a:t>c </a:t>
            </a:r>
            <a:r>
              <a:rPr lang="en-US" altLang="zh-CN" sz="2600"/>
              <a:t>&gt; 0 </a:t>
            </a:r>
            <a:r>
              <a:rPr lang="zh-CN" altLang="en-US" sz="2600"/>
              <a:t>是常数</a:t>
            </a:r>
            <a:r>
              <a:rPr lang="en-US" altLang="zh-CN" sz="2600"/>
              <a:t>.</a:t>
            </a:r>
          </a:p>
        </p:txBody>
      </p:sp>
      <p:pic>
        <p:nvPicPr>
          <p:cNvPr id="18436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684213" y="2852738"/>
            <a:ext cx="7632700" cy="2376487"/>
          </a:xfr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递归树</a:t>
            </a:r>
            <a:endParaRPr lang="en-US" altLang="zh-CN" b="1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8108950" cy="4267200"/>
          </a:xfrm>
        </p:spPr>
        <p:txBody>
          <a:bodyPr/>
          <a:lstStyle/>
          <a:p>
            <a:pPr eaLnBrk="1" hangingPunct="1"/>
            <a:r>
              <a:rPr lang="zh-CN" altLang="en-US" sz="2600"/>
              <a:t>解</a:t>
            </a:r>
            <a:r>
              <a:rPr lang="en-US" altLang="zh-CN" sz="2600"/>
              <a:t> </a:t>
            </a:r>
            <a:r>
              <a:rPr lang="en-US" altLang="zh-CN" sz="2600" i="1"/>
              <a:t>T</a:t>
            </a:r>
            <a:r>
              <a:rPr lang="en-US" altLang="zh-CN" sz="2600"/>
              <a:t>(</a:t>
            </a:r>
            <a:r>
              <a:rPr lang="en-US" altLang="zh-CN" sz="2600" i="1"/>
              <a:t>n</a:t>
            </a:r>
            <a:r>
              <a:rPr lang="en-US" altLang="zh-CN" sz="2600"/>
              <a:t>) = 2</a:t>
            </a:r>
            <a:r>
              <a:rPr lang="en-US" altLang="zh-CN" sz="2600" i="1"/>
              <a:t>T</a:t>
            </a:r>
            <a:r>
              <a:rPr lang="en-US" altLang="zh-CN" sz="2600"/>
              <a:t>(</a:t>
            </a:r>
            <a:r>
              <a:rPr lang="en-US" altLang="zh-CN" sz="2600" i="1"/>
              <a:t>n</a:t>
            </a:r>
            <a:r>
              <a:rPr lang="en-US" altLang="zh-CN" sz="2600"/>
              <a:t>/2) + </a:t>
            </a:r>
            <a:r>
              <a:rPr lang="en-US" altLang="zh-CN" sz="2600" i="1"/>
              <a:t>cn</a:t>
            </a:r>
            <a:r>
              <a:rPr lang="en-US" altLang="zh-CN" sz="2600"/>
              <a:t>, </a:t>
            </a:r>
            <a:r>
              <a:rPr lang="zh-CN" altLang="en-US" sz="2600"/>
              <a:t>其中</a:t>
            </a:r>
            <a:r>
              <a:rPr lang="en-US" altLang="zh-CN" sz="2600"/>
              <a:t> </a:t>
            </a:r>
            <a:r>
              <a:rPr lang="en-US" altLang="zh-CN" sz="2600" i="1"/>
              <a:t>c </a:t>
            </a:r>
            <a:r>
              <a:rPr lang="en-US" altLang="zh-CN" sz="2600"/>
              <a:t>&gt; 0 </a:t>
            </a:r>
            <a:r>
              <a:rPr lang="zh-CN" altLang="en-US" sz="2600"/>
              <a:t>是常数</a:t>
            </a:r>
            <a:endParaRPr lang="en-US" altLang="zh-CN" sz="2600"/>
          </a:p>
        </p:txBody>
      </p:sp>
      <p:pic>
        <p:nvPicPr>
          <p:cNvPr id="19460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755650" y="2565400"/>
            <a:ext cx="7777163" cy="3527425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递归树</a:t>
            </a:r>
            <a:endParaRPr lang="en-US" altLang="zh-CN" b="1"/>
          </a:p>
        </p:txBody>
      </p:sp>
      <p:pic>
        <p:nvPicPr>
          <p:cNvPr id="2048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66738" y="2011363"/>
            <a:ext cx="8001000" cy="3749675"/>
          </a:xfr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递归树等价于迭代展开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600"/>
              <a:t>T(n)=4T(n/2)+n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=4(4T(n/2</a:t>
            </a:r>
            <a:r>
              <a:rPr lang="en-US" altLang="zh-CN" sz="2600" baseline="30000"/>
              <a:t>2</a:t>
            </a:r>
            <a:r>
              <a:rPr lang="en-US" altLang="zh-CN" sz="2600"/>
              <a:t>)+n/2)+n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=4</a:t>
            </a:r>
            <a:r>
              <a:rPr lang="en-US" altLang="zh-CN" sz="2600" baseline="30000"/>
              <a:t>2</a:t>
            </a:r>
            <a:r>
              <a:rPr lang="en-US" altLang="zh-CN" sz="2600"/>
              <a:t>T(n/2</a:t>
            </a:r>
            <a:r>
              <a:rPr lang="en-US" altLang="zh-CN" sz="2600" baseline="30000"/>
              <a:t>2</a:t>
            </a:r>
            <a:r>
              <a:rPr lang="en-US" altLang="zh-CN" sz="2600"/>
              <a:t>)+n+2n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=4</a:t>
            </a:r>
            <a:r>
              <a:rPr lang="en-US" altLang="zh-CN" sz="2600" baseline="30000"/>
              <a:t>3</a:t>
            </a:r>
            <a:r>
              <a:rPr lang="en-US" altLang="zh-CN" sz="2600"/>
              <a:t>T(n/2</a:t>
            </a:r>
            <a:r>
              <a:rPr lang="en-US" altLang="zh-CN" sz="2600" baseline="30000"/>
              <a:t>3</a:t>
            </a:r>
            <a:r>
              <a:rPr lang="en-US" altLang="zh-CN" sz="2600"/>
              <a:t>)+n+2n+2</a:t>
            </a:r>
            <a:r>
              <a:rPr lang="en-US" altLang="zh-CN" sz="2600" baseline="30000"/>
              <a:t>2</a:t>
            </a:r>
            <a:r>
              <a:rPr lang="en-US" altLang="zh-CN" sz="2600"/>
              <a:t>n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=4</a:t>
            </a:r>
            <a:r>
              <a:rPr lang="en-US" altLang="zh-CN" sz="2600" baseline="30000"/>
              <a:t>h</a:t>
            </a:r>
            <a:r>
              <a:rPr lang="en-US" altLang="zh-CN" sz="2600"/>
              <a:t>T(n/2</a:t>
            </a:r>
            <a:r>
              <a:rPr lang="en-US" altLang="zh-CN" sz="2600" baseline="30000"/>
              <a:t>h</a:t>
            </a:r>
            <a:r>
              <a:rPr lang="en-US" altLang="zh-CN" sz="2600"/>
              <a:t>)+n(1+2+</a:t>
            </a:r>
            <a:r>
              <a:rPr lang="en-US" altLang="zh-CN" sz="2600">
                <a:latin typeface="宋体" pitchFamily="2" charset="-122"/>
              </a:rPr>
              <a:t>┅+</a:t>
            </a:r>
            <a:r>
              <a:rPr lang="en-US" altLang="zh-CN" sz="2600">
                <a:latin typeface="Tahoma" pitchFamily="34" charset="0"/>
              </a:rPr>
              <a:t>2</a:t>
            </a:r>
            <a:r>
              <a:rPr lang="en-US" altLang="zh-CN" sz="2600" baseline="30000">
                <a:latin typeface="Tahoma" pitchFamily="34" charset="0"/>
              </a:rPr>
              <a:t>h-1</a:t>
            </a:r>
            <a:r>
              <a:rPr lang="en-US" altLang="zh-CN" sz="2600">
                <a:latin typeface="Tahoma" pitchFamily="34" charset="0"/>
              </a:rPr>
              <a:t>)</a:t>
            </a:r>
            <a:r>
              <a:rPr lang="en-US" altLang="zh-CN" sz="2600"/>
              <a:t> 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=n</a:t>
            </a:r>
            <a:r>
              <a:rPr lang="en-US" altLang="zh-CN" sz="2600" baseline="30000"/>
              <a:t>2</a:t>
            </a:r>
            <a:r>
              <a:rPr lang="en-US" altLang="zh-CN" sz="2600"/>
              <a:t>T(1)+n(2</a:t>
            </a:r>
            <a:r>
              <a:rPr lang="en-US" altLang="zh-CN" sz="2600" baseline="30000"/>
              <a:t>h</a:t>
            </a:r>
            <a:r>
              <a:rPr lang="en-US" altLang="zh-CN" sz="2600"/>
              <a:t>-1)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=</a:t>
            </a:r>
            <a:r>
              <a:rPr lang="el-GR" altLang="zh-CN" sz="2600">
                <a:latin typeface="Tahoma" pitchFamily="34" charset="0"/>
                <a:ea typeface="Dotum" pitchFamily="34" charset="-127"/>
              </a:rPr>
              <a:t>Θ</a:t>
            </a:r>
            <a:r>
              <a:rPr lang="en-US" altLang="zh-CN" sz="2600">
                <a:latin typeface="Tahoma" pitchFamily="34" charset="0"/>
                <a:ea typeface="Dotum" pitchFamily="34" charset="-127"/>
              </a:rPr>
              <a:t>(n</a:t>
            </a:r>
            <a:r>
              <a:rPr lang="en-US" altLang="zh-CN" sz="2600" baseline="30000">
                <a:latin typeface="Tahoma" pitchFamily="34" charset="0"/>
                <a:ea typeface="Dotum" pitchFamily="34" charset="-127"/>
              </a:rPr>
              <a:t>2</a:t>
            </a:r>
            <a:r>
              <a:rPr lang="en-US" altLang="zh-CN" sz="2600">
                <a:latin typeface="Tahoma" pitchFamily="34" charset="0"/>
                <a:ea typeface="Dotum" pitchFamily="34" charset="-127"/>
              </a:rPr>
              <a:t>)</a:t>
            </a:r>
            <a:r>
              <a:rPr lang="en-US" altLang="zh-CN" sz="2600"/>
              <a:t> </a:t>
            </a:r>
          </a:p>
          <a:p>
            <a:pPr eaLnBrk="1" hangingPunct="1"/>
            <a:r>
              <a:rPr lang="zh-CN" altLang="en-US" sz="2600" b="1"/>
              <a:t>很多递归式用递归树解不出来</a:t>
            </a:r>
            <a:r>
              <a:rPr lang="en-US" altLang="zh-CN" sz="2600" b="1"/>
              <a:t>,</a:t>
            </a:r>
            <a:r>
              <a:rPr lang="zh-CN" altLang="en-US" sz="2600" b="1"/>
              <a:t>但递归树能提供直觉</a:t>
            </a:r>
            <a:r>
              <a:rPr lang="en-US" altLang="zh-CN" sz="2600" b="1"/>
              <a:t>,</a:t>
            </a:r>
            <a:r>
              <a:rPr lang="zh-CN" altLang="en-US" sz="2600" b="1"/>
              <a:t>帮助我们用归纳法求解</a:t>
            </a:r>
            <a:r>
              <a:rPr lang="en-US" altLang="zh-CN" sz="2600"/>
              <a:t>(Guess </a:t>
            </a:r>
            <a:r>
              <a:rPr lang="zh-CN" altLang="en-US" sz="2600" b="1"/>
              <a:t>归纳假设</a:t>
            </a:r>
            <a:r>
              <a:rPr lang="en-US" altLang="zh-CN" sz="2600"/>
              <a:t>)</a:t>
            </a:r>
            <a:r>
              <a:rPr lang="en-US" altLang="zh-CN" sz="2600" b="1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结论</a:t>
            </a:r>
            <a:endParaRPr lang="en-US" altLang="zh-CN" b="1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l-GR" altLang="zh-CN" b="1">
                <a:latin typeface="Times New Roman" pitchFamily="18" charset="0"/>
              </a:rPr>
              <a:t>Θ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 b="1" i="1">
                <a:latin typeface="Times New Roman" pitchFamily="18" charset="0"/>
              </a:rPr>
              <a:t>n </a:t>
            </a:r>
            <a:r>
              <a:rPr lang="en-US" altLang="zh-CN" b="1">
                <a:latin typeface="Times New Roman" pitchFamily="18" charset="0"/>
              </a:rPr>
              <a:t>lg </a:t>
            </a:r>
            <a:r>
              <a:rPr lang="en-US" altLang="zh-CN" b="1" i="1">
                <a:latin typeface="Times New Roman" pitchFamily="18" charset="0"/>
              </a:rPr>
              <a:t>n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比</a:t>
            </a:r>
            <a:r>
              <a:rPr lang="en-US" altLang="zh-CN" b="1">
                <a:latin typeface="Times New Roman" pitchFamily="18" charset="0"/>
              </a:rPr>
              <a:t>Θ(</a:t>
            </a:r>
            <a:r>
              <a:rPr lang="en-US" altLang="zh-CN" b="1" i="1">
                <a:latin typeface="Times New Roman" pitchFamily="18" charset="0"/>
              </a:rPr>
              <a:t>n</a:t>
            </a:r>
            <a:r>
              <a:rPr lang="en-US" altLang="zh-CN" b="1" baseline="30000">
                <a:latin typeface="Times New Roman" pitchFamily="18" charset="0"/>
              </a:rPr>
              <a:t>2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增长的慢</a:t>
            </a:r>
            <a:r>
              <a:rPr lang="en-US" altLang="zh-CN">
                <a:latin typeface="Times New Roman" pitchFamily="18" charset="0"/>
              </a:rPr>
              <a:t>.</a:t>
            </a:r>
          </a:p>
          <a:p>
            <a:pPr eaLnBrk="1" hangingPunct="1"/>
            <a:r>
              <a:rPr lang="en-US" altLang="zh-CN">
                <a:latin typeface="Times New Roman" pitchFamily="18" charset="0"/>
              </a:rPr>
              <a:t>merge sort </a:t>
            </a:r>
            <a:r>
              <a:rPr lang="zh-CN" altLang="en-US" b="1">
                <a:latin typeface="Times New Roman" pitchFamily="18" charset="0"/>
              </a:rPr>
              <a:t>渐近</a:t>
            </a:r>
            <a:r>
              <a:rPr lang="en-US" altLang="zh-CN" b="1">
                <a:latin typeface="Times New Roman" pitchFamily="18" charset="0"/>
              </a:rPr>
              <a:t>(</a:t>
            </a:r>
            <a:r>
              <a:rPr lang="en-US" altLang="zh-CN">
                <a:latin typeface="Times New Roman" pitchFamily="18" charset="0"/>
              </a:rPr>
              <a:t>asymptotically</a:t>
            </a:r>
            <a:r>
              <a:rPr lang="en-US" altLang="zh-CN" b="1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优于插入排序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 eaLnBrk="1" hangingPunct="1"/>
            <a:r>
              <a:rPr lang="zh-CN" altLang="en-US" b="1">
                <a:latin typeface="Times New Roman" pitchFamily="18" charset="0"/>
              </a:rPr>
              <a:t>实际上</a:t>
            </a:r>
            <a:r>
              <a:rPr lang="en-US" altLang="zh-CN">
                <a:latin typeface="Times New Roman" pitchFamily="18" charset="0"/>
              </a:rPr>
              <a:t>, merge sort </a:t>
            </a:r>
            <a:r>
              <a:rPr lang="zh-CN" altLang="en-US" b="1">
                <a:latin typeface="Times New Roman" pitchFamily="18" charset="0"/>
              </a:rPr>
              <a:t>优于</a:t>
            </a:r>
            <a:r>
              <a:rPr lang="zh-CN" altLang="en-US">
                <a:latin typeface="Times New Roman" pitchFamily="18" charset="0"/>
              </a:rPr>
              <a:t> </a:t>
            </a:r>
            <a:r>
              <a:rPr lang="en-US" altLang="zh-CN">
                <a:latin typeface="Times New Roman" pitchFamily="18" charset="0"/>
              </a:rPr>
              <a:t>insertion sort </a:t>
            </a:r>
            <a:r>
              <a:rPr lang="zh-CN" altLang="en-US" b="1">
                <a:latin typeface="Times New Roman" pitchFamily="18" charset="0"/>
              </a:rPr>
              <a:t>仅当</a:t>
            </a:r>
            <a:r>
              <a:rPr lang="zh-CN" altLang="en-US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n </a:t>
            </a:r>
            <a:r>
              <a:rPr lang="en-US" altLang="zh-CN">
                <a:latin typeface="Times New Roman" pitchFamily="18" charset="0"/>
              </a:rPr>
              <a:t>&gt; 30 or so.</a:t>
            </a:r>
          </a:p>
          <a:p>
            <a:pPr eaLnBrk="1" hangingPunct="1"/>
            <a:r>
              <a:rPr lang="en-US" altLang="zh-CN">
                <a:latin typeface="Times New Roman" pitchFamily="18" charset="0"/>
              </a:rPr>
              <a:t>1000*nlogn</a:t>
            </a:r>
            <a:r>
              <a:rPr lang="zh-CN" altLang="en-US" b="1">
                <a:latin typeface="Times New Roman" pitchFamily="18" charset="0"/>
              </a:rPr>
              <a:t>算法当</a:t>
            </a:r>
            <a:r>
              <a:rPr lang="en-US" altLang="zh-CN">
                <a:latin typeface="Times New Roman" pitchFamily="18" charset="0"/>
              </a:rPr>
              <a:t>n</a:t>
            </a:r>
            <a:r>
              <a:rPr lang="zh-CN" altLang="en-US" b="1">
                <a:latin typeface="Times New Roman" pitchFamily="18" charset="0"/>
              </a:rPr>
              <a:t>比较小时未必比</a:t>
            </a:r>
            <a:r>
              <a:rPr lang="en-US" altLang="zh-CN">
                <a:latin typeface="Times New Roman" pitchFamily="18" charset="0"/>
              </a:rPr>
              <a:t>n</a:t>
            </a:r>
            <a:r>
              <a:rPr lang="en-US" altLang="zh-CN" baseline="30000">
                <a:latin typeface="Times New Roman" pitchFamily="18" charset="0"/>
              </a:rPr>
              <a:t>2</a:t>
            </a:r>
            <a:r>
              <a:rPr lang="zh-CN" altLang="en-US" b="1">
                <a:latin typeface="Times New Roman" pitchFamily="18" charset="0"/>
              </a:rPr>
              <a:t>算法要快</a:t>
            </a:r>
            <a:r>
              <a:rPr lang="en-US" altLang="zh-CN">
                <a:latin typeface="Times New Roman" pitchFamily="18" charset="0"/>
              </a:rPr>
              <a:t>. n</a:t>
            </a:r>
            <a:r>
              <a:rPr lang="zh-CN" altLang="en-US" b="1">
                <a:latin typeface="Times New Roman" pitchFamily="18" charset="0"/>
              </a:rPr>
              <a:t>足够大时前者才能看出优势</a:t>
            </a:r>
            <a:r>
              <a:rPr lang="en-US" altLang="zh-CN" b="1">
                <a:latin typeface="Times New Roman" pitchFamily="18" charset="0"/>
              </a:rPr>
              <a:t>.</a:t>
            </a:r>
          </a:p>
          <a:p>
            <a:pPr eaLnBrk="1" hangingPunct="1"/>
            <a:endParaRPr lang="en-US" altLang="zh-CN" b="1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当</a:t>
            </a:r>
            <a:r>
              <a:rPr lang="en-US" altLang="zh-CN"/>
              <a:t>n≠2</a:t>
            </a:r>
            <a:r>
              <a:rPr lang="en-US" altLang="zh-CN" baseline="30000"/>
              <a:t>h</a:t>
            </a:r>
            <a:endParaRPr lang="en-US" altLang="zh-CN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2</a:t>
            </a:r>
            <a:r>
              <a:rPr lang="en-US" altLang="zh-CN" baseline="30000"/>
              <a:t>h</a:t>
            </a:r>
            <a:r>
              <a:rPr lang="en-US" altLang="zh-CN"/>
              <a:t>≤n&lt;2</a:t>
            </a:r>
            <a:r>
              <a:rPr lang="en-US" altLang="zh-CN" baseline="30000"/>
              <a:t>h+1</a:t>
            </a:r>
            <a:r>
              <a:rPr lang="en-US" altLang="zh-CN"/>
              <a:t>=&gt;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          n=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b="1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/>
              <a:t>2</a:t>
            </a:r>
            <a:r>
              <a:rPr lang="en-US" altLang="zh-CN" baseline="30000"/>
              <a:t>h</a:t>
            </a:r>
            <a:r>
              <a:rPr lang="en-US" altLang="zh-CN"/>
              <a:t>), h=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b="1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>
                <a:latin typeface="Tahoma" pitchFamily="34" charset="0"/>
              </a:rPr>
              <a:t>logn)</a:t>
            </a:r>
            <a:endParaRPr lang="el-GR" altLang="en-US">
              <a:latin typeface="Dotum" pitchFamily="34" charset="-127"/>
              <a:ea typeface="Dotum" pitchFamily="34" charset="-127"/>
            </a:endParaRPr>
          </a:p>
          <a:p>
            <a:pPr eaLnBrk="1" hangingPunct="1"/>
            <a:r>
              <a:rPr lang="en-US" altLang="zh-CN"/>
              <a:t>T(2</a:t>
            </a:r>
            <a:r>
              <a:rPr lang="en-US" altLang="zh-CN" baseline="30000"/>
              <a:t>h</a:t>
            </a:r>
            <a:r>
              <a:rPr lang="en-US" altLang="zh-CN"/>
              <a:t>)≤ T(n) ≤ T(2</a:t>
            </a:r>
            <a:r>
              <a:rPr lang="en-US" altLang="zh-CN" baseline="30000"/>
              <a:t>h+1</a:t>
            </a:r>
            <a:r>
              <a:rPr lang="en-US" altLang="zh-CN"/>
              <a:t>).</a:t>
            </a:r>
          </a:p>
          <a:p>
            <a:pPr eaLnBrk="1" hangingPunct="1"/>
            <a:r>
              <a:rPr lang="zh-CN" altLang="en-US" b="1"/>
              <a:t>所以</a:t>
            </a:r>
            <a:r>
              <a:rPr lang="en-US" altLang="zh-CN"/>
              <a:t>,</a:t>
            </a:r>
            <a:r>
              <a:rPr lang="el-GR" altLang="zh-CN" b="1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(h2</a:t>
            </a:r>
            <a:r>
              <a:rPr lang="en-US" altLang="zh-CN" baseline="30000">
                <a:ea typeface="Dotum" pitchFamily="34" charset="-127"/>
              </a:rPr>
              <a:t>h</a:t>
            </a:r>
            <a:r>
              <a:rPr lang="en-US" altLang="zh-CN">
                <a:ea typeface="Dotum" pitchFamily="34" charset="-127"/>
              </a:rPr>
              <a:t>)</a:t>
            </a:r>
            <a:r>
              <a:rPr lang="en-US" altLang="zh-CN"/>
              <a:t>≤T(n)≤</a:t>
            </a:r>
            <a:r>
              <a:rPr lang="el-GR" altLang="zh-CN" b="1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((h+1)2</a:t>
            </a:r>
            <a:r>
              <a:rPr lang="en-US" altLang="zh-CN" baseline="30000">
                <a:ea typeface="Dotum" pitchFamily="34" charset="-127"/>
              </a:rPr>
              <a:t>h+1</a:t>
            </a:r>
            <a:r>
              <a:rPr lang="en-US" altLang="zh-CN">
                <a:ea typeface="Dotum" pitchFamily="34" charset="-127"/>
              </a:rPr>
              <a:t>)</a:t>
            </a:r>
          </a:p>
          <a:p>
            <a:pPr eaLnBrk="1" hangingPunct="1"/>
            <a:r>
              <a:rPr lang="el-GR" altLang="zh-CN" b="1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((h+1)2</a:t>
            </a:r>
            <a:r>
              <a:rPr lang="en-US" altLang="zh-CN" baseline="30000">
                <a:ea typeface="Dotum" pitchFamily="34" charset="-127"/>
              </a:rPr>
              <a:t>h+1</a:t>
            </a:r>
            <a:r>
              <a:rPr lang="en-US" altLang="zh-CN">
                <a:ea typeface="Dotum" pitchFamily="34" charset="-127"/>
              </a:rPr>
              <a:t>)=</a:t>
            </a:r>
            <a:r>
              <a:rPr lang="el-GR" altLang="zh-CN" b="1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(h2</a:t>
            </a:r>
            <a:r>
              <a:rPr lang="en-US" altLang="zh-CN" baseline="30000">
                <a:ea typeface="Dotum" pitchFamily="34" charset="-127"/>
              </a:rPr>
              <a:t>h+1</a:t>
            </a:r>
            <a:r>
              <a:rPr lang="en-US" altLang="zh-CN">
                <a:ea typeface="Dotum" pitchFamily="34" charset="-127"/>
              </a:rPr>
              <a:t>+2</a:t>
            </a:r>
            <a:r>
              <a:rPr lang="en-US" altLang="zh-CN" baseline="30000">
                <a:ea typeface="Dotum" pitchFamily="34" charset="-127"/>
              </a:rPr>
              <a:t>h+1</a:t>
            </a:r>
            <a:r>
              <a:rPr lang="en-US" altLang="zh-CN">
                <a:ea typeface="Dotum" pitchFamily="34" charset="-127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ea typeface="Dotum" pitchFamily="34" charset="-127"/>
              </a:rPr>
              <a:t>                       =</a:t>
            </a:r>
            <a:r>
              <a:rPr lang="el-GR" altLang="zh-CN" b="1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(h2</a:t>
            </a:r>
            <a:r>
              <a:rPr lang="en-US" altLang="zh-CN" baseline="30000">
                <a:ea typeface="Dotum" pitchFamily="34" charset="-127"/>
              </a:rPr>
              <a:t>h+1</a:t>
            </a:r>
            <a:r>
              <a:rPr lang="en-US" altLang="zh-CN">
                <a:ea typeface="Dotum" pitchFamily="34" charset="-127"/>
              </a:rPr>
              <a:t>)=</a:t>
            </a:r>
            <a:r>
              <a:rPr lang="el-GR" altLang="zh-CN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(h2</a:t>
            </a:r>
            <a:r>
              <a:rPr lang="en-US" altLang="zh-CN" baseline="30000">
                <a:ea typeface="Dotum" pitchFamily="34" charset="-127"/>
              </a:rPr>
              <a:t>h</a:t>
            </a:r>
            <a:r>
              <a:rPr lang="en-US" altLang="zh-CN">
                <a:ea typeface="Dotum" pitchFamily="34" charset="-127"/>
              </a:rPr>
              <a:t>) </a:t>
            </a:r>
          </a:p>
          <a:p>
            <a:pPr eaLnBrk="1" hangingPunct="1"/>
            <a:r>
              <a:rPr lang="zh-CN" altLang="en-US" b="1"/>
              <a:t>所以</a:t>
            </a:r>
            <a:r>
              <a:rPr lang="en-US" altLang="zh-CN">
                <a:ea typeface="Dotum" pitchFamily="34" charset="-127"/>
              </a:rPr>
              <a:t>T(n)=</a:t>
            </a:r>
            <a:r>
              <a:rPr lang="el-GR" altLang="zh-CN" b="1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(h2</a:t>
            </a:r>
            <a:r>
              <a:rPr lang="en-US" altLang="zh-CN" baseline="30000">
                <a:ea typeface="Dotum" pitchFamily="34" charset="-127"/>
              </a:rPr>
              <a:t>h</a:t>
            </a:r>
            <a:r>
              <a:rPr lang="en-US" altLang="zh-CN">
                <a:ea typeface="Dotum" pitchFamily="34" charset="-127"/>
              </a:rPr>
              <a:t>)=</a:t>
            </a:r>
            <a:r>
              <a:rPr lang="el-GR" altLang="zh-CN" b="1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(nlogn)</a:t>
            </a:r>
            <a:endParaRPr lang="en-US" altLang="zh-CN" b="1">
              <a:latin typeface="Tahoma" pitchFamily="34" charset="0"/>
            </a:endParaRPr>
          </a:p>
          <a:p>
            <a:pPr eaLnBrk="1" hangingPunct="1"/>
            <a:endParaRPr lang="zh-CN" altLang="el-G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较一般的递归式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00213"/>
            <a:ext cx="8001000" cy="4267200"/>
          </a:xfrm>
        </p:spPr>
        <p:txBody>
          <a:bodyPr/>
          <a:lstStyle/>
          <a:p>
            <a:pPr eaLnBrk="1" hangingPunct="1"/>
            <a:r>
              <a:rPr lang="zh-CN" altLang="en-US" sz="2600" b="1"/>
              <a:t>较一般的递归</a:t>
            </a:r>
            <a:r>
              <a:rPr lang="en-US" altLang="zh-CN" sz="2600"/>
              <a:t>:T(n)=aT(n/b)+cn, a,b</a:t>
            </a:r>
            <a:r>
              <a:rPr lang="zh-CN" altLang="en-US" sz="2600"/>
              <a:t>是大于</a:t>
            </a:r>
            <a:r>
              <a:rPr lang="en-US" altLang="zh-CN" sz="2600"/>
              <a:t>1</a:t>
            </a:r>
            <a:r>
              <a:rPr lang="zh-CN" altLang="en-US" sz="2600" b="1"/>
              <a:t>的整数</a:t>
            </a:r>
            <a:r>
              <a:rPr lang="en-US" altLang="zh-CN" sz="2600"/>
              <a:t>,</a:t>
            </a:r>
            <a:r>
              <a:rPr lang="zh-CN" altLang="en-US" sz="2600" b="1"/>
              <a:t>递归树方法仍可使用</a:t>
            </a:r>
            <a:r>
              <a:rPr lang="en-US" altLang="zh-CN" sz="2600"/>
              <a:t>.</a:t>
            </a:r>
          </a:p>
          <a:p>
            <a:pPr eaLnBrk="1" hangingPunct="1"/>
            <a:r>
              <a:rPr lang="zh-CN" altLang="en-US" sz="2600" b="1"/>
              <a:t>首先考虑</a:t>
            </a:r>
            <a:r>
              <a:rPr lang="en-US" altLang="zh-CN" sz="2600"/>
              <a:t>n=b</a:t>
            </a:r>
            <a:r>
              <a:rPr lang="en-US" altLang="zh-CN" sz="2600" baseline="30000"/>
              <a:t>h</a:t>
            </a:r>
            <a:r>
              <a:rPr lang="zh-CN" altLang="en-US" sz="2600" b="1"/>
              <a:t>情形</a:t>
            </a:r>
            <a:r>
              <a:rPr lang="en-US" altLang="zh-CN" sz="2600"/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T(n)=a</a:t>
            </a:r>
            <a:r>
              <a:rPr lang="en-US" altLang="zh-CN" sz="2600" baseline="30000"/>
              <a:t>h</a:t>
            </a:r>
            <a:r>
              <a:rPr lang="en-US" altLang="zh-CN" sz="2600"/>
              <a:t>T(1)+cn(1+(a/b)+</a:t>
            </a:r>
            <a:r>
              <a:rPr lang="en-US" altLang="zh-CN" sz="2600">
                <a:latin typeface="宋体" pitchFamily="2" charset="-122"/>
              </a:rPr>
              <a:t>┅</a:t>
            </a:r>
            <a:r>
              <a:rPr lang="en-US" altLang="zh-CN" sz="2600"/>
              <a:t>+(a/b)</a:t>
            </a:r>
            <a:r>
              <a:rPr lang="en-US" altLang="zh-CN" sz="2600" baseline="30000"/>
              <a:t>h-1</a:t>
            </a:r>
            <a:r>
              <a:rPr lang="en-US" altLang="zh-CN" sz="2600"/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 = a</a:t>
            </a:r>
            <a:r>
              <a:rPr lang="en-US" altLang="zh-CN" sz="2600" baseline="30000"/>
              <a:t>h</a:t>
            </a:r>
            <a:r>
              <a:rPr lang="en-US" altLang="zh-CN" sz="2600"/>
              <a:t>T(1)+cb</a:t>
            </a:r>
            <a:r>
              <a:rPr lang="en-US" altLang="zh-CN" sz="2600" baseline="30000"/>
              <a:t>h</a:t>
            </a:r>
            <a:r>
              <a:rPr lang="en-US" altLang="zh-CN" sz="2600"/>
              <a:t>(1+(a/b)+</a:t>
            </a:r>
            <a:r>
              <a:rPr lang="en-US" altLang="zh-CN" sz="2600">
                <a:latin typeface="宋体" pitchFamily="2" charset="-122"/>
              </a:rPr>
              <a:t>┅</a:t>
            </a:r>
            <a:r>
              <a:rPr lang="en-US" altLang="zh-CN" sz="2600"/>
              <a:t>+(a/b)</a:t>
            </a:r>
            <a:r>
              <a:rPr lang="en-US" altLang="zh-CN" sz="2600" baseline="30000"/>
              <a:t>h-1</a:t>
            </a:r>
            <a:r>
              <a:rPr lang="en-US" altLang="zh-CN" sz="2600"/>
              <a:t>) </a:t>
            </a:r>
            <a:endParaRPr lang="en-US" altLang="zh-CN" sz="2600" b="1">
              <a:latin typeface="Dotum" pitchFamily="34" charset="-127"/>
              <a:ea typeface="Dotum" pitchFamily="34" charset="-127"/>
            </a:endParaRPr>
          </a:p>
          <a:p>
            <a:pPr eaLnBrk="1" hangingPunct="1"/>
            <a:r>
              <a:rPr lang="zh-CN" altLang="en-US" sz="2600" b="1"/>
              <a:t>当</a:t>
            </a:r>
            <a:r>
              <a:rPr lang="en-US" altLang="zh-CN" sz="2600"/>
              <a:t>b</a:t>
            </a:r>
            <a:r>
              <a:rPr lang="en-US" altLang="zh-CN" sz="2600" baseline="30000"/>
              <a:t>h</a:t>
            </a:r>
            <a:r>
              <a:rPr lang="en-US" altLang="zh-CN" sz="2600">
                <a:latin typeface="Arial" charset="0"/>
                <a:cs typeface="Arial" charset="0"/>
              </a:rPr>
              <a:t>≤n&lt;b</a:t>
            </a:r>
            <a:r>
              <a:rPr lang="en-US" altLang="zh-CN" sz="2600" baseline="30000">
                <a:latin typeface="Arial" charset="0"/>
                <a:cs typeface="Arial" charset="0"/>
              </a:rPr>
              <a:t>h+1</a:t>
            </a:r>
            <a:r>
              <a:rPr lang="en-US" altLang="zh-CN" sz="2600">
                <a:latin typeface="Arial" charset="0"/>
                <a:cs typeface="Arial" charset="0"/>
              </a:rPr>
              <a:t> </a:t>
            </a:r>
            <a:r>
              <a:rPr lang="en-US" altLang="zh-CN" sz="2600">
                <a:latin typeface="Tahoma" pitchFamily="34" charset="0"/>
                <a:cs typeface="Arial" charset="0"/>
              </a:rPr>
              <a:t>, </a:t>
            </a:r>
            <a:r>
              <a:rPr lang="zh-CN" altLang="en-US" sz="2600" b="1">
                <a:latin typeface="Tahoma" pitchFamily="34" charset="0"/>
                <a:cs typeface="Arial" charset="0"/>
              </a:rPr>
              <a:t>仍有</a:t>
            </a:r>
            <a:r>
              <a:rPr lang="en-US" altLang="zh-CN" sz="2600">
                <a:latin typeface="Tahoma" pitchFamily="34" charset="0"/>
                <a:cs typeface="Arial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>
                <a:latin typeface="Arial" charset="0"/>
                <a:cs typeface="Arial" charset="0"/>
              </a:rPr>
              <a:t>                            </a:t>
            </a:r>
            <a:r>
              <a:rPr lang="en-US" altLang="zh-CN" sz="2600"/>
              <a:t>h=</a:t>
            </a:r>
            <a:r>
              <a:rPr lang="el-GR" altLang="zh-CN" sz="2600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sz="2600" b="1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 sz="2600">
                <a:latin typeface="Tahoma" pitchFamily="34" charset="0"/>
              </a:rPr>
              <a:t>log</a:t>
            </a:r>
            <a:r>
              <a:rPr lang="en-US" altLang="zh-CN" sz="2600" baseline="-25000">
                <a:latin typeface="Tahoma" pitchFamily="34" charset="0"/>
              </a:rPr>
              <a:t>b</a:t>
            </a:r>
            <a:r>
              <a:rPr lang="en-US" altLang="zh-CN" sz="2600">
                <a:latin typeface="Tahoma" pitchFamily="34" charset="0"/>
              </a:rPr>
              <a:t>n)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600">
                <a:latin typeface="Tahoma" pitchFamily="34" charset="0"/>
              </a:rPr>
              <a:t>换底公式</a:t>
            </a:r>
            <a:r>
              <a:rPr lang="en-US" altLang="zh-CN" sz="2600">
                <a:latin typeface="Tahoma" pitchFamily="34" charset="0"/>
              </a:rPr>
              <a:t>: log</a:t>
            </a:r>
            <a:r>
              <a:rPr lang="en-US" altLang="zh-CN" sz="2600" baseline="-25000">
                <a:latin typeface="Tahoma" pitchFamily="34" charset="0"/>
              </a:rPr>
              <a:t>b</a:t>
            </a:r>
            <a:r>
              <a:rPr lang="en-US" altLang="zh-CN" sz="2600">
                <a:latin typeface="Tahoma" pitchFamily="34" charset="0"/>
              </a:rPr>
              <a:t>n=log</a:t>
            </a:r>
            <a:r>
              <a:rPr lang="en-US" altLang="zh-CN" sz="2600" baseline="-25000">
                <a:latin typeface="Tahoma" pitchFamily="34" charset="0"/>
              </a:rPr>
              <a:t>2</a:t>
            </a:r>
            <a:r>
              <a:rPr lang="en-US" altLang="zh-CN" sz="2600">
                <a:latin typeface="Tahoma" pitchFamily="34" charset="0"/>
              </a:rPr>
              <a:t>n/log</a:t>
            </a:r>
            <a:r>
              <a:rPr lang="en-US" altLang="zh-CN" sz="2600" baseline="-25000">
                <a:latin typeface="Tahoma" pitchFamily="34" charset="0"/>
              </a:rPr>
              <a:t>2</a:t>
            </a:r>
            <a:r>
              <a:rPr lang="en-US" altLang="zh-CN" sz="2600">
                <a:latin typeface="Tahoma" pitchFamily="34" charset="0"/>
              </a:rPr>
              <a:t>b =&gt;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             h=</a:t>
            </a:r>
            <a:r>
              <a:rPr lang="el-GR" altLang="zh-CN" sz="2600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sz="2600" b="1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 sz="2600">
                <a:latin typeface="Tahoma" pitchFamily="34" charset="0"/>
              </a:rPr>
              <a:t>logn)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替代法</a:t>
            </a:r>
            <a:endParaRPr lang="en-US" altLang="zh-CN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解递归方程最一般的方法</a:t>
            </a:r>
            <a:r>
              <a:rPr lang="en-US" altLang="zh-CN" i="1" dirty="0"/>
              <a:t>:</a:t>
            </a:r>
            <a:endParaRPr lang="en-US" altLang="zh-CN" dirty="0"/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i="1" dirty="0"/>
              <a:t>1. Guess </a:t>
            </a:r>
            <a:r>
              <a:rPr lang="en-US" altLang="zh-CN" dirty="0"/>
              <a:t>the form of the solution.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i="1" dirty="0"/>
              <a:t>2. Verify </a:t>
            </a:r>
            <a:r>
              <a:rPr lang="en-US" altLang="zh-CN" dirty="0"/>
              <a:t>by induction.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i="1" dirty="0"/>
              <a:t>3. Solve </a:t>
            </a:r>
            <a:r>
              <a:rPr lang="en-US" altLang="zh-CN" dirty="0"/>
              <a:t>for constants.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zh-CN" sz="3400"/>
            </a:br>
            <a:r>
              <a:rPr lang="zh-CN" altLang="en-US" sz="3400"/>
              <a:t>例</a:t>
            </a:r>
            <a:r>
              <a:rPr lang="en-US" altLang="zh-CN" sz="3400"/>
              <a:t>1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>
                <a:latin typeface="Tahoma" pitchFamily="34" charset="0"/>
                <a:ea typeface="Dotum" pitchFamily="34" charset="-127"/>
              </a:rPr>
              <a:t>T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) = 4</a:t>
            </a:r>
            <a:r>
              <a:rPr lang="en-US" altLang="zh-CN" i="1">
                <a:latin typeface="Times New Roman" pitchFamily="18" charset="0"/>
              </a:rPr>
              <a:t>T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/2) + </a:t>
            </a:r>
            <a:r>
              <a:rPr lang="en-US" altLang="zh-CN" i="1">
                <a:latin typeface="Times New Roman" pitchFamily="18" charset="0"/>
              </a:rPr>
              <a:t>n    </a:t>
            </a:r>
            <a:r>
              <a:rPr lang="zh-CN" altLang="en-US">
                <a:latin typeface="Times New Roman" pitchFamily="18" charset="0"/>
              </a:rPr>
              <a:t>（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=2</a:t>
            </a:r>
            <a:r>
              <a:rPr lang="en-US" altLang="zh-CN" baseline="30000">
                <a:latin typeface="Times New Roman" pitchFamily="18" charset="0"/>
              </a:rPr>
              <a:t>h</a:t>
            </a:r>
            <a:r>
              <a:rPr lang="zh-CN" altLang="en-US">
                <a:latin typeface="Times New Roman" pitchFamily="18" charset="0"/>
              </a:rPr>
              <a:t>）</a:t>
            </a:r>
            <a:endParaRPr lang="zh-CN" altLang="en-US" baseline="30000">
              <a:latin typeface="Times New Roman" pitchFamily="18" charset="0"/>
            </a:endParaRPr>
          </a:p>
          <a:p>
            <a:pPr eaLnBrk="1" hangingPunct="1"/>
            <a:r>
              <a:rPr lang="en-US" altLang="zh-CN">
                <a:latin typeface="Times New Roman" pitchFamily="18" charset="0"/>
              </a:rPr>
              <a:t>[Assume that </a:t>
            </a:r>
            <a:r>
              <a:rPr lang="en-US" altLang="zh-CN" i="1">
                <a:latin typeface="Times New Roman" pitchFamily="18" charset="0"/>
              </a:rPr>
              <a:t>T </a:t>
            </a:r>
            <a:r>
              <a:rPr lang="en-US" altLang="zh-CN">
                <a:latin typeface="Times New Roman" pitchFamily="18" charset="0"/>
              </a:rPr>
              <a:t>(1)=</a:t>
            </a:r>
            <a:r>
              <a:rPr lang="en-US" altLang="zh-CN" b="1">
                <a:latin typeface="Times New Roman" pitchFamily="18" charset="0"/>
              </a:rPr>
              <a:t>Θ</a:t>
            </a:r>
            <a:r>
              <a:rPr lang="en-US" altLang="zh-CN">
                <a:latin typeface="Times New Roman" pitchFamily="18" charset="0"/>
              </a:rPr>
              <a:t>(1).]</a:t>
            </a:r>
          </a:p>
          <a:p>
            <a:pPr eaLnBrk="1" hangingPunct="1"/>
            <a:r>
              <a:rPr lang="en-US" altLang="zh-CN">
                <a:latin typeface="Times New Roman" pitchFamily="18" charset="0"/>
              </a:rPr>
              <a:t>Guess O(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 baseline="30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) :</a:t>
            </a:r>
            <a:r>
              <a:rPr lang="zh-CN" altLang="en-US">
                <a:latin typeface="Times New Roman" pitchFamily="18" charset="0"/>
              </a:rPr>
              <a:t>归纳假定为</a:t>
            </a:r>
            <a:r>
              <a:rPr lang="en-US" altLang="zh-CN" i="1">
                <a:latin typeface="Times New Roman" pitchFamily="18" charset="0"/>
              </a:rPr>
              <a:t>T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)≤</a:t>
            </a:r>
            <a:r>
              <a:rPr lang="en-US" altLang="zh-CN" i="1">
                <a:latin typeface="Times New Roman" pitchFamily="18" charset="0"/>
              </a:rPr>
              <a:t>cn</a:t>
            </a:r>
            <a:r>
              <a:rPr lang="en-US" altLang="zh-CN" baseline="30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. </a:t>
            </a:r>
            <a:r>
              <a:rPr lang="en-US" altLang="zh-CN" i="1">
                <a:latin typeface="Times New Roman" pitchFamily="18" charset="0"/>
              </a:rPr>
              <a:t>c</a:t>
            </a:r>
            <a:r>
              <a:rPr lang="zh-CN" altLang="en-US">
                <a:latin typeface="Times New Roman" pitchFamily="18" charset="0"/>
              </a:rPr>
              <a:t>是待定常数</a:t>
            </a:r>
            <a:r>
              <a:rPr lang="en-US" altLang="zh-CN">
                <a:latin typeface="Times New Roman" pitchFamily="18" charset="0"/>
              </a:rPr>
              <a:t>.</a:t>
            </a:r>
          </a:p>
          <a:p>
            <a:pPr eaLnBrk="1" hangingPunct="1"/>
            <a:r>
              <a:rPr lang="zh-CN" altLang="en-US">
                <a:latin typeface="Times New Roman" pitchFamily="18" charset="0"/>
              </a:rPr>
              <a:t>应用假定有</a:t>
            </a:r>
            <a:r>
              <a:rPr lang="en-US" altLang="zh-CN">
                <a:latin typeface="Times New Roman" pitchFamily="18" charset="0"/>
              </a:rPr>
              <a:t>:</a:t>
            </a:r>
            <a:r>
              <a:rPr lang="en-US" altLang="zh-CN" i="1">
                <a:latin typeface="Times New Roman" pitchFamily="18" charset="0"/>
              </a:rPr>
              <a:t>T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k</a:t>
            </a:r>
            <a:r>
              <a:rPr lang="en-US" altLang="zh-CN">
                <a:latin typeface="Times New Roman" pitchFamily="18" charset="0"/>
              </a:rPr>
              <a:t>) ≤</a:t>
            </a:r>
            <a:r>
              <a:rPr lang="en-US" altLang="zh-CN" i="1">
                <a:latin typeface="Times New Roman" pitchFamily="18" charset="0"/>
              </a:rPr>
              <a:t>ck</a:t>
            </a:r>
            <a:r>
              <a:rPr lang="en-US" altLang="zh-CN" baseline="30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 for </a:t>
            </a:r>
            <a:r>
              <a:rPr lang="en-US" altLang="zh-CN" i="1">
                <a:latin typeface="Times New Roman" pitchFamily="18" charset="0"/>
              </a:rPr>
              <a:t>k </a:t>
            </a:r>
            <a:r>
              <a:rPr lang="en-US" altLang="zh-CN">
                <a:latin typeface="Times New Roman" pitchFamily="18" charset="0"/>
              </a:rPr>
              <a:t>&lt; </a:t>
            </a:r>
            <a:r>
              <a:rPr lang="en-US" altLang="zh-CN" i="1">
                <a:latin typeface="Times New Roman" pitchFamily="18" charset="0"/>
              </a:rPr>
              <a:t>n </a:t>
            </a:r>
            <a:r>
              <a:rPr lang="en-US" altLang="zh-CN">
                <a:latin typeface="Times New Roman" pitchFamily="18" charset="0"/>
              </a:rPr>
              <a:t>.</a:t>
            </a:r>
          </a:p>
          <a:p>
            <a:pPr eaLnBrk="1" hangingPunct="1"/>
            <a:r>
              <a:rPr lang="zh-CN" altLang="en-US">
                <a:latin typeface="Times New Roman" pitchFamily="18" charset="0"/>
              </a:rPr>
              <a:t>归纳证明</a:t>
            </a:r>
            <a:r>
              <a:rPr lang="en-US" altLang="zh-CN">
                <a:latin typeface="Times New Roman" pitchFamily="18" charset="0"/>
              </a:rPr>
              <a:t>: </a:t>
            </a:r>
            <a:r>
              <a:rPr lang="en-US" altLang="zh-CN" i="1">
                <a:latin typeface="Times New Roman" pitchFamily="18" charset="0"/>
              </a:rPr>
              <a:t>T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) ≤ </a:t>
            </a:r>
            <a:r>
              <a:rPr lang="en-US" altLang="zh-CN" i="1">
                <a:latin typeface="Times New Roman" pitchFamily="18" charset="0"/>
              </a:rPr>
              <a:t>cn</a:t>
            </a:r>
            <a:r>
              <a:rPr lang="en-US" altLang="zh-CN" baseline="30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 </a:t>
            </a:r>
            <a:r>
              <a:rPr lang="zh-CN" altLang="en-US">
                <a:latin typeface="Times New Roman" pitchFamily="18" charset="0"/>
              </a:rPr>
              <a:t>并确定常数</a:t>
            </a:r>
            <a:r>
              <a:rPr lang="en-US" altLang="zh-CN" i="1">
                <a:latin typeface="Times New Roman" pitchFamily="18" charset="0"/>
              </a:rPr>
              <a:t>c</a:t>
            </a:r>
            <a:r>
              <a:rPr lang="en-US" altLang="zh-CN">
                <a:latin typeface="Times New Roman" pitchFamily="18" charset="0"/>
              </a:rPr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>
              <a:latin typeface="Dotum" pitchFamily="34" charset="-127"/>
              <a:ea typeface="Dotum" pitchFamily="34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i="1"/>
              <a:t>T</a:t>
            </a:r>
            <a:r>
              <a:rPr lang="en-US" altLang="zh-CN"/>
              <a:t>(n)=4</a:t>
            </a:r>
            <a:r>
              <a:rPr lang="en-US" altLang="zh-CN" i="1"/>
              <a:t>T</a:t>
            </a:r>
            <a:r>
              <a:rPr lang="en-US" altLang="zh-CN"/>
              <a:t>(n/2)+n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         </a:t>
            </a:r>
            <a:r>
              <a:rPr lang="en-US" altLang="zh-CN" b="1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Arial" charset="0"/>
                <a:cs typeface="Arial" charset="0"/>
              </a:rPr>
              <a:t>4c(n/2)</a:t>
            </a:r>
            <a:r>
              <a:rPr lang="en-US" altLang="zh-CN" baseline="30000">
                <a:latin typeface="Arial" charset="0"/>
                <a:cs typeface="Arial" charset="0"/>
              </a:rPr>
              <a:t>3</a:t>
            </a:r>
            <a:r>
              <a:rPr lang="en-US" altLang="zh-CN">
                <a:latin typeface="Arial" charset="0"/>
                <a:cs typeface="Arial" charset="0"/>
              </a:rPr>
              <a:t>+n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>
                <a:latin typeface="Arial" charset="0"/>
                <a:cs typeface="Arial" charset="0"/>
              </a:rPr>
              <a:t>            </a:t>
            </a:r>
            <a:r>
              <a:rPr lang="en-US" altLang="zh-CN"/>
              <a:t>=(c/2)n</a:t>
            </a:r>
            <a:r>
              <a:rPr lang="en-US" altLang="zh-CN" baseline="30000"/>
              <a:t>3</a:t>
            </a:r>
            <a:r>
              <a:rPr lang="en-US" altLang="zh-CN"/>
              <a:t>+n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          =cn</a:t>
            </a:r>
            <a:r>
              <a:rPr lang="en-US" altLang="zh-CN" baseline="30000"/>
              <a:t>3</a:t>
            </a:r>
            <a:r>
              <a:rPr lang="en-US" altLang="zh-CN"/>
              <a:t>-((c/2)n</a:t>
            </a:r>
            <a:r>
              <a:rPr lang="en-US" altLang="zh-CN" baseline="30000"/>
              <a:t>3</a:t>
            </a:r>
            <a:r>
              <a:rPr lang="en-US" altLang="zh-CN"/>
              <a:t>-n)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         </a:t>
            </a:r>
            <a:r>
              <a:rPr lang="en-US" altLang="zh-CN">
                <a:latin typeface="宋体" pitchFamily="2" charset="-122"/>
              </a:rPr>
              <a:t> </a:t>
            </a:r>
            <a:r>
              <a:rPr lang="en-US" altLang="zh-CN" b="1">
                <a:latin typeface="宋体" pitchFamily="2" charset="-122"/>
                <a:cs typeface="Arial" charset="0"/>
              </a:rPr>
              <a:t>≤</a:t>
            </a:r>
            <a:r>
              <a:rPr lang="en-US" altLang="zh-CN" b="1">
                <a:latin typeface="Dotum" pitchFamily="34" charset="-127"/>
                <a:ea typeface="Dotum" pitchFamily="34" charset="-127"/>
                <a:cs typeface="Arial" charset="0"/>
              </a:rPr>
              <a:t>cn</a:t>
            </a:r>
            <a:r>
              <a:rPr lang="en-US" altLang="zh-CN" b="1" baseline="30000">
                <a:latin typeface="Dotum" pitchFamily="34" charset="-127"/>
                <a:ea typeface="Dotum" pitchFamily="34" charset="-127"/>
                <a:cs typeface="Arial" charset="0"/>
              </a:rPr>
              <a:t>3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b="1"/>
              <a:t>    </a:t>
            </a:r>
            <a:r>
              <a:rPr lang="zh-CN" altLang="en-US" b="1"/>
              <a:t>取</a:t>
            </a:r>
            <a:r>
              <a:rPr lang="zh-CN" altLang="en-US"/>
              <a:t> </a:t>
            </a:r>
            <a:r>
              <a:rPr lang="en-US" altLang="zh-CN" i="1"/>
              <a:t>c</a:t>
            </a:r>
            <a:r>
              <a:rPr lang="en-US" altLang="zh-CN"/>
              <a:t>≥2 and </a:t>
            </a:r>
            <a:r>
              <a:rPr lang="en-US" altLang="zh-CN" i="1"/>
              <a:t>n</a:t>
            </a:r>
            <a:r>
              <a:rPr lang="en-US" altLang="zh-CN"/>
              <a:t>≥1,</a:t>
            </a:r>
            <a:r>
              <a:rPr lang="zh-CN" altLang="en-US" b="1"/>
              <a:t>不等式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/>
              <a:t>/2)</a:t>
            </a:r>
            <a:r>
              <a:rPr lang="en-US" altLang="zh-CN" i="1"/>
              <a:t>n</a:t>
            </a:r>
            <a:r>
              <a:rPr lang="en-US" altLang="zh-CN" baseline="30000"/>
              <a:t>3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 i="1"/>
              <a:t>n</a:t>
            </a:r>
            <a:r>
              <a:rPr lang="en-US" altLang="zh-CN"/>
              <a:t>≥0</a:t>
            </a:r>
            <a:r>
              <a:rPr lang="zh-CN" altLang="en-US" b="1"/>
              <a:t>成立</a:t>
            </a:r>
            <a:r>
              <a:rPr lang="en-US" altLang="zh-CN" b="1"/>
              <a:t>,</a:t>
            </a:r>
            <a:endParaRPr lang="en-US" altLang="zh-CN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>
                <a:latin typeface="Arial" charset="0"/>
                <a:cs typeface="Arial" charset="0"/>
              </a:rPr>
              <a:t>          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还要检验初始条件是否满足归纳假设</a:t>
            </a:r>
            <a:r>
              <a:rPr lang="en-US" altLang="zh-CN"/>
              <a:t>.</a:t>
            </a:r>
          </a:p>
          <a:p>
            <a:pPr eaLnBrk="1" hangingPunct="1"/>
            <a:r>
              <a:rPr lang="zh-CN" altLang="en-US" b="1"/>
              <a:t>初始条件为</a:t>
            </a:r>
            <a:r>
              <a:rPr lang="en-US" altLang="zh-CN"/>
              <a:t>: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i="1"/>
              <a:t>       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en-US" altLang="zh-CN" b="1">
                <a:latin typeface="Dotum" pitchFamily="34" charset="-127"/>
                <a:ea typeface="Dotum" pitchFamily="34" charset="-127"/>
              </a:rPr>
              <a:t>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b="1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/>
              <a:t>1),</a:t>
            </a:r>
            <a:r>
              <a:rPr lang="zh-CN" altLang="en-US" b="1"/>
              <a:t>当</a:t>
            </a:r>
            <a:r>
              <a:rPr lang="zh-CN" altLang="en-US"/>
              <a:t> </a:t>
            </a:r>
            <a:r>
              <a:rPr lang="en-US" altLang="zh-CN" i="1"/>
              <a:t>n</a:t>
            </a:r>
            <a:r>
              <a:rPr lang="en-US" altLang="zh-CN"/>
              <a:t>&lt;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 ,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zh-CN" altLang="en-US" b="1"/>
              <a:t>为常数</a:t>
            </a:r>
            <a:r>
              <a:rPr lang="en-US" altLang="zh-CN" b="1"/>
              <a:t>.</a:t>
            </a:r>
          </a:p>
          <a:p>
            <a:pPr eaLnBrk="1" hangingPunct="1"/>
            <a:r>
              <a:rPr lang="zh-CN" altLang="en-US" b="1"/>
              <a:t>因为有常数</a:t>
            </a:r>
            <a:r>
              <a:rPr lang="en-US" altLang="zh-CN" b="1"/>
              <a:t>(</a:t>
            </a:r>
            <a:r>
              <a:rPr lang="en-US" altLang="zh-CN"/>
              <a:t>n</a:t>
            </a:r>
            <a:r>
              <a:rPr lang="en-US" altLang="zh-CN" baseline="-25000"/>
              <a:t>0</a:t>
            </a:r>
            <a:r>
              <a:rPr lang="en-US" altLang="zh-CN"/>
              <a:t>-1)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 b="1"/>
              <a:t>的值</a:t>
            </a:r>
            <a:r>
              <a:rPr lang="en-US" altLang="zh-CN"/>
              <a:t>:T(1),</a:t>
            </a:r>
            <a:r>
              <a:rPr lang="en-US" altLang="zh-CN">
                <a:latin typeface="宋体" pitchFamily="2" charset="-122"/>
              </a:rPr>
              <a:t>┅</a:t>
            </a:r>
            <a:r>
              <a:rPr lang="en-US" altLang="zh-CN">
                <a:latin typeface="Tahoma" pitchFamily="34" charset="0"/>
              </a:rPr>
              <a:t>,T(n</a:t>
            </a:r>
            <a:r>
              <a:rPr lang="en-US" altLang="zh-CN" baseline="-25000">
                <a:latin typeface="Tahoma" pitchFamily="34" charset="0"/>
              </a:rPr>
              <a:t>0</a:t>
            </a:r>
            <a:r>
              <a:rPr lang="en-US" altLang="zh-CN">
                <a:latin typeface="Tahoma" pitchFamily="34" charset="0"/>
              </a:rPr>
              <a:t>-1)</a:t>
            </a:r>
            <a:endParaRPr lang="en-US" altLang="zh-CN">
              <a:latin typeface="宋体" pitchFamily="2" charset="-122"/>
            </a:endParaRPr>
          </a:p>
          <a:p>
            <a:pPr eaLnBrk="1" hangingPunct="1"/>
            <a:r>
              <a:rPr lang="zh-CN" altLang="en-US" b="1"/>
              <a:t>所以可取</a:t>
            </a:r>
            <a:r>
              <a:rPr lang="en-US" altLang="zh-CN"/>
              <a:t>c</a:t>
            </a:r>
            <a:r>
              <a:rPr lang="zh-CN" altLang="en-US" b="1"/>
              <a:t>足够大</a:t>
            </a:r>
            <a:r>
              <a:rPr lang="en-US" altLang="zh-CN" b="1"/>
              <a:t>,</a:t>
            </a:r>
            <a:r>
              <a:rPr lang="zh-CN" altLang="en-US" b="1"/>
              <a:t>使得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)≤</a:t>
            </a:r>
            <a:r>
              <a:rPr lang="en-US" altLang="zh-CN" i="1"/>
              <a:t>cn</a:t>
            </a:r>
            <a:r>
              <a:rPr lang="en-US" altLang="zh-CN" baseline="30000"/>
              <a:t>3</a:t>
            </a:r>
            <a:r>
              <a:rPr lang="en-US" altLang="zh-CN"/>
              <a:t>, </a:t>
            </a:r>
            <a:r>
              <a:rPr lang="zh-CN" altLang="en-US" b="1"/>
              <a:t>对</a:t>
            </a:r>
            <a:r>
              <a:rPr lang="en-US" altLang="zh-CN" i="1"/>
              <a:t>n</a:t>
            </a:r>
            <a:r>
              <a:rPr lang="en-US" altLang="zh-CN"/>
              <a:t>&lt;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 </a:t>
            </a:r>
            <a:r>
              <a:rPr lang="zh-CN" altLang="en-US" b="1"/>
              <a:t>成立</a:t>
            </a:r>
            <a:r>
              <a:rPr lang="en-US" altLang="zh-CN"/>
              <a:t>.</a:t>
            </a:r>
          </a:p>
          <a:p>
            <a:pPr eaLnBrk="1" hangingPunct="1"/>
            <a:r>
              <a:rPr lang="zh-CN" altLang="en-US" b="1"/>
              <a:t>该上界不是紧上界（</a:t>
            </a:r>
            <a:r>
              <a:rPr lang="en-US" altLang="zh-CN" b="1"/>
              <a:t>tight bound</a:t>
            </a:r>
            <a:r>
              <a:rPr lang="zh-CN" altLang="en-US" b="1"/>
              <a:t>）</a:t>
            </a:r>
            <a:r>
              <a:rPr lang="en-US" altLang="zh-CN" b="1"/>
              <a:t>!</a:t>
            </a:r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We shall prove that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 i="1"/>
              <a:t>O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).</a:t>
            </a:r>
          </a:p>
          <a:p>
            <a:pPr eaLnBrk="1" hangingPunct="1"/>
            <a:r>
              <a:rPr lang="en-US" altLang="zh-CN"/>
              <a:t>Assume that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k</a:t>
            </a:r>
            <a:r>
              <a:rPr lang="en-US" altLang="zh-CN"/>
              <a:t>)≤</a:t>
            </a:r>
            <a:r>
              <a:rPr lang="en-US" altLang="zh-CN" i="1"/>
              <a:t>ck</a:t>
            </a:r>
            <a:r>
              <a:rPr lang="en-US" altLang="zh-CN" baseline="30000"/>
              <a:t>2</a:t>
            </a:r>
            <a:r>
              <a:rPr lang="en-US" altLang="zh-CN"/>
              <a:t> for </a:t>
            </a:r>
            <a:r>
              <a:rPr lang="en-US" altLang="zh-CN" i="1"/>
              <a:t>k</a:t>
            </a:r>
            <a:r>
              <a:rPr lang="en-US" altLang="zh-CN"/>
              <a:t>&lt;</a:t>
            </a:r>
            <a:r>
              <a:rPr lang="en-US" altLang="zh-CN" i="1"/>
              <a:t>n</a:t>
            </a:r>
            <a:r>
              <a:rPr lang="en-US" altLang="zh-CN"/>
              <a:t>:</a:t>
            </a:r>
          </a:p>
          <a:p>
            <a:pPr eaLnBrk="1" hangingPunct="1"/>
            <a:r>
              <a:rPr lang="en-US" altLang="zh-CN" i="1"/>
              <a:t>T</a:t>
            </a:r>
            <a:r>
              <a:rPr lang="en-US" altLang="zh-CN"/>
              <a:t>(n)=4</a:t>
            </a:r>
            <a:r>
              <a:rPr lang="en-US" altLang="zh-CN" i="1"/>
              <a:t>T</a:t>
            </a:r>
            <a:r>
              <a:rPr lang="en-US" altLang="zh-CN"/>
              <a:t>(n/2)+n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      </a:t>
            </a:r>
            <a:r>
              <a:rPr lang="en-US" altLang="zh-CN" b="1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Arial" charset="0"/>
                <a:cs typeface="Arial" charset="0"/>
              </a:rPr>
              <a:t>4c(n/2)</a:t>
            </a:r>
            <a:r>
              <a:rPr lang="en-US" altLang="zh-CN" baseline="30000">
                <a:latin typeface="Arial" charset="0"/>
                <a:cs typeface="Arial" charset="0"/>
              </a:rPr>
              <a:t>2</a:t>
            </a:r>
            <a:r>
              <a:rPr lang="en-US" altLang="zh-CN">
                <a:latin typeface="Arial" charset="0"/>
                <a:cs typeface="Arial" charset="0"/>
              </a:rPr>
              <a:t>+n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Arial" charset="0"/>
                <a:cs typeface="Arial" charset="0"/>
              </a:rPr>
              <a:t>            </a:t>
            </a:r>
            <a:r>
              <a:rPr lang="en-US" altLang="zh-CN"/>
              <a:t>=cn</a:t>
            </a:r>
            <a:r>
              <a:rPr lang="en-US" altLang="zh-CN" baseline="30000"/>
              <a:t>2</a:t>
            </a:r>
            <a:r>
              <a:rPr lang="en-US" altLang="zh-CN"/>
              <a:t>+n</a:t>
            </a:r>
          </a:p>
          <a:p>
            <a:pPr eaLnBrk="1" hangingPunct="1"/>
            <a:r>
              <a:rPr lang="zh-CN" altLang="en-US" b="1"/>
              <a:t>归纳不能往下进行！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/>
              <a:t>          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i="1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替代法（续）</a:t>
            </a:r>
            <a:endParaRPr lang="en-US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600" b="1"/>
              <a:t>IDEA: </a:t>
            </a:r>
            <a:r>
              <a:rPr lang="en-US" altLang="zh-CN" sz="2600"/>
              <a:t>Strengthen the inductive hypothesis.</a:t>
            </a:r>
          </a:p>
          <a:p>
            <a:pPr eaLnBrk="1" hangingPunct="1"/>
            <a:r>
              <a:rPr lang="en-US" altLang="zh-CN" sz="2600" b="1" i="1"/>
              <a:t>Subtract </a:t>
            </a:r>
            <a:r>
              <a:rPr lang="en-US" altLang="zh-CN" sz="2600"/>
              <a:t>a low-order term.</a:t>
            </a:r>
          </a:p>
          <a:p>
            <a:pPr eaLnBrk="1" hangingPunct="1"/>
            <a:r>
              <a:rPr lang="en-US" altLang="zh-CN" sz="2600" i="1"/>
              <a:t>Inductive hypothesis</a:t>
            </a:r>
            <a:r>
              <a:rPr lang="en-US" altLang="zh-CN" sz="2600"/>
              <a:t>: </a:t>
            </a:r>
            <a:r>
              <a:rPr lang="en-US" altLang="zh-CN" sz="2600" i="1"/>
              <a:t>T</a:t>
            </a:r>
            <a:r>
              <a:rPr lang="en-US" altLang="zh-CN" sz="2600"/>
              <a:t>(</a:t>
            </a:r>
            <a:r>
              <a:rPr lang="en-US" altLang="zh-CN" sz="2600" i="1"/>
              <a:t>k</a:t>
            </a:r>
            <a:r>
              <a:rPr lang="en-US" altLang="zh-CN" sz="2600"/>
              <a:t>)≤</a:t>
            </a:r>
            <a:r>
              <a:rPr lang="en-US" altLang="zh-CN" sz="2600" i="1"/>
              <a:t>c</a:t>
            </a:r>
            <a:r>
              <a:rPr lang="en-US" altLang="zh-CN" sz="2600" baseline="-25000"/>
              <a:t>1</a:t>
            </a:r>
            <a:r>
              <a:rPr lang="en-US" altLang="zh-CN" sz="2600" i="1"/>
              <a:t>k</a:t>
            </a:r>
            <a:r>
              <a:rPr lang="en-US" altLang="zh-CN" sz="2600" baseline="30000"/>
              <a:t>2</a:t>
            </a:r>
            <a:r>
              <a:rPr lang="en-US" altLang="zh-CN" sz="2600">
                <a:latin typeface="Arial" charset="0"/>
              </a:rPr>
              <a:t>–</a:t>
            </a:r>
            <a:r>
              <a:rPr lang="en-US" altLang="zh-CN" sz="2600"/>
              <a:t> </a:t>
            </a:r>
            <a:r>
              <a:rPr lang="en-US" altLang="zh-CN" sz="2600" i="1"/>
              <a:t>c</a:t>
            </a:r>
            <a:r>
              <a:rPr lang="en-US" altLang="zh-CN" sz="2600" baseline="-25000"/>
              <a:t>2</a:t>
            </a:r>
            <a:r>
              <a:rPr lang="en-US" altLang="zh-CN" sz="2600" i="1"/>
              <a:t>k </a:t>
            </a:r>
            <a:r>
              <a:rPr lang="en-US" altLang="zh-CN" sz="2600"/>
              <a:t>for </a:t>
            </a:r>
            <a:r>
              <a:rPr lang="en-US" altLang="zh-CN" sz="2600" i="1"/>
              <a:t>k</a:t>
            </a:r>
            <a:r>
              <a:rPr lang="en-US" altLang="zh-CN" sz="2600"/>
              <a:t>&lt;</a:t>
            </a:r>
            <a:r>
              <a:rPr lang="en-US" altLang="zh-CN" sz="2600" i="1"/>
              <a:t>n</a:t>
            </a:r>
            <a:r>
              <a:rPr lang="en-US" altLang="zh-CN" sz="2600"/>
              <a:t>.</a:t>
            </a:r>
          </a:p>
          <a:p>
            <a:pPr eaLnBrk="1" hangingPunct="1"/>
            <a:r>
              <a:rPr lang="en-US" altLang="zh-CN" sz="2600" i="1"/>
              <a:t>T</a:t>
            </a:r>
            <a:r>
              <a:rPr lang="en-US" altLang="zh-CN" sz="2600"/>
              <a:t>(n)=4</a:t>
            </a:r>
            <a:r>
              <a:rPr lang="en-US" altLang="zh-CN" sz="2600" i="1"/>
              <a:t>T</a:t>
            </a:r>
            <a:r>
              <a:rPr lang="en-US" altLang="zh-CN" sz="2600"/>
              <a:t>(n/2)+n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</a:t>
            </a:r>
            <a:r>
              <a:rPr lang="en-US" altLang="zh-CN" sz="2600" b="1">
                <a:latin typeface="Arial" charset="0"/>
                <a:cs typeface="Arial" charset="0"/>
              </a:rPr>
              <a:t>≤</a:t>
            </a:r>
            <a:r>
              <a:rPr lang="en-US" altLang="zh-CN" sz="2600">
                <a:latin typeface="Arial" charset="0"/>
                <a:cs typeface="Arial" charset="0"/>
              </a:rPr>
              <a:t>4[c</a:t>
            </a:r>
            <a:r>
              <a:rPr lang="en-US" altLang="zh-CN" sz="2600" baseline="-25000">
                <a:latin typeface="Arial" charset="0"/>
                <a:cs typeface="Arial" charset="0"/>
              </a:rPr>
              <a:t>1</a:t>
            </a:r>
            <a:r>
              <a:rPr lang="en-US" altLang="zh-CN" sz="2600">
                <a:latin typeface="Arial" charset="0"/>
                <a:cs typeface="Arial" charset="0"/>
              </a:rPr>
              <a:t>(n/2)</a:t>
            </a:r>
            <a:r>
              <a:rPr lang="en-US" altLang="zh-CN" sz="2600" baseline="30000">
                <a:latin typeface="Arial" charset="0"/>
                <a:cs typeface="Arial" charset="0"/>
              </a:rPr>
              <a:t>2</a:t>
            </a:r>
            <a:r>
              <a:rPr lang="en-US" altLang="zh-CN" sz="2600">
                <a:latin typeface="Arial" charset="0"/>
                <a:cs typeface="Arial" charset="0"/>
              </a:rPr>
              <a:t>-c</a:t>
            </a:r>
            <a:r>
              <a:rPr lang="en-US" altLang="zh-CN" sz="2600" baseline="-25000">
                <a:latin typeface="Arial" charset="0"/>
                <a:cs typeface="Arial" charset="0"/>
              </a:rPr>
              <a:t>2</a:t>
            </a:r>
            <a:r>
              <a:rPr lang="en-US" altLang="zh-CN" sz="2600">
                <a:latin typeface="Arial" charset="0"/>
                <a:cs typeface="Arial" charset="0"/>
              </a:rPr>
              <a:t>(n/2)]+n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>
                <a:latin typeface="Arial" charset="0"/>
                <a:cs typeface="Arial" charset="0"/>
              </a:rPr>
              <a:t>            </a:t>
            </a:r>
            <a:r>
              <a:rPr lang="en-US" altLang="zh-CN" sz="2600"/>
              <a:t>=c</a:t>
            </a:r>
            <a:r>
              <a:rPr lang="en-US" altLang="zh-CN" sz="2600" baseline="-25000"/>
              <a:t>1</a:t>
            </a:r>
            <a:r>
              <a:rPr lang="en-US" altLang="zh-CN" sz="2600"/>
              <a:t>n</a:t>
            </a:r>
            <a:r>
              <a:rPr lang="en-US" altLang="zh-CN" sz="2600" baseline="30000"/>
              <a:t>2</a:t>
            </a:r>
            <a:r>
              <a:rPr lang="en-US" altLang="zh-CN" sz="2600"/>
              <a:t>-c</a:t>
            </a:r>
            <a:r>
              <a:rPr lang="en-US" altLang="zh-CN" sz="2600" baseline="-25000"/>
              <a:t>2</a:t>
            </a:r>
            <a:r>
              <a:rPr lang="en-US" altLang="zh-CN" sz="2600"/>
              <a:t>n-(c</a:t>
            </a:r>
            <a:r>
              <a:rPr lang="en-US" altLang="zh-CN" sz="2600" baseline="-25000"/>
              <a:t>2</a:t>
            </a:r>
            <a:r>
              <a:rPr lang="en-US" altLang="zh-CN" sz="2600"/>
              <a:t>n-n)</a:t>
            </a:r>
            <a:endParaRPr lang="en-US" altLang="zh-CN" sz="260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600"/>
              <a:t>          </a:t>
            </a:r>
            <a:r>
              <a:rPr lang="en-US" altLang="zh-CN" sz="2600" b="1">
                <a:latin typeface="Arial" charset="0"/>
                <a:cs typeface="Arial" charset="0"/>
              </a:rPr>
              <a:t>≤</a:t>
            </a:r>
            <a:r>
              <a:rPr lang="en-US" altLang="zh-CN" sz="2600"/>
              <a:t>c</a:t>
            </a:r>
            <a:r>
              <a:rPr lang="en-US" altLang="zh-CN" sz="2600" baseline="-25000"/>
              <a:t>1</a:t>
            </a:r>
            <a:r>
              <a:rPr lang="en-US" altLang="zh-CN" sz="2600"/>
              <a:t>n</a:t>
            </a:r>
            <a:r>
              <a:rPr lang="en-US" altLang="zh-CN" sz="2600" baseline="30000"/>
              <a:t>2</a:t>
            </a:r>
            <a:r>
              <a:rPr lang="en-US" altLang="zh-CN" sz="2600"/>
              <a:t>-c</a:t>
            </a:r>
            <a:r>
              <a:rPr lang="en-US" altLang="zh-CN" sz="2600" baseline="-25000"/>
              <a:t>2</a:t>
            </a:r>
            <a:r>
              <a:rPr lang="en-US" altLang="zh-CN" sz="2600"/>
              <a:t>n         if c</a:t>
            </a:r>
            <a:r>
              <a:rPr lang="en-US" altLang="zh-CN" sz="2600" baseline="-25000"/>
              <a:t>2</a:t>
            </a:r>
            <a:r>
              <a:rPr lang="en-US" altLang="zh-CN" sz="2600"/>
              <a:t>&gt;1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续</a:t>
            </a: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For 1≤</a:t>
            </a:r>
            <a:r>
              <a:rPr lang="en-US" altLang="zh-CN" i="1"/>
              <a:t>n</a:t>
            </a:r>
            <a:r>
              <a:rPr lang="en-US" altLang="zh-CN"/>
              <a:t>&lt;</a:t>
            </a:r>
            <a:r>
              <a:rPr lang="en-US" altLang="zh-CN" i="1"/>
              <a:t>n</a:t>
            </a:r>
            <a:r>
              <a:rPr lang="en-US" altLang="zh-CN" baseline="-25000"/>
              <a:t>0</a:t>
            </a:r>
            <a:r>
              <a:rPr lang="en-US" altLang="zh-CN"/>
              <a:t>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we have </a:t>
            </a:r>
            <a:r>
              <a:rPr lang="en-US" altLang="zh-CN">
                <a:latin typeface="Arial" charset="0"/>
              </a:rPr>
              <a:t>“</a:t>
            </a:r>
            <a:r>
              <a:rPr lang="el-GR" altLang="zh-CN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/>
              <a:t>(1)</a:t>
            </a:r>
            <a:r>
              <a:rPr lang="en-US" altLang="zh-CN">
                <a:latin typeface="Arial" charset="0"/>
              </a:rPr>
              <a:t>”</a:t>
            </a:r>
            <a:r>
              <a:rPr lang="en-US" altLang="zh-CN"/>
              <a:t>≤c</a:t>
            </a:r>
            <a:r>
              <a:rPr lang="en-US" altLang="zh-CN" baseline="-25000"/>
              <a:t>1</a:t>
            </a:r>
            <a:r>
              <a:rPr lang="en-US" altLang="zh-CN"/>
              <a:t>n</a:t>
            </a:r>
            <a:r>
              <a:rPr lang="en-US" altLang="zh-CN" baseline="30000"/>
              <a:t>2</a:t>
            </a:r>
            <a:r>
              <a:rPr lang="en-US" altLang="zh-CN"/>
              <a:t>-c</a:t>
            </a:r>
            <a:r>
              <a:rPr lang="en-US" altLang="zh-CN" baseline="-25000"/>
              <a:t>2</a:t>
            </a:r>
            <a:r>
              <a:rPr lang="en-US" altLang="zh-CN"/>
              <a:t>n,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if we pick 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 i="1"/>
              <a:t> </a:t>
            </a:r>
            <a:r>
              <a:rPr lang="en-US" altLang="zh-CN"/>
              <a:t>big enough.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Master</a:t>
            </a:r>
            <a:r>
              <a:rPr lang="zh-CN" altLang="en-US"/>
              <a:t>方法（</a:t>
            </a:r>
            <a:r>
              <a:rPr lang="en-US" altLang="zh-CN"/>
              <a:t>The Master Method)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itchFamily="18" charset="0"/>
              </a:rPr>
              <a:t>The master method</a:t>
            </a:r>
            <a:r>
              <a:rPr lang="zh-CN" altLang="en-US" b="1">
                <a:latin typeface="Times New Roman" pitchFamily="18" charset="0"/>
              </a:rPr>
              <a:t>用来解下述递归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i="1">
                <a:latin typeface="Times New Roman" pitchFamily="18" charset="0"/>
              </a:rPr>
              <a:t>          </a:t>
            </a:r>
            <a:r>
              <a:rPr lang="en-US" altLang="zh-CN" i="1">
                <a:latin typeface="Times New Roman" pitchFamily="18" charset="0"/>
              </a:rPr>
              <a:t>T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)=</a:t>
            </a:r>
            <a:r>
              <a:rPr lang="en-US" altLang="zh-CN" i="1">
                <a:latin typeface="Times New Roman" pitchFamily="18" charset="0"/>
              </a:rPr>
              <a:t>aT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/</a:t>
            </a:r>
            <a:r>
              <a:rPr lang="en-US" altLang="zh-CN" i="1">
                <a:latin typeface="Times New Roman" pitchFamily="18" charset="0"/>
              </a:rPr>
              <a:t>b</a:t>
            </a:r>
            <a:r>
              <a:rPr lang="en-US" altLang="zh-CN">
                <a:latin typeface="Times New Roman" pitchFamily="18" charset="0"/>
              </a:rPr>
              <a:t>)+</a:t>
            </a:r>
            <a:r>
              <a:rPr lang="en-US" altLang="zh-CN" i="1">
                <a:latin typeface="Times New Roman" pitchFamily="18" charset="0"/>
              </a:rPr>
              <a:t>f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) ,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Times New Roman" pitchFamily="18" charset="0"/>
              </a:rPr>
              <a:t>   </a:t>
            </a:r>
            <a:r>
              <a:rPr lang="zh-CN" altLang="en-US" b="1">
                <a:latin typeface="Times New Roman" pitchFamily="18" charset="0"/>
              </a:rPr>
              <a:t>式中</a:t>
            </a:r>
            <a:r>
              <a:rPr lang="en-US" altLang="zh-CN" i="1">
                <a:latin typeface="Times New Roman" pitchFamily="18" charset="0"/>
              </a:rPr>
              <a:t>a</a:t>
            </a:r>
            <a:r>
              <a:rPr lang="en-US" altLang="zh-CN">
                <a:latin typeface="Times New Roman" pitchFamily="18" charset="0"/>
              </a:rPr>
              <a:t>≥1, </a:t>
            </a:r>
            <a:r>
              <a:rPr lang="en-US" altLang="zh-CN" i="1">
                <a:latin typeface="Times New Roman" pitchFamily="18" charset="0"/>
              </a:rPr>
              <a:t>b</a:t>
            </a:r>
            <a:r>
              <a:rPr lang="en-US" altLang="zh-CN">
                <a:latin typeface="Times New Roman" pitchFamily="18" charset="0"/>
              </a:rPr>
              <a:t>&gt;1, </a:t>
            </a:r>
            <a:r>
              <a:rPr lang="zh-CN" altLang="en-US" b="1">
                <a:latin typeface="Times New Roman" pitchFamily="18" charset="0"/>
              </a:rPr>
              <a:t>为整数</a:t>
            </a:r>
            <a:r>
              <a:rPr lang="en-US" altLang="zh-CN" b="1">
                <a:latin typeface="Times New Roman" pitchFamily="18" charset="0"/>
              </a:rPr>
              <a:t>, </a:t>
            </a:r>
            <a:r>
              <a:rPr lang="en-US" altLang="zh-CN" i="1">
                <a:latin typeface="Times New Roman" pitchFamily="18" charset="0"/>
              </a:rPr>
              <a:t>f</a:t>
            </a:r>
            <a:r>
              <a:rPr lang="en-US" altLang="zh-CN">
                <a:latin typeface="Times New Roman" pitchFamily="18" charset="0"/>
              </a:rPr>
              <a:t>(n)&gt;0.</a:t>
            </a:r>
          </a:p>
          <a:p>
            <a:pPr eaLnBrk="1" hangingPunct="1"/>
            <a:r>
              <a:rPr lang="zh-CN" altLang="en-US" b="1">
                <a:latin typeface="Times New Roman" pitchFamily="18" charset="0"/>
              </a:rPr>
              <a:t>按</a:t>
            </a:r>
            <a:r>
              <a:rPr lang="en-US" altLang="zh-CN" i="1">
                <a:latin typeface="Times New Roman" pitchFamily="18" charset="0"/>
              </a:rPr>
              <a:t>f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>
                <a:latin typeface="Times New Roman" pitchFamily="18" charset="0"/>
              </a:rPr>
              <a:t>)</a:t>
            </a:r>
            <a:r>
              <a:rPr lang="zh-CN" altLang="en-US" b="1">
                <a:latin typeface="Times New Roman" pitchFamily="18" charset="0"/>
              </a:rPr>
              <a:t>相对于</a:t>
            </a:r>
            <a:r>
              <a:rPr lang="en-US" altLang="zh-CN" i="1">
                <a:latin typeface="Times New Roman" pitchFamily="18" charset="0"/>
              </a:rPr>
              <a:t>n</a:t>
            </a:r>
            <a:r>
              <a:rPr lang="en-US" altLang="zh-CN" baseline="30000">
                <a:latin typeface="Times New Roman" pitchFamily="18" charset="0"/>
              </a:rPr>
              <a:t>log</a:t>
            </a:r>
            <a:r>
              <a:rPr lang="en-US" altLang="zh-CN" i="1" baseline="30000">
                <a:latin typeface="Times New Roman" pitchFamily="18" charset="0"/>
              </a:rPr>
              <a:t>a </a:t>
            </a:r>
            <a:r>
              <a:rPr lang="zh-CN" altLang="en-US" b="1">
                <a:latin typeface="Times New Roman" pitchFamily="18" charset="0"/>
              </a:rPr>
              <a:t>的渐近性质</a:t>
            </a:r>
            <a:r>
              <a:rPr lang="en-US" altLang="zh-CN">
                <a:latin typeface="Times New Roman" pitchFamily="18" charset="0"/>
              </a:rPr>
              <a:t>, </a:t>
            </a:r>
            <a:r>
              <a:rPr lang="zh-CN" altLang="en-US" b="1">
                <a:latin typeface="Times New Roman" pitchFamily="18" charset="0"/>
              </a:rPr>
              <a:t>分三种情形进行分析</a:t>
            </a:r>
            <a:r>
              <a:rPr lang="en-US" altLang="zh-CN" b="1">
                <a:latin typeface="Times New Roman" pitchFamily="18" charset="0"/>
              </a:rPr>
              <a:t>.</a:t>
            </a:r>
            <a:endParaRPr lang="en-US" altLang="zh-CN">
              <a:latin typeface="Times New Roman" pitchFamily="18" charset="0"/>
            </a:endParaRPr>
          </a:p>
          <a:p>
            <a:pPr eaLnBrk="1" hangingPunct="1"/>
            <a:r>
              <a:rPr lang="zh-CN" altLang="en-US" b="1">
                <a:latin typeface="Times New Roman" pitchFamily="18" charset="0"/>
              </a:rPr>
              <a:t>这里</a:t>
            </a:r>
            <a:r>
              <a:rPr lang="en-US" altLang="zh-CN">
                <a:latin typeface="Times New Roman" pitchFamily="18" charset="0"/>
              </a:rPr>
              <a:t>loga </a:t>
            </a:r>
            <a:r>
              <a:rPr lang="zh-CN" altLang="en-US" b="1">
                <a:latin typeface="Times New Roman" pitchFamily="18" charset="0"/>
              </a:rPr>
              <a:t>指以</a:t>
            </a:r>
            <a:r>
              <a:rPr lang="en-US" altLang="zh-CN">
                <a:latin typeface="Times New Roman" pitchFamily="18" charset="0"/>
              </a:rPr>
              <a:t>b</a:t>
            </a:r>
            <a:r>
              <a:rPr lang="zh-CN" altLang="en-US" b="1">
                <a:latin typeface="Times New Roman" pitchFamily="18" charset="0"/>
              </a:rPr>
              <a:t>为底的</a:t>
            </a:r>
            <a:r>
              <a:rPr lang="en-US" altLang="zh-CN">
                <a:latin typeface="Times New Roman" pitchFamily="18" charset="0"/>
              </a:rPr>
              <a:t>a</a:t>
            </a:r>
            <a:r>
              <a:rPr lang="zh-CN" altLang="en-US" b="1">
                <a:latin typeface="Times New Roman" pitchFamily="18" charset="0"/>
              </a:rPr>
              <a:t>的对数</a:t>
            </a:r>
            <a:r>
              <a:rPr lang="en-US" altLang="zh-CN">
                <a:latin typeface="Times New Roman" pitchFamily="18" charset="0"/>
              </a:rPr>
              <a:t>log</a:t>
            </a:r>
            <a:r>
              <a:rPr lang="en-US" altLang="zh-CN" baseline="-25000">
                <a:latin typeface="Times New Roman" pitchFamily="18" charset="0"/>
              </a:rPr>
              <a:t>b</a:t>
            </a:r>
            <a:r>
              <a:rPr lang="en-US" altLang="zh-CN">
                <a:latin typeface="Times New Roman" pitchFamily="18" charset="0"/>
              </a:rPr>
              <a:t>a</a:t>
            </a:r>
            <a:r>
              <a:rPr lang="en-US" altLang="zh-CN"/>
              <a:t>.</a:t>
            </a:r>
            <a:endParaRPr lang="en-US" altLang="zh-CN" b="1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The Master Method:</a:t>
            </a:r>
            <a:r>
              <a:rPr lang="zh-CN" altLang="en-US" b="1"/>
              <a:t>情形</a:t>
            </a:r>
            <a:r>
              <a:rPr lang="en-US" altLang="zh-CN"/>
              <a:t>1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情形</a:t>
            </a:r>
            <a:r>
              <a:rPr lang="en-US" altLang="zh-CN"/>
              <a:t>1.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    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 i="1"/>
              <a:t>O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 baseline="30000">
                <a:latin typeface="Dotum" pitchFamily="34" charset="-127"/>
                <a:ea typeface="Dotum" pitchFamily="34" charset="-127"/>
              </a:rPr>
              <a:t>–</a:t>
            </a:r>
            <a:r>
              <a:rPr lang="el-GR" altLang="zh-CN" baseline="3000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>
                <a:ea typeface="Dotum" pitchFamily="34" charset="-127"/>
              </a:rPr>
              <a:t>)</a:t>
            </a:r>
            <a:r>
              <a:rPr lang="en-US" altLang="zh-CN"/>
              <a:t>, </a:t>
            </a:r>
            <a:r>
              <a:rPr lang="el-GR" altLang="zh-CN">
                <a:latin typeface="Dotum" pitchFamily="34" charset="-127"/>
                <a:ea typeface="Dotum" pitchFamily="34" charset="-127"/>
                <a:cs typeface="Arial" charset="0"/>
              </a:rPr>
              <a:t>ε</a:t>
            </a:r>
            <a:r>
              <a:rPr lang="en-US" altLang="zh-CN"/>
              <a:t>&gt;0,</a:t>
            </a:r>
            <a:r>
              <a:rPr lang="zh-CN" altLang="en-US"/>
              <a:t>为</a:t>
            </a:r>
            <a:r>
              <a:rPr lang="zh-CN" altLang="en-US" b="1"/>
              <a:t>某一常数</a:t>
            </a:r>
            <a:endParaRPr lang="zh-CN" altLang="en-US"/>
          </a:p>
          <a:p>
            <a:pPr eaLnBrk="1" hangingPunct="1">
              <a:buFont typeface="Wingdings" pitchFamily="2" charset="2"/>
              <a:buNone/>
            </a:pPr>
            <a:r>
              <a:rPr lang="zh-CN" altLang="en-US" i="1"/>
              <a:t>  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 b="1"/>
              <a:t>的增长渐近地慢于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 i="1"/>
              <a:t> </a:t>
            </a:r>
            <a:r>
              <a:rPr lang="en-US" altLang="zh-CN"/>
              <a:t>(</a:t>
            </a:r>
            <a:r>
              <a:rPr lang="zh-CN" altLang="en-US" b="1"/>
              <a:t>慢</a:t>
            </a:r>
            <a:r>
              <a:rPr lang="zh-CN" altLang="en-US"/>
              <a:t> </a:t>
            </a:r>
            <a:r>
              <a:rPr lang="en-US" altLang="zh-CN" i="1"/>
              <a:t>n</a:t>
            </a:r>
            <a:r>
              <a:rPr lang="el-GR" altLang="zh-CN" baseline="3000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/>
              <a:t> </a:t>
            </a:r>
            <a:r>
              <a:rPr lang="zh-CN" altLang="en-US" b="1"/>
              <a:t>倍</a:t>
            </a:r>
            <a:r>
              <a:rPr lang="en-US" altLang="zh-CN"/>
              <a:t>).</a:t>
            </a:r>
          </a:p>
          <a:p>
            <a:pPr eaLnBrk="1" hangingPunct="1"/>
            <a:r>
              <a:rPr lang="en-US" altLang="zh-CN" b="1" i="1"/>
              <a:t>Solution: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l-GR" altLang="zh-CN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/>
              <a:t>) 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The Master Method:</a:t>
            </a:r>
            <a:r>
              <a:rPr lang="zh-CN" altLang="en-US" b="1"/>
              <a:t>情形</a:t>
            </a:r>
            <a:r>
              <a:rPr lang="en-US" altLang="zh-CN"/>
              <a:t>2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情形</a:t>
            </a:r>
            <a:r>
              <a:rPr lang="en-US" altLang="zh-CN"/>
              <a:t>2: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i="1"/>
              <a:t>   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 i="1"/>
              <a:t> </a:t>
            </a:r>
            <a:r>
              <a:rPr lang="en-US" altLang="zh-CN"/>
              <a:t>lg</a:t>
            </a:r>
            <a:r>
              <a:rPr lang="en-US" altLang="zh-CN" i="1" baseline="30000"/>
              <a:t>k</a:t>
            </a:r>
            <a:r>
              <a:rPr lang="en-US" altLang="zh-CN" i="1"/>
              <a:t>n</a:t>
            </a:r>
            <a:r>
              <a:rPr lang="en-US" altLang="zh-CN"/>
              <a:t>) </a:t>
            </a:r>
            <a:r>
              <a:rPr lang="en-US" altLang="zh-CN" i="1"/>
              <a:t>k</a:t>
            </a:r>
            <a:r>
              <a:rPr lang="en-US" altLang="zh-CN"/>
              <a:t>≥0 </a:t>
            </a:r>
            <a:r>
              <a:rPr lang="zh-CN" altLang="en-US" b="1"/>
              <a:t>为某一常数</a:t>
            </a:r>
            <a:r>
              <a:rPr lang="en-US" altLang="zh-CN"/>
              <a:t>.</a:t>
            </a:r>
          </a:p>
          <a:p>
            <a:pPr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 </a:t>
            </a:r>
            <a:r>
              <a:rPr lang="zh-CN" altLang="en-US" b="1"/>
              <a:t>和</a:t>
            </a:r>
            <a:r>
              <a:rPr lang="zh-CN" altLang="en-US"/>
              <a:t> 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 i="1"/>
              <a:t> </a:t>
            </a:r>
            <a:r>
              <a:rPr lang="zh-CN" altLang="en-US" b="1"/>
              <a:t>几乎有相同的渐近增长率</a:t>
            </a:r>
            <a:r>
              <a:rPr lang="en-US" altLang="zh-CN"/>
              <a:t>.</a:t>
            </a:r>
            <a:endParaRPr lang="en-US" altLang="el-GR" b="1">
              <a:latin typeface="Dotum" pitchFamily="34" charset="-127"/>
              <a:ea typeface="Dotum" pitchFamily="34" charset="-127"/>
            </a:endParaRPr>
          </a:p>
          <a:p>
            <a:pPr eaLnBrk="1" hangingPunct="1"/>
            <a:r>
              <a:rPr lang="en-US" altLang="zh-CN" b="1" i="1"/>
              <a:t>Solution: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 i="1"/>
              <a:t> </a:t>
            </a:r>
            <a:r>
              <a:rPr lang="en-US" altLang="zh-CN"/>
              <a:t>lg</a:t>
            </a:r>
            <a:r>
              <a:rPr lang="en-US" altLang="zh-CN" i="1" baseline="30000"/>
              <a:t>k</a:t>
            </a:r>
            <a:r>
              <a:rPr lang="en-US" altLang="zh-CN" baseline="30000"/>
              <a:t>+1</a:t>
            </a:r>
            <a:r>
              <a:rPr lang="en-US" altLang="zh-CN" i="1"/>
              <a:t>n</a:t>
            </a:r>
            <a:r>
              <a:rPr lang="en-US" altLang="zh-CN"/>
              <a:t>) 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The Master Method:</a:t>
            </a:r>
            <a:r>
              <a:rPr lang="zh-CN" altLang="en-US" b="1"/>
              <a:t>情形</a:t>
            </a:r>
            <a:r>
              <a:rPr lang="en-US" altLang="zh-CN"/>
              <a:t>3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情形</a:t>
            </a:r>
            <a:r>
              <a:rPr lang="en-US" altLang="zh-CN"/>
              <a:t>3</a:t>
            </a:r>
          </a:p>
          <a:p>
            <a:pPr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 </a:t>
            </a:r>
            <a:r>
              <a:rPr lang="en-US" altLang="zh-CN" baseline="30000">
                <a:latin typeface="Dotum" pitchFamily="34" charset="-127"/>
                <a:ea typeface="Dotum" pitchFamily="34" charset="-127"/>
              </a:rPr>
              <a:t>+</a:t>
            </a:r>
            <a:r>
              <a:rPr lang="el-GR" altLang="zh-CN" baseline="3000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)</a:t>
            </a:r>
            <a:r>
              <a:rPr lang="en-US" altLang="zh-CN"/>
              <a:t> ε&gt;0</a:t>
            </a:r>
            <a:r>
              <a:rPr lang="zh-CN" altLang="en-US" b="1"/>
              <a:t>为一常数</a:t>
            </a:r>
            <a:r>
              <a:rPr lang="en-US" altLang="zh-CN"/>
              <a:t>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i="1"/>
              <a:t>   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 b="1"/>
              <a:t>多项式地快于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 i="1"/>
              <a:t> </a:t>
            </a:r>
            <a:r>
              <a:rPr lang="en-US" altLang="zh-CN"/>
              <a:t>(by an </a:t>
            </a:r>
            <a:r>
              <a:rPr lang="en-US" altLang="zh-CN" i="1"/>
              <a:t>n</a:t>
            </a:r>
            <a:r>
              <a:rPr lang="el-GR" altLang="zh-CN" baseline="3000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/>
              <a:t> factor),</a:t>
            </a:r>
          </a:p>
          <a:p>
            <a:pPr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 </a:t>
            </a:r>
            <a:r>
              <a:rPr lang="zh-CN" altLang="en-US" b="1"/>
              <a:t>满足以下规则性条件</a:t>
            </a:r>
            <a:r>
              <a:rPr lang="en-US" altLang="zh-CN"/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i="1"/>
              <a:t>   af</a:t>
            </a:r>
            <a:r>
              <a:rPr lang="en-US" altLang="zh-CN"/>
              <a:t>(</a:t>
            </a:r>
            <a:r>
              <a:rPr lang="en-US" altLang="zh-CN" i="1"/>
              <a:t>n/b</a:t>
            </a:r>
            <a:r>
              <a:rPr lang="en-US" altLang="zh-CN"/>
              <a:t>)≤</a:t>
            </a:r>
            <a:r>
              <a:rPr lang="en-US" altLang="zh-CN" i="1"/>
              <a:t>cf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), 0&lt;</a:t>
            </a:r>
            <a:r>
              <a:rPr lang="en-US" altLang="zh-CN" i="1"/>
              <a:t>c</a:t>
            </a:r>
            <a:r>
              <a:rPr lang="en-US" altLang="zh-CN"/>
              <a:t>&lt;1 </a:t>
            </a:r>
            <a:r>
              <a:rPr lang="zh-CN" altLang="en-US" b="1"/>
              <a:t>为常数</a:t>
            </a:r>
            <a:r>
              <a:rPr lang="en-US" altLang="zh-CN"/>
              <a:t>.</a:t>
            </a:r>
          </a:p>
          <a:p>
            <a:pPr eaLnBrk="1" hangingPunct="1"/>
            <a:r>
              <a:rPr lang="en-US" altLang="zh-CN" b="1" i="1"/>
              <a:t>Solution: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 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b="1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)) 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Example 1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)=4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/2)+</a:t>
            </a:r>
            <a:r>
              <a:rPr lang="en-US" altLang="zh-CN" i="1"/>
              <a:t>n</a:t>
            </a:r>
          </a:p>
          <a:p>
            <a:pPr eaLnBrk="1" hangingPunct="1"/>
            <a:r>
              <a:rPr lang="en-US" altLang="zh-CN" i="1"/>
              <a:t>a=</a:t>
            </a:r>
            <a:r>
              <a:rPr lang="en-US" altLang="zh-CN"/>
              <a:t>4, </a:t>
            </a:r>
            <a:r>
              <a:rPr lang="en-US" altLang="zh-CN" i="1"/>
              <a:t>b</a:t>
            </a:r>
            <a:r>
              <a:rPr lang="en-US" altLang="zh-CN"/>
              <a:t>=2⇒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/>
              <a:t>=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;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 i="1"/>
              <a:t>n.</a:t>
            </a:r>
          </a:p>
          <a:p>
            <a:pPr eaLnBrk="1" hangingPunct="1"/>
            <a:r>
              <a:rPr lang="zh-CN" altLang="en-US" b="1"/>
              <a:t>情形</a:t>
            </a:r>
            <a:r>
              <a:rPr lang="en-US" altLang="zh-CN"/>
              <a:t>1: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 i="1"/>
              <a:t>O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 baseline="30000">
                <a:latin typeface="Arial" charset="0"/>
              </a:rPr>
              <a:t>–</a:t>
            </a:r>
            <a:r>
              <a:rPr lang="en-US" altLang="zh-CN" baseline="30000">
                <a:ea typeface="Dotum" pitchFamily="34" charset="-127"/>
              </a:rPr>
              <a:t>ε</a:t>
            </a:r>
            <a:r>
              <a:rPr lang="en-US" altLang="zh-CN"/>
              <a:t>) for </a:t>
            </a:r>
            <a:r>
              <a:rPr lang="en-US" altLang="zh-CN">
                <a:ea typeface="Dotum" pitchFamily="34" charset="-127"/>
              </a:rPr>
              <a:t>ε</a:t>
            </a:r>
            <a:r>
              <a:rPr lang="en-US" altLang="zh-CN"/>
              <a:t>=1.</a:t>
            </a:r>
          </a:p>
          <a:p>
            <a:pPr eaLnBrk="1" hangingPunct="1"/>
            <a:r>
              <a:rPr lang="en-US" altLang="zh-CN"/>
              <a:t>∴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 =</a:t>
            </a:r>
            <a:r>
              <a:rPr lang="en-US" altLang="zh-CN">
                <a:ea typeface="Dotum" pitchFamily="34" charset="-127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).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Example 2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)=4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/2)+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i="1"/>
              <a:t>   a=</a:t>
            </a:r>
            <a:r>
              <a:rPr lang="en-US" altLang="zh-CN"/>
              <a:t>4, </a:t>
            </a:r>
            <a:r>
              <a:rPr lang="en-US" altLang="zh-CN" i="1"/>
              <a:t>b</a:t>
            </a:r>
            <a:r>
              <a:rPr lang="en-US" altLang="zh-CN"/>
              <a:t>=2⇒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/>
              <a:t>=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; </a:t>
            </a:r>
            <a:r>
              <a:rPr lang="en-US" altLang="zh-CN" i="1"/>
              <a:t>f 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 i="1"/>
              <a:t>.</a:t>
            </a:r>
          </a:p>
          <a:p>
            <a:pPr eaLnBrk="1" hangingPunct="1"/>
            <a:r>
              <a:rPr lang="zh-CN" altLang="en-US" b="1"/>
              <a:t>情形</a:t>
            </a:r>
            <a:r>
              <a:rPr lang="zh-CN" altLang="en-US"/>
              <a:t> </a:t>
            </a:r>
            <a:r>
              <a:rPr lang="en-US" altLang="zh-CN"/>
              <a:t>2: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>
                <a:ea typeface="Dotum" pitchFamily="34" charset="-127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lg</a:t>
            </a:r>
            <a:r>
              <a:rPr lang="en-US" altLang="zh-CN" baseline="30000"/>
              <a:t>0</a:t>
            </a:r>
            <a:r>
              <a:rPr lang="en-US" altLang="zh-CN" i="1"/>
              <a:t>n</a:t>
            </a:r>
            <a:r>
              <a:rPr lang="en-US" altLang="zh-CN"/>
              <a:t>), </a:t>
            </a:r>
            <a:r>
              <a:rPr lang="en-US" altLang="zh-CN" i="1"/>
              <a:t>k </a:t>
            </a:r>
            <a:r>
              <a:rPr lang="en-US" altLang="zh-CN"/>
              <a:t>= 0.</a:t>
            </a:r>
          </a:p>
          <a:p>
            <a:pPr eaLnBrk="1" hangingPunct="1"/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>
                <a:ea typeface="Dotum" pitchFamily="34" charset="-127"/>
              </a:rPr>
              <a:t>Θ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 baseline="30000"/>
              <a:t>2</a:t>
            </a:r>
            <a:r>
              <a:rPr lang="en-US" altLang="zh-CN"/>
              <a:t>lg</a:t>
            </a:r>
            <a:r>
              <a:rPr lang="en-US" altLang="zh-CN" i="1"/>
              <a:t>n</a:t>
            </a:r>
            <a:r>
              <a:rPr lang="en-US" altLang="zh-CN"/>
              <a:t>).</a:t>
            </a: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Example 3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)=4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/2)+</a:t>
            </a:r>
            <a:r>
              <a:rPr lang="en-US" altLang="zh-CN" i="1" dirty="0"/>
              <a:t>n</a:t>
            </a:r>
            <a:r>
              <a:rPr lang="en-US" altLang="zh-CN" baseline="30000" dirty="0"/>
              <a:t>3</a:t>
            </a:r>
          </a:p>
          <a:p>
            <a:pPr eaLnBrk="1" hangingPunct="1"/>
            <a:r>
              <a:rPr lang="en-US" altLang="zh-CN" i="1" dirty="0"/>
              <a:t>a=</a:t>
            </a:r>
            <a:r>
              <a:rPr lang="en-US" altLang="zh-CN" dirty="0"/>
              <a:t>4, </a:t>
            </a:r>
            <a:r>
              <a:rPr lang="en-US" altLang="zh-CN" i="1" dirty="0"/>
              <a:t>b</a:t>
            </a:r>
            <a:r>
              <a:rPr lang="en-US" altLang="zh-CN" dirty="0"/>
              <a:t>=2 ⇒ </a:t>
            </a:r>
            <a:r>
              <a:rPr lang="en-US" altLang="zh-CN" i="1" dirty="0" err="1"/>
              <a:t>n</a:t>
            </a:r>
            <a:r>
              <a:rPr lang="en-US" altLang="zh-CN" baseline="30000" dirty="0" err="1"/>
              <a:t>log</a:t>
            </a:r>
            <a:r>
              <a:rPr lang="en-US" altLang="zh-CN" i="1" baseline="30000" dirty="0" err="1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n</a:t>
            </a:r>
            <a:r>
              <a:rPr lang="en-US" altLang="zh-CN" baseline="30000" dirty="0"/>
              <a:t>2</a:t>
            </a:r>
            <a:r>
              <a:rPr lang="en-US" altLang="zh-CN" dirty="0"/>
              <a:t>;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)=</a:t>
            </a:r>
            <a:r>
              <a:rPr lang="en-US" altLang="zh-CN" i="1" dirty="0"/>
              <a:t>n</a:t>
            </a:r>
            <a:r>
              <a:rPr lang="en-US" altLang="zh-CN" baseline="30000" dirty="0"/>
              <a:t>3</a:t>
            </a:r>
            <a:r>
              <a:rPr lang="en-US" altLang="zh-CN" i="1" dirty="0"/>
              <a:t>.</a:t>
            </a:r>
          </a:p>
          <a:p>
            <a:pPr eaLnBrk="1" hangingPunct="1"/>
            <a:r>
              <a:rPr lang="en-US" altLang="zh-CN" b="1" dirty="0"/>
              <a:t>CASE 3</a:t>
            </a:r>
            <a:r>
              <a:rPr lang="en-US" altLang="zh-CN" dirty="0"/>
              <a:t>: </a:t>
            </a:r>
            <a:r>
              <a:rPr lang="en-US" altLang="zh-CN" i="1" dirty="0"/>
              <a:t>f 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Ω(</a:t>
            </a:r>
            <a:r>
              <a:rPr lang="en-US" altLang="zh-CN" i="1" dirty="0"/>
              <a:t>n</a:t>
            </a:r>
            <a:r>
              <a:rPr lang="en-US" altLang="zh-CN" baseline="30000" dirty="0"/>
              <a:t>2+</a:t>
            </a:r>
            <a:r>
              <a:rPr lang="en-US" altLang="zh-CN" baseline="30000" dirty="0">
                <a:ea typeface="Dotum" pitchFamily="34" charset="-127"/>
              </a:rPr>
              <a:t>ε</a:t>
            </a:r>
            <a:r>
              <a:rPr lang="en-US" altLang="zh-CN" dirty="0"/>
              <a:t>) for </a:t>
            </a:r>
            <a:r>
              <a:rPr lang="en-US" altLang="zh-CN" dirty="0">
                <a:ea typeface="Dotum" pitchFamily="34" charset="-127"/>
              </a:rPr>
              <a:t>ε</a:t>
            </a:r>
            <a:r>
              <a:rPr lang="en-US" altLang="zh-CN" dirty="0"/>
              <a:t>=1</a:t>
            </a:r>
          </a:p>
          <a:p>
            <a:pPr eaLnBrk="1" hangingPunct="1"/>
            <a:r>
              <a:rPr lang="en-US" altLang="zh-CN" b="1" i="1" dirty="0"/>
              <a:t>and </a:t>
            </a:r>
            <a:r>
              <a:rPr lang="en-US" altLang="zh-CN" dirty="0"/>
              <a:t>4(</a:t>
            </a:r>
            <a:r>
              <a:rPr lang="en-US" altLang="zh-CN" i="1" dirty="0"/>
              <a:t>n</a:t>
            </a:r>
            <a:r>
              <a:rPr lang="en-US" altLang="zh-CN" dirty="0"/>
              <a:t>/2)</a:t>
            </a:r>
            <a:r>
              <a:rPr lang="en-US" altLang="zh-CN" baseline="30000" dirty="0"/>
              <a:t>3</a:t>
            </a:r>
            <a:r>
              <a:rPr lang="en-US" altLang="zh-CN" dirty="0"/>
              <a:t>≤</a:t>
            </a:r>
            <a:r>
              <a:rPr lang="en-US" altLang="zh-CN" i="1" dirty="0"/>
              <a:t>cn</a:t>
            </a:r>
            <a:r>
              <a:rPr lang="en-US" altLang="zh-CN" baseline="30000" dirty="0"/>
              <a:t>3</a:t>
            </a:r>
            <a:r>
              <a:rPr lang="en-US" altLang="zh-CN" dirty="0"/>
              <a:t> (reg. cond.) for </a:t>
            </a:r>
            <a:r>
              <a:rPr lang="en-US" altLang="zh-CN" i="1" dirty="0"/>
              <a:t>c</a:t>
            </a:r>
            <a:r>
              <a:rPr lang="en-US" altLang="zh-CN" dirty="0"/>
              <a:t>=1/2.</a:t>
            </a:r>
          </a:p>
          <a:p>
            <a:pPr eaLnBrk="1" hangingPunct="1"/>
            <a:r>
              <a:rPr lang="en-US" altLang="zh-CN" dirty="0"/>
              <a:t>∴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)=</a:t>
            </a:r>
            <a:r>
              <a:rPr lang="en-US" altLang="zh-CN" dirty="0">
                <a:ea typeface="Dotum" pitchFamily="34" charset="-127"/>
              </a:rPr>
              <a:t>Θ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baseline="30000" dirty="0"/>
              <a:t>3</a:t>
            </a:r>
            <a:r>
              <a:rPr lang="en-US" altLang="zh-CN" dirty="0"/>
              <a:t>).</a:t>
            </a:r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Idea of the Master method</a:t>
            </a:r>
          </a:p>
        </p:txBody>
      </p:sp>
      <p:pic>
        <p:nvPicPr>
          <p:cNvPr id="39939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468313" y="1844675"/>
            <a:ext cx="8064500" cy="4464050"/>
          </a:xfr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Idea of the Master method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从递归树可知</a:t>
            </a:r>
            <a:r>
              <a:rPr lang="en-US" altLang="zh-CN"/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 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T(n)= 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f(n/b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Tahoma" pitchFamily="34" charset="0"/>
                <a:ea typeface="Dotum" pitchFamily="34" charset="-127"/>
              </a:rPr>
              <a:t>        =a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f(b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h-k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Tahoma" pitchFamily="34" charset="0"/>
                <a:ea typeface="Dotum" pitchFamily="34" charset="-127"/>
              </a:rPr>
              <a:t>        =n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loga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f(b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h-k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/>
            <a:r>
              <a:rPr lang="en-US" altLang="zh-CN">
                <a:latin typeface="Tahoma" pitchFamily="34" charset="0"/>
              </a:rPr>
              <a:t>T(n)</a:t>
            </a:r>
            <a:r>
              <a:rPr lang="zh-CN" altLang="en-US" b="1">
                <a:latin typeface="Tahoma" pitchFamily="34" charset="0"/>
              </a:rPr>
              <a:t>的渐近性质由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n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loga</a:t>
            </a:r>
            <a:r>
              <a:rPr lang="zh-CN" altLang="en-US" b="1">
                <a:latin typeface="Tahoma" pitchFamily="34" charset="0"/>
              </a:rPr>
              <a:t>和</a:t>
            </a:r>
            <a:r>
              <a:rPr lang="zh-CN" altLang="en-US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f(b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h-k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)</a:t>
            </a:r>
            <a:r>
              <a:rPr lang="zh-CN" altLang="en-US">
                <a:latin typeface="Tahoma" pitchFamily="34" charset="0"/>
                <a:ea typeface="Dotum" pitchFamily="34" charset="-127"/>
              </a:rPr>
              <a:t>的</a:t>
            </a:r>
            <a:r>
              <a:rPr lang="zh-CN" altLang="en-US" b="1">
                <a:latin typeface="Tahoma" pitchFamily="34" charset="0"/>
              </a:rPr>
              <a:t>渐近性质决定</a:t>
            </a:r>
            <a:r>
              <a:rPr lang="en-US" altLang="zh-CN">
                <a:latin typeface="Tahoma" pitchFamily="34" charset="0"/>
              </a:rPr>
              <a:t>:</a:t>
            </a:r>
            <a:r>
              <a:rPr lang="zh-CN" altLang="en-US" b="1">
                <a:latin typeface="Tahoma" pitchFamily="34" charset="0"/>
              </a:rPr>
              <a:t>两者中阶较高的决定！</a:t>
            </a:r>
          </a:p>
          <a:p>
            <a:pPr eaLnBrk="1" hangingPunct="1"/>
            <a:r>
              <a:rPr lang="zh-CN" altLang="en-US" b="1">
                <a:latin typeface="Tahoma" pitchFamily="34" charset="0"/>
              </a:rPr>
              <a:t>为什么要比较</a:t>
            </a:r>
            <a:r>
              <a:rPr lang="en-US" altLang="zh-CN">
                <a:latin typeface="Tahoma" pitchFamily="34" charset="0"/>
              </a:rPr>
              <a:t>f(n)</a:t>
            </a:r>
            <a:r>
              <a:rPr lang="zh-CN" altLang="en-US">
                <a:latin typeface="Tahoma" pitchFamily="34" charset="0"/>
              </a:rPr>
              <a:t>和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n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loga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 </a:t>
            </a:r>
            <a:r>
              <a:rPr lang="zh-CN" altLang="en-US" b="1">
                <a:latin typeface="Tahoma" pitchFamily="34" charset="0"/>
              </a:rPr>
              <a:t>的原因！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Master </a:t>
            </a:r>
            <a:r>
              <a:rPr lang="zh-CN" altLang="en-US" b="1" dirty="0"/>
              <a:t>方法分析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n=</a:t>
            </a:r>
            <a:r>
              <a:rPr lang="en-US" altLang="zh-CN" dirty="0" err="1"/>
              <a:t>b</a:t>
            </a:r>
            <a:r>
              <a:rPr lang="en-US" altLang="zh-CN" baseline="30000" dirty="0" err="1"/>
              <a:t>h</a:t>
            </a:r>
            <a:r>
              <a:rPr lang="en-US" altLang="zh-CN" dirty="0"/>
              <a:t>, h=</a:t>
            </a:r>
            <a:r>
              <a:rPr lang="en-US" altLang="zh-CN" dirty="0" err="1"/>
              <a:t>log</a:t>
            </a:r>
            <a:r>
              <a:rPr lang="en-US" altLang="zh-CN" baseline="-25000" dirty="0" err="1"/>
              <a:t>b</a:t>
            </a:r>
            <a:r>
              <a:rPr lang="en-US" altLang="zh-CN" dirty="0" err="1"/>
              <a:t>n,n</a:t>
            </a:r>
            <a:r>
              <a:rPr lang="en-US" altLang="zh-CN" baseline="30000" dirty="0" err="1"/>
              <a:t>loga</a:t>
            </a:r>
            <a:r>
              <a:rPr lang="en-US" altLang="zh-CN" dirty="0"/>
              <a:t>=a</a:t>
            </a:r>
            <a:r>
              <a:rPr lang="en-US" altLang="zh-CN" baseline="30000" dirty="0"/>
              <a:t>h</a:t>
            </a:r>
            <a:endParaRPr lang="en-US" altLang="zh-CN" dirty="0"/>
          </a:p>
          <a:p>
            <a:pPr eaLnBrk="1" hangingPunct="1"/>
            <a:r>
              <a:rPr lang="en-US" altLang="zh-CN" dirty="0" err="1"/>
              <a:t>loga</a:t>
            </a:r>
            <a:r>
              <a:rPr lang="en-US" altLang="zh-CN" dirty="0"/>
              <a:t> </a:t>
            </a:r>
            <a:r>
              <a:rPr lang="zh-CN" altLang="en-US" b="1" dirty="0"/>
              <a:t>指</a:t>
            </a:r>
            <a:r>
              <a:rPr lang="zh-CN" altLang="en-US" dirty="0"/>
              <a:t> </a:t>
            </a:r>
            <a:r>
              <a:rPr lang="en-US" altLang="zh-CN" dirty="0" err="1"/>
              <a:t>log</a:t>
            </a:r>
            <a:r>
              <a:rPr lang="en-US" altLang="zh-CN" baseline="-25000" dirty="0" err="1"/>
              <a:t>b</a:t>
            </a:r>
            <a:r>
              <a:rPr lang="en-US" altLang="zh-CN" dirty="0" err="1"/>
              <a:t>a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>
                <a:latin typeface="Tahoma" pitchFamily="34" charset="0"/>
                <a:ea typeface="Dotum" pitchFamily="34" charset="-127"/>
              </a:rPr>
              <a:t>T(n)= 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T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(1)+</a:t>
            </a:r>
            <a:r>
              <a:rPr lang="en-US" altLang="zh-CN" dirty="0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baseline="-25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f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(n/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b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Tahoma" pitchFamily="34" charset="0"/>
                <a:ea typeface="Dotum" pitchFamily="34" charset="-127"/>
              </a:rPr>
              <a:t>          =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T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(1)+</a:t>
            </a:r>
            <a:r>
              <a:rPr lang="en-US" altLang="zh-CN" dirty="0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baseline="-25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f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(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b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baseline="30000" dirty="0">
                <a:latin typeface="Tahoma" pitchFamily="34" charset="0"/>
                <a:ea typeface="Dotum" pitchFamily="34" charset="-127"/>
              </a:rPr>
              <a:t>-k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dirty="0">
                <a:latin typeface="Dotum" pitchFamily="34" charset="-127"/>
                <a:ea typeface="Dotum" pitchFamily="34" charset="-127"/>
              </a:rPr>
              <a:t>                      ∑</a:t>
            </a:r>
            <a:r>
              <a:rPr lang="en-US" altLang="zh-CN" baseline="-25000" dirty="0">
                <a:latin typeface="Tahoma" pitchFamily="34" charset="0"/>
                <a:ea typeface="Dotum" pitchFamily="34" charset="-127"/>
              </a:rPr>
              <a:t>k</a:t>
            </a:r>
            <a:r>
              <a:rPr lang="zh-CN" altLang="en-US" dirty="0">
                <a:latin typeface="Tahoma" pitchFamily="34" charset="0"/>
                <a:ea typeface="Dotum" pitchFamily="34" charset="-127"/>
              </a:rPr>
              <a:t>求和范围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:k=0,…,h-1</a:t>
            </a:r>
          </a:p>
          <a:p>
            <a:pPr eaLnBrk="1" hangingPunct="1"/>
            <a:r>
              <a:rPr lang="en-US" altLang="zh-CN" dirty="0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baseline="-25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f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(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b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baseline="30000" dirty="0">
                <a:latin typeface="Tahoma" pitchFamily="34" charset="0"/>
                <a:ea typeface="Dotum" pitchFamily="34" charset="-127"/>
              </a:rPr>
              <a:t>-k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)= </a:t>
            </a:r>
            <a:r>
              <a:rPr lang="en-US" altLang="zh-CN" dirty="0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baseline="-25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h-k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f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(</a:t>
            </a:r>
            <a:r>
              <a:rPr lang="en-US" altLang="zh-CN" dirty="0" err="1">
                <a:latin typeface="Tahoma" pitchFamily="34" charset="0"/>
                <a:ea typeface="Dotum" pitchFamily="34" charset="-127"/>
              </a:rPr>
              <a:t>b</a:t>
            </a:r>
            <a:r>
              <a:rPr lang="en-US" altLang="zh-CN" baseline="30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), (</a:t>
            </a:r>
            <a:r>
              <a:rPr lang="zh-CN" altLang="en-US" dirty="0">
                <a:latin typeface="Tahoma" pitchFamily="34" charset="0"/>
                <a:ea typeface="Dotum" pitchFamily="34" charset="-127"/>
              </a:rPr>
              <a:t>后者求和从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1</a:t>
            </a:r>
            <a:r>
              <a:rPr lang="zh-CN" altLang="en-US" dirty="0">
                <a:latin typeface="Tahoma" pitchFamily="34" charset="0"/>
                <a:ea typeface="Dotum" pitchFamily="34" charset="-127"/>
              </a:rPr>
              <a:t>到</a:t>
            </a:r>
            <a:r>
              <a:rPr lang="en-US" altLang="zh-CN" dirty="0">
                <a:latin typeface="Tahoma" pitchFamily="34" charset="0"/>
                <a:ea typeface="Dotum" pitchFamily="34" charset="-127"/>
              </a:rPr>
              <a:t>h</a:t>
            </a:r>
            <a:r>
              <a:rPr lang="zh-CN" altLang="en-US" dirty="0">
                <a:latin typeface="Tahoma" pitchFamily="34" charset="0"/>
                <a:ea typeface="Dotum" pitchFamily="34" charset="-127"/>
              </a:rPr>
              <a:t>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Proof (Case 1)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600" dirty="0"/>
              <a:t>n=</a:t>
            </a:r>
            <a:r>
              <a:rPr lang="en-US" altLang="zh-CN" sz="2600" dirty="0" err="1"/>
              <a:t>b</a:t>
            </a:r>
            <a:r>
              <a:rPr lang="en-US" altLang="zh-CN" sz="2600" baseline="30000" dirty="0" err="1"/>
              <a:t>h</a:t>
            </a:r>
            <a:r>
              <a:rPr lang="en-US" altLang="zh-CN" sz="2600" dirty="0"/>
              <a:t>, </a:t>
            </a:r>
            <a:r>
              <a:rPr lang="en-US" altLang="zh-CN" sz="2600" dirty="0" err="1"/>
              <a:t>n</a:t>
            </a:r>
            <a:r>
              <a:rPr lang="en-US" altLang="zh-CN" sz="2600" baseline="30000" dirty="0" err="1"/>
              <a:t>loga</a:t>
            </a:r>
            <a:r>
              <a:rPr lang="en-US" altLang="zh-CN" sz="2600" dirty="0"/>
              <a:t>=</a:t>
            </a:r>
            <a:r>
              <a:rPr lang="en-US" altLang="zh-CN" sz="2600" dirty="0" err="1"/>
              <a:t>a</a:t>
            </a:r>
            <a:r>
              <a:rPr lang="en-US" altLang="zh-CN" sz="2600" baseline="30000" dirty="0" err="1"/>
              <a:t>h</a:t>
            </a:r>
            <a:r>
              <a:rPr lang="en-US" altLang="zh-CN" sz="2600" dirty="0" err="1"/>
              <a:t>,n</a:t>
            </a:r>
            <a:r>
              <a:rPr lang="el-GR" altLang="zh-CN" sz="2600" baseline="30000" dirty="0">
                <a:latin typeface="Tahoma" pitchFamily="34" charset="0"/>
                <a:ea typeface="Dotum" pitchFamily="34" charset="-127"/>
                <a:cs typeface="Tahoma" pitchFamily="34" charset="0"/>
              </a:rPr>
              <a:t>ε</a:t>
            </a:r>
            <a:r>
              <a:rPr lang="en-US" altLang="zh-CN" sz="2600" dirty="0">
                <a:latin typeface="Tahoma" pitchFamily="34" charset="0"/>
                <a:ea typeface="Dotum" pitchFamily="34" charset="-127"/>
                <a:cs typeface="Tahoma" pitchFamily="34" charset="0"/>
              </a:rPr>
              <a:t>=b</a:t>
            </a:r>
            <a:r>
              <a:rPr lang="el-GR" altLang="zh-CN" sz="2600" baseline="30000" dirty="0">
                <a:latin typeface="Tahoma" pitchFamily="34" charset="0"/>
                <a:ea typeface="Dotum" pitchFamily="34" charset="-127"/>
                <a:cs typeface="Tahoma" pitchFamily="34" charset="0"/>
              </a:rPr>
              <a:t>ε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  <a:cs typeface="Tahoma" pitchFamily="34" charset="0"/>
              </a:rPr>
              <a:t>h</a:t>
            </a:r>
            <a:r>
              <a:rPr lang="en-US" altLang="zh-CN" sz="2600" dirty="0">
                <a:latin typeface="Tahoma" pitchFamily="34" charset="0"/>
                <a:ea typeface="Dotum" pitchFamily="34" charset="-127"/>
                <a:cs typeface="Tahoma" pitchFamily="34" charset="0"/>
              </a:rPr>
              <a:t>.</a:t>
            </a:r>
            <a:r>
              <a:rPr lang="zh-CN" altLang="en-US" sz="2600" dirty="0">
                <a:latin typeface="Tahoma" pitchFamily="34" charset="0"/>
                <a:ea typeface="Dotum" pitchFamily="34" charset="-127"/>
                <a:cs typeface="Tahoma" pitchFamily="34" charset="0"/>
              </a:rPr>
              <a:t>因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</a:t>
            </a:r>
            <a:r>
              <a:rPr lang="en-US" altLang="zh-CN" sz="2600" i="1" dirty="0"/>
              <a:t>O</a:t>
            </a:r>
            <a:r>
              <a:rPr lang="en-US" altLang="zh-CN" sz="2600" dirty="0"/>
              <a:t>(</a:t>
            </a:r>
            <a:r>
              <a:rPr lang="en-US" altLang="zh-CN" sz="2600" i="1" dirty="0" err="1"/>
              <a:t>n</a:t>
            </a:r>
            <a:r>
              <a:rPr lang="en-US" altLang="zh-CN" sz="2600" baseline="30000" dirty="0" err="1"/>
              <a:t>log</a:t>
            </a:r>
            <a:r>
              <a:rPr lang="en-US" altLang="zh-CN" sz="2600" i="1" baseline="30000" dirty="0" err="1"/>
              <a:t>a</a:t>
            </a:r>
            <a:r>
              <a:rPr lang="en-US" altLang="zh-CN" sz="2600" baseline="30000" dirty="0">
                <a:latin typeface="Dotum" pitchFamily="34" charset="-127"/>
                <a:ea typeface="Dotum" pitchFamily="34" charset="-127"/>
              </a:rPr>
              <a:t>–</a:t>
            </a:r>
            <a:r>
              <a:rPr lang="el-GR" altLang="zh-CN" sz="2600" baseline="30000" dirty="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 sz="2600" dirty="0">
                <a:ea typeface="Dotum" pitchFamily="34" charset="-127"/>
              </a:rPr>
              <a:t>),</a:t>
            </a:r>
            <a:r>
              <a:rPr lang="zh-CN" altLang="en-US" sz="2600" dirty="0">
                <a:ea typeface="Dotum" pitchFamily="34" charset="-127"/>
              </a:rPr>
              <a:t>所以</a:t>
            </a:r>
            <a:endParaRPr lang="zh-CN" altLang="en-US" sz="2600" baseline="30000" dirty="0"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600" dirty="0">
                <a:cs typeface="Arial" charset="0"/>
              </a:rPr>
              <a:t>    </a:t>
            </a:r>
            <a:r>
              <a:rPr lang="en-US" altLang="zh-CN" sz="2600" dirty="0">
                <a:cs typeface="Arial" charset="0"/>
              </a:rPr>
              <a:t>f(n)</a:t>
            </a:r>
            <a:r>
              <a:rPr lang="en-US" altLang="zh-CN" sz="2600" dirty="0">
                <a:latin typeface="Arial" charset="0"/>
                <a:cs typeface="Arial" charset="0"/>
              </a:rPr>
              <a:t>≤</a:t>
            </a:r>
            <a:r>
              <a:rPr lang="en-US" altLang="zh-CN" sz="2600" dirty="0" err="1">
                <a:latin typeface="Arial" charset="0"/>
                <a:cs typeface="Arial" charset="0"/>
              </a:rPr>
              <a:t>cn</a:t>
            </a:r>
            <a:r>
              <a:rPr lang="en-US" altLang="zh-CN" sz="2600" baseline="30000" dirty="0" err="1">
                <a:latin typeface="Arial" charset="0"/>
                <a:cs typeface="Arial" charset="0"/>
              </a:rPr>
              <a:t>loga</a:t>
            </a:r>
            <a:r>
              <a:rPr lang="en-US" altLang="zh-CN" sz="2600" baseline="30000" dirty="0">
                <a:latin typeface="Arial" charset="0"/>
                <a:cs typeface="Arial" charset="0"/>
              </a:rPr>
              <a:t>-</a:t>
            </a:r>
            <a:r>
              <a:rPr lang="el-GR" altLang="zh-CN" sz="2600" baseline="30000" dirty="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=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ca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/b</a:t>
            </a:r>
            <a:r>
              <a:rPr lang="el-GR" altLang="zh-CN" sz="2600" baseline="30000" dirty="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 sz="2600" baseline="30000" dirty="0">
                <a:latin typeface="Dotum" pitchFamily="34" charset="-127"/>
                <a:ea typeface="Dotum" pitchFamily="34" charset="-127"/>
              </a:rPr>
              <a:t>h 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=&gt;f(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b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)≤c(a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/b</a:t>
            </a:r>
            <a:r>
              <a:rPr lang="el-GR" altLang="zh-CN" sz="2600" baseline="30000" dirty="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 sz="2600" baseline="30000" dirty="0">
                <a:latin typeface="Dotum" pitchFamily="34" charset="-127"/>
                <a:ea typeface="Dotum" pitchFamily="34" charset="-127"/>
              </a:rPr>
              <a:t>h</a:t>
            </a:r>
            <a:r>
              <a:rPr lang="en-US" altLang="zh-CN" sz="2600" b="1" dirty="0">
                <a:latin typeface="Dotum" pitchFamily="34" charset="-127"/>
                <a:ea typeface="Dotum" pitchFamily="34" charset="-127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b="1" dirty="0">
                <a:latin typeface="Tahoma" pitchFamily="34" charset="0"/>
                <a:ea typeface="Dotum" pitchFamily="34" charset="-127"/>
              </a:rPr>
              <a:t>取充分大的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c</a:t>
            </a:r>
            <a:r>
              <a:rPr lang="en-US" altLang="zh-CN" sz="2600" b="1" dirty="0">
                <a:latin typeface="Tahoma" pitchFamily="34" charset="0"/>
                <a:ea typeface="Dotum" pitchFamily="34" charset="-127"/>
              </a:rPr>
              <a:t>,</a:t>
            </a:r>
            <a:r>
              <a:rPr lang="zh-CN" altLang="en-US" sz="2600" b="1" dirty="0">
                <a:latin typeface="Tahoma" pitchFamily="34" charset="0"/>
              </a:rPr>
              <a:t>使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f(b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i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)≤c(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i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/b</a:t>
            </a:r>
            <a:r>
              <a:rPr lang="el-GR" altLang="zh-CN" sz="2600" baseline="30000" dirty="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 sz="2600" baseline="30000" dirty="0" err="1">
                <a:latin typeface="Dotum" pitchFamily="34" charset="-127"/>
                <a:ea typeface="Dotum" pitchFamily="34" charset="-127"/>
              </a:rPr>
              <a:t>i</a:t>
            </a:r>
            <a:r>
              <a:rPr lang="en-US" altLang="zh-CN" sz="2600" b="1" dirty="0">
                <a:latin typeface="Dotum" pitchFamily="34" charset="-127"/>
                <a:ea typeface="Dotum" pitchFamily="34" charset="-127"/>
              </a:rPr>
              <a:t>) </a:t>
            </a:r>
            <a:r>
              <a:rPr lang="zh-CN" altLang="en-US" sz="2600" b="1" dirty="0">
                <a:latin typeface="Dotum" pitchFamily="34" charset="-127"/>
                <a:ea typeface="Dotum" pitchFamily="34" charset="-127"/>
              </a:rPr>
              <a:t>对所有</a:t>
            </a:r>
            <a:r>
              <a:rPr lang="en-US" altLang="zh-CN" sz="2600" b="1" dirty="0" err="1">
                <a:latin typeface="Dotum" pitchFamily="34" charset="-127"/>
                <a:ea typeface="Dotum" pitchFamily="34" charset="-127"/>
              </a:rPr>
              <a:t>i</a:t>
            </a:r>
            <a:r>
              <a:rPr lang="zh-CN" altLang="en-US" sz="2600" b="1" dirty="0">
                <a:latin typeface="Dotum" pitchFamily="34" charset="-127"/>
                <a:ea typeface="Dotum" pitchFamily="34" charset="-127"/>
              </a:rPr>
              <a:t>成立</a:t>
            </a:r>
            <a:r>
              <a:rPr lang="en-US" altLang="zh-CN" sz="2600" b="1" dirty="0">
                <a:latin typeface="Dotum" pitchFamily="34" charset="-127"/>
                <a:ea typeface="Dotum" pitchFamily="34" charset="-127"/>
              </a:rPr>
              <a:t>.</a:t>
            </a:r>
            <a:endParaRPr lang="en-US" altLang="zh-CN" sz="2600" b="1" baseline="30000" dirty="0">
              <a:latin typeface="Tahoma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T(n)=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T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(1)+</a:t>
            </a:r>
            <a:r>
              <a:rPr lang="en-US" altLang="zh-CN" sz="2600" dirty="0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f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(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b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-k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),(</a:t>
            </a:r>
            <a:r>
              <a:rPr lang="en-US" altLang="zh-CN" sz="2600" dirty="0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: k=0,…,h-1)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T(n)≤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T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(1)+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c</a:t>
            </a:r>
            <a:r>
              <a:rPr lang="en-US" altLang="zh-CN" sz="2600" dirty="0" err="1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sz="2600" b="1" dirty="0" err="1">
                <a:latin typeface="Dotum" pitchFamily="34" charset="-127"/>
                <a:ea typeface="Dotum" pitchFamily="34" charset="-127"/>
              </a:rPr>
              <a:t>a</a:t>
            </a:r>
            <a:r>
              <a:rPr lang="en-US" altLang="zh-CN" sz="2600" b="1" baseline="30000" dirty="0" err="1">
                <a:latin typeface="Dotum" pitchFamily="34" charset="-127"/>
                <a:ea typeface="Dotum" pitchFamily="34" charset="-127"/>
              </a:rPr>
              <a:t>k</a:t>
            </a:r>
            <a:r>
              <a:rPr lang="en-US" altLang="zh-CN" sz="2600" b="1" dirty="0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h-k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/b</a:t>
            </a:r>
            <a:r>
              <a:rPr lang="el-GR" altLang="zh-CN" sz="2600" baseline="30000" dirty="0">
                <a:latin typeface="Tahoma" pitchFamily="34" charset="0"/>
                <a:ea typeface="Dotum" pitchFamily="34" charset="-127"/>
              </a:rPr>
              <a:t>ε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(h-k)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baseline="30000" dirty="0">
                <a:latin typeface="Dotum" pitchFamily="34" charset="-127"/>
                <a:ea typeface="Dotum" pitchFamily="34" charset="-127"/>
              </a:rPr>
              <a:t>              </a:t>
            </a:r>
            <a:r>
              <a:rPr lang="en-US" altLang="zh-CN" sz="2600" dirty="0">
                <a:latin typeface="Tahoma" pitchFamily="34" charset="0"/>
                <a:cs typeface="Arial" charset="0"/>
              </a:rPr>
              <a:t>=</a:t>
            </a:r>
            <a:r>
              <a:rPr lang="en-US" altLang="zh-CN" sz="2600" dirty="0" err="1">
                <a:latin typeface="Tahoma" pitchFamily="34" charset="0"/>
                <a:cs typeface="Arial" charset="0"/>
              </a:rPr>
              <a:t>a</a:t>
            </a:r>
            <a:r>
              <a:rPr lang="en-US" altLang="zh-CN" sz="2600" baseline="30000" dirty="0" err="1">
                <a:latin typeface="Tahoma" pitchFamily="34" charset="0"/>
                <a:cs typeface="Arial" charset="0"/>
              </a:rPr>
              <a:t>h</a:t>
            </a:r>
            <a:r>
              <a:rPr lang="en-US" altLang="zh-CN" sz="2600" dirty="0" err="1">
                <a:latin typeface="Tahoma" pitchFamily="34" charset="0"/>
                <a:cs typeface="Arial" charset="0"/>
              </a:rPr>
              <a:t>T</a:t>
            </a:r>
            <a:r>
              <a:rPr lang="en-US" altLang="zh-CN" sz="2600" dirty="0">
                <a:latin typeface="Tahoma" pitchFamily="34" charset="0"/>
                <a:cs typeface="Arial" charset="0"/>
              </a:rPr>
              <a:t>(1)+</a:t>
            </a:r>
            <a:r>
              <a:rPr lang="en-US" altLang="zh-CN" sz="2600" dirty="0" err="1">
                <a:latin typeface="Tahoma" pitchFamily="34" charset="0"/>
                <a:cs typeface="Arial" charset="0"/>
              </a:rPr>
              <a:t>ca</a:t>
            </a:r>
            <a:r>
              <a:rPr lang="en-US" altLang="zh-CN" sz="2600" baseline="30000" dirty="0" err="1">
                <a:latin typeface="Tahoma" pitchFamily="34" charset="0"/>
                <a:cs typeface="Arial" charset="0"/>
              </a:rPr>
              <a:t>h</a:t>
            </a:r>
            <a:r>
              <a:rPr lang="en-US" altLang="zh-CN" sz="2600" dirty="0">
                <a:latin typeface="Dotum" pitchFamily="34" charset="-127"/>
                <a:ea typeface="Dotum" pitchFamily="34" charset="-127"/>
              </a:rPr>
              <a:t>∑(</a:t>
            </a:r>
            <a:r>
              <a:rPr lang="en-US" altLang="zh-CN" sz="2600" b="1" dirty="0">
                <a:latin typeface="Dotum" pitchFamily="34" charset="-127"/>
                <a:ea typeface="Dotum" pitchFamily="34" charset="-127"/>
              </a:rPr>
              <a:t>1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/b</a:t>
            </a:r>
            <a:r>
              <a:rPr lang="el-GR" altLang="zh-CN" sz="2600" baseline="30000" dirty="0">
                <a:latin typeface="Tahoma" pitchFamily="34" charset="0"/>
                <a:ea typeface="Dotum" pitchFamily="34" charset="-127"/>
              </a:rPr>
              <a:t>ε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(h-k)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          ≤ </a:t>
            </a:r>
            <a:r>
              <a:rPr lang="en-US" altLang="zh-CN" sz="2600" dirty="0" err="1">
                <a:latin typeface="Tahoma" pitchFamily="34" charset="0"/>
                <a:cs typeface="Arial" charset="0"/>
              </a:rPr>
              <a:t>a</a:t>
            </a:r>
            <a:r>
              <a:rPr lang="en-US" altLang="zh-CN" sz="2600" baseline="30000" dirty="0" err="1">
                <a:latin typeface="Tahoma" pitchFamily="34" charset="0"/>
                <a:cs typeface="Arial" charset="0"/>
              </a:rPr>
              <a:t>h</a:t>
            </a:r>
            <a:r>
              <a:rPr lang="en-US" altLang="zh-CN" sz="2600" dirty="0" err="1">
                <a:latin typeface="Tahoma" pitchFamily="34" charset="0"/>
                <a:cs typeface="Arial" charset="0"/>
              </a:rPr>
              <a:t>T</a:t>
            </a:r>
            <a:r>
              <a:rPr lang="en-US" altLang="zh-CN" sz="2600" dirty="0">
                <a:latin typeface="Tahoma" pitchFamily="34" charset="0"/>
                <a:cs typeface="Arial" charset="0"/>
              </a:rPr>
              <a:t>(1)+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ca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∑</a:t>
            </a:r>
            <a:r>
              <a:rPr lang="en-US" altLang="zh-CN" sz="2600" baseline="-25000" dirty="0">
                <a:latin typeface="Tahoma" pitchFamily="34" charset="0"/>
                <a:ea typeface="Dotum" pitchFamily="34" charset="-127"/>
              </a:rPr>
              <a:t>1≤k&lt;∞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(1/b</a:t>
            </a:r>
            <a:r>
              <a:rPr lang="el-GR" altLang="zh-CN" sz="2600" baseline="30000" dirty="0">
                <a:latin typeface="Tahoma" pitchFamily="34" charset="0"/>
                <a:ea typeface="Dotum" pitchFamily="34" charset="-127"/>
              </a:rPr>
              <a:t>ε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          ≤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c’a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 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 (</a:t>
            </a:r>
            <a:r>
              <a:rPr lang="zh-CN" altLang="en-US" sz="2600" dirty="0">
                <a:latin typeface="Tahoma" pitchFamily="34" charset="0"/>
                <a:ea typeface="Dotum" pitchFamily="34" charset="-127"/>
              </a:rPr>
              <a:t>因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b&gt;1,</a:t>
            </a:r>
            <a:r>
              <a:rPr lang="el-GR" altLang="zh-CN" sz="2600" dirty="0">
                <a:latin typeface="Tahoma" pitchFamily="34" charset="0"/>
                <a:ea typeface="Dotum" pitchFamily="34" charset="-127"/>
              </a:rPr>
              <a:t>ε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&gt;0,</a:t>
            </a:r>
            <a:r>
              <a:rPr lang="zh-CN" altLang="en-US" sz="2600" dirty="0">
                <a:latin typeface="Tahoma" pitchFamily="34" charset="0"/>
                <a:ea typeface="Dotum" pitchFamily="34" charset="-127"/>
              </a:rPr>
              <a:t>无穷和收敛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latin typeface="Tahoma" pitchFamily="34" charset="0"/>
                <a:ea typeface="Dotum" pitchFamily="34" charset="-127"/>
              </a:rPr>
              <a:t>所以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T(n)=O(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n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loga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); </a:t>
            </a:r>
            <a:r>
              <a:rPr lang="zh-CN" altLang="en-US" sz="2600" dirty="0">
                <a:latin typeface="Tahoma" pitchFamily="34" charset="0"/>
                <a:ea typeface="Dotum" pitchFamily="34" charset="-127"/>
              </a:rPr>
              <a:t>显然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, T(n)=</a:t>
            </a:r>
            <a:r>
              <a:rPr lang="en-US" altLang="zh-CN" sz="2600" dirty="0">
                <a:latin typeface="Dotum" pitchFamily="34" charset="-127"/>
                <a:ea typeface="Dotum" pitchFamily="34" charset="-127"/>
              </a:rPr>
              <a:t>Ω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(</a:t>
            </a:r>
            <a:r>
              <a:rPr lang="en-US" altLang="zh-CN" sz="2600" dirty="0" err="1">
                <a:latin typeface="Tahoma" pitchFamily="34" charset="0"/>
                <a:ea typeface="Dotum" pitchFamily="34" charset="-127"/>
              </a:rPr>
              <a:t>n</a:t>
            </a:r>
            <a:r>
              <a:rPr lang="en-US" altLang="zh-CN" sz="2600" baseline="30000" dirty="0" err="1">
                <a:latin typeface="Tahoma" pitchFamily="34" charset="0"/>
                <a:ea typeface="Dotum" pitchFamily="34" charset="-127"/>
              </a:rPr>
              <a:t>loga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7885113" y="41497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Proof of Case2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6738" y="1752600"/>
            <a:ext cx="8326437" cy="4772025"/>
          </a:xfrm>
        </p:spPr>
        <p:txBody>
          <a:bodyPr/>
          <a:lstStyle/>
          <a:p>
            <a:pPr eaLnBrk="1" hangingPunct="1"/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(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</a:t>
            </a:r>
            <a:r>
              <a:rPr lang="en-US" altLang="zh-CN" i="1"/>
              <a:t> </a:t>
            </a:r>
            <a:r>
              <a:rPr lang="en-US" altLang="zh-CN"/>
              <a:t>lg</a:t>
            </a:r>
            <a:r>
              <a:rPr lang="en-US" altLang="zh-CN" i="1" baseline="30000"/>
              <a:t>k</a:t>
            </a:r>
            <a:r>
              <a:rPr lang="en-US" altLang="zh-CN" i="1"/>
              <a:t>n</a:t>
            </a:r>
            <a:r>
              <a:rPr lang="en-US" altLang="zh-CN"/>
              <a:t>), n=b</a:t>
            </a:r>
            <a:r>
              <a:rPr lang="en-US" altLang="zh-CN" baseline="30000"/>
              <a:t>h</a:t>
            </a:r>
            <a:r>
              <a:rPr lang="en-US" altLang="zh-CN"/>
              <a:t>, n</a:t>
            </a:r>
            <a:r>
              <a:rPr lang="en-US" altLang="zh-CN" baseline="30000"/>
              <a:t>loga</a:t>
            </a:r>
            <a:r>
              <a:rPr lang="en-US" altLang="zh-CN"/>
              <a:t>=a</a:t>
            </a:r>
            <a:r>
              <a:rPr lang="en-US" altLang="zh-CN" baseline="30000"/>
              <a:t>h</a:t>
            </a:r>
          </a:p>
          <a:p>
            <a:pPr eaLnBrk="1" hangingPunct="1"/>
            <a:r>
              <a:rPr lang="en-US" altLang="zh-CN" i="1"/>
              <a:t>=&gt;f</a:t>
            </a:r>
            <a:r>
              <a:rPr lang="en-US" altLang="zh-CN"/>
              <a:t>(b</a:t>
            </a:r>
            <a:r>
              <a:rPr lang="en-US" altLang="zh-CN" baseline="30000"/>
              <a:t>h</a:t>
            </a:r>
            <a:r>
              <a:rPr lang="en-US" altLang="zh-CN"/>
              <a:t>)</a:t>
            </a:r>
            <a:r>
              <a:rPr lang="en-US" altLang="zh-CN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Tahoma" pitchFamily="34" charset="0"/>
                <a:cs typeface="Arial" charset="0"/>
              </a:rPr>
              <a:t>ca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h</a:t>
            </a:r>
            <a:r>
              <a:rPr lang="en-US" altLang="zh-CN">
                <a:latin typeface="Tahoma" pitchFamily="34" charset="0"/>
                <a:cs typeface="Arial" charset="0"/>
              </a:rPr>
              <a:t>(hlgb)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=ca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h</a:t>
            </a:r>
            <a:r>
              <a:rPr lang="en-US" altLang="zh-CN">
                <a:latin typeface="Tahoma" pitchFamily="34" charset="0"/>
                <a:cs typeface="Arial" charset="0"/>
              </a:rPr>
              <a:t>h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(lgb)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 </a:t>
            </a:r>
          </a:p>
          <a:p>
            <a:pPr eaLnBrk="1" hangingPunct="1"/>
            <a:r>
              <a:rPr lang="zh-CN" altLang="en-US" b="1">
                <a:latin typeface="Tahoma" pitchFamily="34" charset="0"/>
                <a:cs typeface="Arial" charset="0"/>
              </a:rPr>
              <a:t>类似</a:t>
            </a:r>
            <a:r>
              <a:rPr lang="en-US" altLang="zh-CN">
                <a:latin typeface="Tahoma" pitchFamily="34" charset="0"/>
                <a:cs typeface="Arial" charset="0"/>
              </a:rPr>
              <a:t>,f(b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i</a:t>
            </a:r>
            <a:r>
              <a:rPr lang="en-US" altLang="zh-CN">
                <a:latin typeface="Tahoma" pitchFamily="34" charset="0"/>
                <a:cs typeface="Arial" charset="0"/>
              </a:rPr>
              <a:t>) </a:t>
            </a:r>
            <a:r>
              <a:rPr lang="en-US" altLang="zh-CN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Tahoma" pitchFamily="34" charset="0"/>
                <a:cs typeface="Arial" charset="0"/>
              </a:rPr>
              <a:t>ca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i</a:t>
            </a:r>
            <a:r>
              <a:rPr lang="en-US" altLang="zh-CN">
                <a:latin typeface="Tahoma" pitchFamily="34" charset="0"/>
                <a:cs typeface="Arial" charset="0"/>
              </a:rPr>
              <a:t>i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(lgb)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.    (</a:t>
            </a:r>
            <a:r>
              <a:rPr lang="zh-CN" altLang="en-US" b="1">
                <a:latin typeface="Tahoma" pitchFamily="34" charset="0"/>
                <a:cs typeface="Arial" charset="0"/>
              </a:rPr>
              <a:t>取充分大的</a:t>
            </a:r>
            <a:r>
              <a:rPr lang="en-US" altLang="zh-CN">
                <a:latin typeface="Tahoma" pitchFamily="34" charset="0"/>
                <a:cs typeface="Arial" charset="0"/>
              </a:rPr>
              <a:t>c)</a:t>
            </a:r>
            <a:endParaRPr lang="en-US" altLang="zh-CN" baseline="30000">
              <a:latin typeface="Tahoma" pitchFamily="34" charset="0"/>
              <a:cs typeface="Arial" charset="0"/>
            </a:endParaRPr>
          </a:p>
          <a:p>
            <a:pPr eaLnBrk="1" hangingPunct="1"/>
            <a:r>
              <a:rPr lang="en-US" altLang="zh-CN">
                <a:latin typeface="Tahoma" pitchFamily="34" charset="0"/>
                <a:ea typeface="Dotum" pitchFamily="34" charset="-127"/>
                <a:cs typeface="Arial" charset="0"/>
              </a:rPr>
              <a:t>T(n)</a:t>
            </a:r>
            <a:r>
              <a:rPr lang="en-US" altLang="zh-CN" b="1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</a:t>
            </a:r>
            <a:r>
              <a:rPr lang="en-US" altLang="zh-CN">
                <a:latin typeface="Arial" charset="0"/>
                <a:cs typeface="Arial" charset="0"/>
              </a:rPr>
              <a:t>c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 i="1" baseline="-25000">
                <a:latin typeface="Dotum" pitchFamily="34" charset="-127"/>
                <a:ea typeface="Dotum" pitchFamily="34" charset="-127"/>
              </a:rPr>
              <a:t>i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 </a:t>
            </a:r>
            <a:r>
              <a:rPr lang="en-US" altLang="zh-CN" i="1">
                <a:latin typeface="Tahoma" pitchFamily="34" charset="0"/>
                <a:ea typeface="Dotum" pitchFamily="34" charset="-127"/>
              </a:rPr>
              <a:t>i 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 (lgb)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Arial" charset="0"/>
                <a:cs typeface="Arial" charset="0"/>
              </a:rPr>
              <a:t>≤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Tahoma" pitchFamily="34" charset="0"/>
                <a:cs typeface="Arial" charset="0"/>
              </a:rPr>
              <a:t>    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</a:t>
            </a:r>
            <a:r>
              <a:rPr lang="en-US" altLang="zh-CN">
                <a:latin typeface="Tahoma" pitchFamily="34" charset="0"/>
                <a:cs typeface="Arial" charset="0"/>
              </a:rPr>
              <a:t>c’a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h</a:t>
            </a:r>
            <a:r>
              <a:rPr lang="en-US" altLang="zh-CN">
                <a:latin typeface="Tahoma" pitchFamily="34" charset="0"/>
                <a:cs typeface="Arial" charset="0"/>
              </a:rPr>
              <a:t> h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k+1</a:t>
            </a:r>
            <a:r>
              <a:rPr lang="en-US" altLang="zh-CN">
                <a:latin typeface="Tahoma" pitchFamily="34" charset="0"/>
                <a:cs typeface="Arial" charset="0"/>
              </a:rPr>
              <a:t> (lgb)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 =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</a:t>
            </a:r>
            <a:endParaRPr lang="en-US" altLang="zh-CN">
              <a:latin typeface="Tahoma" pitchFamily="34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Tahoma" pitchFamily="34" charset="0"/>
                <a:cs typeface="Arial" charset="0"/>
              </a:rPr>
              <a:t>    c’a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h</a:t>
            </a:r>
            <a:r>
              <a:rPr lang="en-US" altLang="zh-CN">
                <a:latin typeface="Tahoma" pitchFamily="34" charset="0"/>
                <a:cs typeface="Arial" charset="0"/>
              </a:rPr>
              <a:t> h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k+1</a:t>
            </a:r>
            <a:r>
              <a:rPr lang="en-US" altLang="zh-CN">
                <a:latin typeface="Tahoma" pitchFamily="34" charset="0"/>
                <a:cs typeface="Arial" charset="0"/>
              </a:rPr>
              <a:t> (lgb)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k+1 </a:t>
            </a:r>
            <a:r>
              <a:rPr lang="en-US" altLang="zh-CN">
                <a:latin typeface="Tahoma" pitchFamily="34" charset="0"/>
                <a:cs typeface="Arial" charset="0"/>
              </a:rPr>
              <a:t>/lgb=c’’(n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loga</a:t>
            </a:r>
            <a:r>
              <a:rPr lang="en-US" altLang="zh-CN">
                <a:latin typeface="Tahoma" pitchFamily="34" charset="0"/>
                <a:cs typeface="Arial" charset="0"/>
              </a:rPr>
              <a:t>lg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k+1</a:t>
            </a:r>
            <a:r>
              <a:rPr lang="en-US" altLang="zh-CN">
                <a:latin typeface="Tahoma" pitchFamily="34" charset="0"/>
                <a:cs typeface="Arial" charset="0"/>
              </a:rPr>
              <a:t>n)</a:t>
            </a:r>
          </a:p>
          <a:p>
            <a:pPr eaLnBrk="1" hangingPunct="1"/>
            <a:r>
              <a:rPr lang="zh-CN" altLang="en-US" b="1">
                <a:latin typeface="Tahoma" pitchFamily="34" charset="0"/>
                <a:cs typeface="Arial" charset="0"/>
              </a:rPr>
              <a:t>上面推导中用到</a:t>
            </a:r>
            <a:r>
              <a:rPr lang="en-US" altLang="zh-CN">
                <a:latin typeface="Tahoma" pitchFamily="34" charset="0"/>
                <a:cs typeface="Arial" charset="0"/>
              </a:rPr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>
                <a:latin typeface="Tahoma" pitchFamily="34" charset="0"/>
                <a:cs typeface="Arial" charset="0"/>
              </a:rPr>
              <a:t>   1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+…+h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=</a:t>
            </a:r>
            <a:r>
              <a:rPr lang="el-GR" altLang="zh-CN" b="1">
                <a:latin typeface="Dotum" pitchFamily="34" charset="-127"/>
                <a:ea typeface="Dotum" pitchFamily="34" charset="-127"/>
              </a:rPr>
              <a:t>Θ</a:t>
            </a:r>
            <a:r>
              <a:rPr lang="en-US" altLang="zh-CN" b="1">
                <a:latin typeface="Dotum" pitchFamily="34" charset="-127"/>
                <a:ea typeface="Dotum" pitchFamily="34" charset="-127"/>
              </a:rPr>
              <a:t>(h</a:t>
            </a:r>
            <a:r>
              <a:rPr lang="en-US" altLang="zh-CN" b="1" baseline="30000">
                <a:latin typeface="Dotum" pitchFamily="34" charset="-127"/>
                <a:ea typeface="Dotum" pitchFamily="34" charset="-127"/>
              </a:rPr>
              <a:t>k+1</a:t>
            </a:r>
            <a:r>
              <a:rPr lang="en-US" altLang="zh-CN" b="1">
                <a:latin typeface="Dotum" pitchFamily="34" charset="-127"/>
                <a:ea typeface="Dotum" pitchFamily="34" charset="-127"/>
              </a:rPr>
              <a:t>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Case 3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752600"/>
            <a:ext cx="8713787" cy="4267200"/>
          </a:xfrm>
        </p:spPr>
        <p:txBody>
          <a:bodyPr/>
          <a:lstStyle/>
          <a:p>
            <a:pPr eaLnBrk="1" hangingPunct="1"/>
            <a:r>
              <a:rPr lang="zh-CN" altLang="en-US" b="1"/>
              <a:t>反复应用规则性条件有</a:t>
            </a:r>
            <a:r>
              <a:rPr lang="en-US" altLang="zh-CN"/>
              <a:t>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/>
              <a:t>               a</a:t>
            </a:r>
            <a:r>
              <a:rPr lang="en-US" altLang="zh-CN" baseline="30000"/>
              <a:t>k</a:t>
            </a:r>
            <a:r>
              <a:rPr lang="en-US" altLang="zh-CN"/>
              <a:t>f(n/b</a:t>
            </a:r>
            <a:r>
              <a:rPr lang="en-US" altLang="zh-CN" baseline="30000"/>
              <a:t>k</a:t>
            </a:r>
            <a:r>
              <a:rPr lang="en-US" altLang="zh-CN"/>
              <a:t>)</a:t>
            </a:r>
            <a:r>
              <a:rPr lang="en-US" altLang="zh-CN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Tahoma" pitchFamily="34" charset="0"/>
                <a:cs typeface="Arial" charset="0"/>
              </a:rPr>
              <a:t>c</a:t>
            </a:r>
            <a:r>
              <a:rPr lang="en-US" altLang="zh-CN" baseline="30000">
                <a:latin typeface="Tahoma" pitchFamily="34" charset="0"/>
                <a:cs typeface="Arial" charset="0"/>
              </a:rPr>
              <a:t>k</a:t>
            </a:r>
            <a:r>
              <a:rPr lang="en-US" altLang="zh-CN">
                <a:latin typeface="Tahoma" pitchFamily="34" charset="0"/>
                <a:cs typeface="Arial" charset="0"/>
              </a:rPr>
              <a:t>f(n) </a:t>
            </a:r>
          </a:p>
          <a:p>
            <a:pPr eaLnBrk="1" hangingPunct="1"/>
            <a:r>
              <a:rPr lang="zh-CN" altLang="en-US" b="1">
                <a:latin typeface="Tahoma" pitchFamily="34" charset="0"/>
                <a:cs typeface="Arial" charset="0"/>
              </a:rPr>
              <a:t>所以</a:t>
            </a:r>
            <a:r>
              <a:rPr lang="en-US" altLang="zh-CN">
                <a:latin typeface="Tahoma" pitchFamily="34" charset="0"/>
                <a:cs typeface="Arial" charset="0"/>
              </a:rPr>
              <a:t>: 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f(n/b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) </a:t>
            </a:r>
            <a:r>
              <a:rPr lang="en-US" altLang="zh-CN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c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f(n)</a:t>
            </a:r>
            <a:endParaRPr lang="en-US" altLang="zh-CN">
              <a:latin typeface="Tahoma" pitchFamily="34" charset="0"/>
              <a:cs typeface="Arial" charset="0"/>
            </a:endParaRPr>
          </a:p>
          <a:p>
            <a:pPr eaLnBrk="1" hangingPunct="1"/>
            <a:r>
              <a:rPr lang="en-US" altLang="zh-CN">
                <a:latin typeface="Tahoma" pitchFamily="34" charset="0"/>
                <a:ea typeface="Dotum" pitchFamily="34" charset="-127"/>
              </a:rPr>
              <a:t>T(n)=a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f(n/b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)</a:t>
            </a:r>
            <a:r>
              <a:rPr lang="en-US" altLang="zh-CN">
                <a:latin typeface="Arial" charset="0"/>
                <a:cs typeface="Arial" charset="0"/>
              </a:rPr>
              <a:t>≤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T(1)+f(n)</a:t>
            </a:r>
            <a:r>
              <a:rPr lang="en-US" altLang="zh-CN">
                <a:latin typeface="Dotum" pitchFamily="34" charset="-127"/>
                <a:ea typeface="Dotum" pitchFamily="34" charset="-127"/>
              </a:rPr>
              <a:t>∑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c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k</a:t>
            </a:r>
            <a:r>
              <a:rPr lang="en-US" altLang="zh-CN">
                <a:latin typeface="Tahoma" pitchFamily="34" charset="0"/>
                <a:ea typeface="Dotum" pitchFamily="34" charset="-127"/>
                <a:cs typeface="Tahoma" pitchFamily="34" charset="0"/>
              </a:rPr>
              <a:t>≤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T(1)+f(n)(1-c)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-1</a:t>
            </a:r>
          </a:p>
          <a:p>
            <a:pPr eaLnBrk="1" hangingPunct="1"/>
            <a:r>
              <a:rPr lang="zh-CN" altLang="en-US">
                <a:latin typeface="Tahoma" pitchFamily="34" charset="0"/>
                <a:ea typeface="Dotum" pitchFamily="34" charset="-127"/>
              </a:rPr>
              <a:t>因为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, </a:t>
            </a:r>
            <a:r>
              <a:rPr lang="en-US" altLang="zh-CN" i="1"/>
              <a:t>f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)=Ω(</a:t>
            </a:r>
            <a:r>
              <a:rPr lang="en-US" altLang="zh-CN" i="1"/>
              <a:t>n</a:t>
            </a:r>
            <a:r>
              <a:rPr lang="en-US" altLang="zh-CN" baseline="30000"/>
              <a:t>log</a:t>
            </a:r>
            <a:r>
              <a:rPr lang="en-US" altLang="zh-CN" i="1" baseline="30000"/>
              <a:t>a </a:t>
            </a:r>
            <a:r>
              <a:rPr lang="en-US" altLang="zh-CN" baseline="30000">
                <a:latin typeface="Dotum" pitchFamily="34" charset="-127"/>
                <a:ea typeface="Dotum" pitchFamily="34" charset="-127"/>
              </a:rPr>
              <a:t>+</a:t>
            </a:r>
            <a:r>
              <a:rPr lang="el-GR" altLang="zh-CN" baseline="30000">
                <a:latin typeface="Dotum" pitchFamily="34" charset="-127"/>
                <a:ea typeface="Dotum" pitchFamily="34" charset="-127"/>
              </a:rPr>
              <a:t>ε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),</a:t>
            </a:r>
            <a:r>
              <a:rPr lang="zh-CN" altLang="en-US">
                <a:latin typeface="Tahoma" pitchFamily="34" charset="0"/>
                <a:ea typeface="Dotum" pitchFamily="34" charset="-127"/>
              </a:rPr>
              <a:t>量级高于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a</a:t>
            </a:r>
            <a:r>
              <a:rPr lang="en-US" altLang="zh-CN" baseline="30000">
                <a:latin typeface="Tahoma" pitchFamily="34" charset="0"/>
                <a:ea typeface="Dotum" pitchFamily="34" charset="-127"/>
              </a:rPr>
              <a:t>h 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, </a:t>
            </a:r>
            <a:r>
              <a:rPr lang="zh-CN" altLang="en-US">
                <a:latin typeface="Tahoma" pitchFamily="34" charset="0"/>
                <a:ea typeface="Dotum" pitchFamily="34" charset="-127"/>
              </a:rPr>
              <a:t>所以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T(n)=O(f(n)).</a:t>
            </a:r>
          </a:p>
          <a:p>
            <a:pPr eaLnBrk="1" hangingPunct="1"/>
            <a:r>
              <a:rPr lang="zh-CN" altLang="en-US">
                <a:latin typeface="Tahoma" pitchFamily="34" charset="0"/>
                <a:ea typeface="Dotum" pitchFamily="34" charset="-127"/>
              </a:rPr>
              <a:t>又</a:t>
            </a:r>
            <a:r>
              <a:rPr lang="en-US" altLang="zh-CN">
                <a:latin typeface="Tahoma" pitchFamily="34" charset="0"/>
                <a:ea typeface="Dotum" pitchFamily="34" charset="-127"/>
              </a:rPr>
              <a:t>,T(n)&gt;</a:t>
            </a:r>
            <a:r>
              <a:rPr lang="en-US" altLang="zh-CN"/>
              <a:t>f(n).</a:t>
            </a:r>
            <a:r>
              <a:rPr lang="zh-CN" altLang="en-US" b="1"/>
              <a:t>所以</a:t>
            </a:r>
            <a:r>
              <a:rPr lang="en-US" altLang="zh-CN"/>
              <a:t>,T(n)=</a:t>
            </a:r>
            <a:r>
              <a:rPr lang="el-GR" altLang="zh-CN">
                <a:ea typeface="Dotum" pitchFamily="34" charset="-127"/>
              </a:rPr>
              <a:t>Θ</a:t>
            </a:r>
            <a:r>
              <a:rPr lang="en-US" altLang="zh-CN">
                <a:ea typeface="Dotum" pitchFamily="34" charset="-127"/>
              </a:rPr>
              <a:t>(f(n))</a:t>
            </a:r>
            <a:endParaRPr lang="el-GR" altLang="zh-CN">
              <a:ea typeface="Dotum" pitchFamily="34" charset="-127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补充例题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/>
              <a:t>例题</a:t>
            </a:r>
            <a:r>
              <a:rPr lang="en-US" altLang="zh-CN"/>
              <a:t>1</a:t>
            </a:r>
            <a:r>
              <a:rPr lang="zh-CN" altLang="en-US"/>
              <a:t>：展开递归树</a:t>
            </a:r>
            <a:r>
              <a:rPr lang="en-US" altLang="zh-CN"/>
              <a:t>: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)=</a:t>
            </a:r>
            <a:r>
              <a:rPr lang="en-US" altLang="zh-CN" i="1"/>
              <a:t>T</a:t>
            </a:r>
            <a:r>
              <a:rPr lang="en-US" altLang="zh-CN"/>
              <a:t>(1)+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>
                <a:latin typeface="Arial" charset="0"/>
              </a:rPr>
              <a:t>–</a:t>
            </a:r>
            <a:r>
              <a:rPr lang="en-US" altLang="zh-CN"/>
              <a:t>1)+</a:t>
            </a:r>
            <a:r>
              <a:rPr lang="en-US" altLang="zh-CN" i="1"/>
              <a:t>cn,</a:t>
            </a:r>
            <a:r>
              <a:rPr lang="zh-CN" altLang="en-US"/>
              <a:t>并做渐近分析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  <p:pic>
        <p:nvPicPr>
          <p:cNvPr id="50179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87375" y="1752600"/>
            <a:ext cx="7958138" cy="4267200"/>
          </a:xfr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例题</a:t>
            </a:r>
            <a:r>
              <a:rPr lang="en-US" altLang="zh-CN" sz="2800"/>
              <a:t>2</a:t>
            </a:r>
            <a:r>
              <a:rPr lang="zh-CN" altLang="en-US" sz="2800"/>
              <a:t>：展开</a:t>
            </a:r>
            <a:r>
              <a:rPr lang="en-US" altLang="zh-CN" sz="2800"/>
              <a:t>T(n)=T(0.1n)+T(0.9n)+</a:t>
            </a:r>
            <a:r>
              <a:rPr lang="el-GR" altLang="zh-CN" sz="2800" b="1">
                <a:ea typeface="Dotum" pitchFamily="34" charset="-127"/>
              </a:rPr>
              <a:t>Θ</a:t>
            </a:r>
            <a:r>
              <a:rPr lang="en-US" altLang="zh-CN" sz="2800">
                <a:latin typeface="Tahoma" pitchFamily="34" charset="0"/>
                <a:ea typeface="Dotum" pitchFamily="34" charset="-127"/>
              </a:rPr>
              <a:t>(n)</a:t>
            </a:r>
            <a:r>
              <a:rPr lang="zh-CN" altLang="en-US" sz="2800">
                <a:latin typeface="Tahoma" pitchFamily="34" charset="0"/>
                <a:ea typeface="Dotum" pitchFamily="34" charset="-127"/>
              </a:rPr>
              <a:t>的</a:t>
            </a:r>
            <a:r>
              <a:rPr lang="zh-CN" altLang="en-US" sz="2800">
                <a:latin typeface="Tahoma" pitchFamily="34" charset="0"/>
              </a:rPr>
              <a:t>递归树并计算递归树的深度和</a:t>
            </a:r>
            <a:r>
              <a:rPr lang="en-US" altLang="zh-CN" sz="2800">
                <a:latin typeface="Tahoma" pitchFamily="34" charset="0"/>
              </a:rPr>
              <a:t>T(n)</a:t>
            </a:r>
            <a:r>
              <a:rPr lang="zh-CN" altLang="en-US" sz="2800">
                <a:latin typeface="Tahoma" pitchFamily="34" charset="0"/>
              </a:rPr>
              <a:t>的渐近值</a:t>
            </a:r>
            <a:r>
              <a:rPr lang="en-US" altLang="zh-CN" sz="2800">
                <a:latin typeface="Tahoma" pitchFamily="34" charset="0"/>
              </a:rPr>
              <a:t>.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altLang="zh-CN">
              <a:latin typeface="Tahoma" pitchFamily="34" charset="0"/>
            </a:endParaRPr>
          </a:p>
          <a:p>
            <a:pPr eaLnBrk="1" hangingPunct="1"/>
            <a:endParaRPr lang="en-US" altLang="zh-CN"/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830388"/>
            <a:ext cx="8208963" cy="500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裴波那契</a:t>
            </a:r>
            <a:r>
              <a:rPr lang="en-US" altLang="zh-CN"/>
              <a:t>(Fibonacci)</a:t>
            </a:r>
            <a:r>
              <a:rPr lang="zh-CN" altLang="en-US"/>
              <a:t>序列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r>
              <a:rPr lang="zh-CN" altLang="en-US" sz="2600"/>
              <a:t>序列</a:t>
            </a:r>
            <a:r>
              <a:rPr lang="en-US" altLang="zh-CN" sz="2600"/>
              <a:t>F</a:t>
            </a:r>
            <a:r>
              <a:rPr lang="en-US" altLang="zh-CN" sz="2600" baseline="-25000"/>
              <a:t>0</a:t>
            </a:r>
            <a:r>
              <a:rPr lang="en-US" altLang="zh-CN" sz="2600"/>
              <a:t>=F1=1,F</a:t>
            </a:r>
            <a:r>
              <a:rPr lang="en-US" altLang="zh-CN" sz="2600" baseline="-25000"/>
              <a:t>i</a:t>
            </a:r>
            <a:r>
              <a:rPr lang="en-US" altLang="zh-CN" sz="2600"/>
              <a:t>=F</a:t>
            </a:r>
            <a:r>
              <a:rPr lang="en-US" altLang="zh-CN" sz="2600" baseline="-25000"/>
              <a:t>i-1</a:t>
            </a:r>
            <a:r>
              <a:rPr lang="en-US" altLang="zh-CN" sz="2600"/>
              <a:t>+F</a:t>
            </a:r>
            <a:r>
              <a:rPr lang="en-US" altLang="zh-CN" sz="2600" baseline="-25000"/>
              <a:t>i-2 </a:t>
            </a:r>
            <a:r>
              <a:rPr lang="en-US" altLang="zh-CN" sz="2600"/>
              <a:t>(i&gt;1)</a:t>
            </a:r>
            <a:r>
              <a:rPr lang="zh-CN" altLang="en-US" sz="2600"/>
              <a:t>称为</a:t>
            </a:r>
            <a:r>
              <a:rPr lang="en-US" altLang="zh-CN" sz="2600"/>
              <a:t>Fibonacci</a:t>
            </a:r>
            <a:r>
              <a:rPr lang="zh-CN" altLang="en-US" sz="2600"/>
              <a:t>序列</a:t>
            </a:r>
            <a:r>
              <a:rPr lang="en-US" altLang="zh-CN" sz="2600"/>
              <a:t>. </a:t>
            </a:r>
            <a:r>
              <a:rPr lang="zh-CN" altLang="en-US" sz="2600"/>
              <a:t>以下算法计算第</a:t>
            </a:r>
            <a:r>
              <a:rPr lang="en-US" altLang="zh-CN" sz="2600"/>
              <a:t>n</a:t>
            </a:r>
            <a:r>
              <a:rPr lang="zh-CN" altLang="en-US" sz="2600"/>
              <a:t>个</a:t>
            </a:r>
            <a:r>
              <a:rPr lang="en-US" altLang="zh-CN" sz="2600"/>
              <a:t>Fibonacci</a:t>
            </a:r>
            <a:r>
              <a:rPr lang="zh-CN" altLang="en-US" sz="2600"/>
              <a:t>数</a:t>
            </a:r>
            <a:r>
              <a:rPr lang="en-US" altLang="zh-CN" sz="2600"/>
              <a:t>: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/>
              <a:t>   proc F(n)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baseline="-25000"/>
              <a:t>    </a:t>
            </a:r>
            <a:r>
              <a:rPr lang="en-US" altLang="zh-CN" sz="2600"/>
              <a:t>if n≤1 return(1)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/>
              <a:t>     else return( F(n-1)+F(n-2));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/>
              <a:t>   end proc</a:t>
            </a:r>
          </a:p>
          <a:p>
            <a:pPr marL="342900" indent="-342900" eaLnBrk="1" hangingPunct="1">
              <a:lnSpc>
                <a:spcPct val="90000"/>
              </a:lnSpc>
            </a:pPr>
            <a:r>
              <a:rPr lang="zh-CN" altLang="en-US" sz="2600"/>
              <a:t>令</a:t>
            </a:r>
            <a:r>
              <a:rPr lang="en-US" altLang="zh-CN" sz="2600"/>
              <a:t>t(n)</a:t>
            </a:r>
            <a:r>
              <a:rPr lang="zh-CN" altLang="en-US" sz="2600"/>
              <a:t>为算法执行的加法次数</a:t>
            </a:r>
            <a:r>
              <a:rPr lang="en-US" altLang="zh-CN" sz="2600"/>
              <a:t>,</a:t>
            </a:r>
            <a:r>
              <a:rPr lang="zh-CN" altLang="en-US" sz="2600"/>
              <a:t>有</a:t>
            </a:r>
            <a:r>
              <a:rPr lang="en-US" altLang="zh-CN" sz="2600"/>
              <a:t>: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/>
              <a:t>   t(n)=0 for n=0,1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/>
              <a:t>   t(n)=t(n-1)+t(n-2)+1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/>
              <a:t>   </a:t>
            </a:r>
            <a:r>
              <a:rPr lang="zh-CN" altLang="en-US" sz="2600"/>
              <a:t>特别</a:t>
            </a:r>
            <a:r>
              <a:rPr lang="en-US" altLang="zh-CN" sz="2600"/>
              <a:t>t(2)=1,t(3)=2</a:t>
            </a:r>
          </a:p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/>
              <a:t>    </a:t>
            </a:r>
            <a:endParaRPr lang="en-US" altLang="zh-CN" sz="2600" baseline="-25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续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6738" y="1752600"/>
            <a:ext cx="7942262" cy="4267200"/>
          </a:xfrm>
        </p:spPr>
        <p:txBody>
          <a:bodyPr/>
          <a:lstStyle/>
          <a:p>
            <a:pPr marL="342900" indent="-342900" eaLnBrk="1" hangingPunct="1"/>
            <a:r>
              <a:rPr lang="zh-CN" altLang="en-US" sz="2200"/>
              <a:t>因为</a:t>
            </a:r>
            <a:r>
              <a:rPr lang="en-US" altLang="zh-CN" sz="2200"/>
              <a:t>t(n-1)&gt;t(n-2),</a:t>
            </a:r>
            <a:r>
              <a:rPr lang="zh-CN" altLang="en-US" sz="2200"/>
              <a:t>有</a:t>
            </a:r>
          </a:p>
          <a:p>
            <a:pPr marL="342900" indent="-342900" eaLnBrk="1" hangingPunct="1">
              <a:buFont typeface="Wingdings" pitchFamily="2" charset="2"/>
              <a:buNone/>
            </a:pPr>
            <a:r>
              <a:rPr lang="zh-CN" altLang="en-US" sz="2200"/>
              <a:t>   </a:t>
            </a:r>
            <a:r>
              <a:rPr lang="en-US" altLang="zh-CN" sz="2200"/>
              <a:t>t(n)&lt;2t(n-1)+1,for n&gt;2. </a:t>
            </a:r>
            <a:r>
              <a:rPr lang="zh-CN" altLang="en-US" sz="2200"/>
              <a:t>用归纳法易证</a:t>
            </a:r>
            <a:r>
              <a:rPr lang="en-US" altLang="zh-CN" sz="2200"/>
              <a:t>:</a:t>
            </a:r>
          </a:p>
          <a:p>
            <a:pPr marL="342900" indent="-342900" eaLnBrk="1" hangingPunct="1">
              <a:buFont typeface="Wingdings" pitchFamily="2" charset="2"/>
              <a:buNone/>
            </a:pPr>
            <a:r>
              <a:rPr lang="en-US" altLang="zh-CN" sz="2200"/>
              <a:t>                        t(n)≤2</a:t>
            </a:r>
            <a:r>
              <a:rPr lang="en-US" altLang="zh-CN" sz="2200" baseline="30000"/>
              <a:t>n </a:t>
            </a:r>
          </a:p>
          <a:p>
            <a:pPr marL="342900" indent="-342900" eaLnBrk="1" hangingPunct="1"/>
            <a:r>
              <a:rPr lang="zh-CN" altLang="en-US" sz="2200"/>
              <a:t>又有</a:t>
            </a:r>
            <a:r>
              <a:rPr lang="en-US" altLang="zh-CN" sz="2200"/>
              <a:t>t(n)&gt;2t(n-2)&gt;</a:t>
            </a:r>
            <a:r>
              <a:rPr lang="en-US" altLang="zh-CN" sz="2200">
                <a:latin typeface="宋体" pitchFamily="2" charset="-122"/>
              </a:rPr>
              <a:t>┅</a:t>
            </a:r>
            <a:r>
              <a:rPr lang="en-US" altLang="zh-CN" sz="2200"/>
              <a:t>&gt;2</a:t>
            </a:r>
            <a:r>
              <a:rPr lang="en-US" altLang="zh-CN" sz="2200" baseline="30000"/>
              <a:t>k-1</a:t>
            </a:r>
            <a:r>
              <a:rPr lang="en-US" altLang="zh-CN" sz="2200"/>
              <a:t>t(2)=2</a:t>
            </a:r>
            <a:r>
              <a:rPr lang="en-US" altLang="zh-CN" sz="2200" baseline="30000"/>
              <a:t>k-1  </a:t>
            </a:r>
            <a:r>
              <a:rPr lang="en-US" altLang="zh-CN" sz="2200"/>
              <a:t>n=2k</a:t>
            </a:r>
          </a:p>
          <a:p>
            <a:pPr marL="342900" indent="-342900" eaLnBrk="1" hangingPunct="1">
              <a:buFont typeface="Wingdings" pitchFamily="2" charset="2"/>
              <a:buNone/>
            </a:pPr>
            <a:r>
              <a:rPr lang="en-US" altLang="zh-CN" sz="2200" baseline="30000">
                <a:latin typeface="宋体" pitchFamily="2" charset="-122"/>
              </a:rPr>
              <a:t>                               </a:t>
            </a:r>
            <a:r>
              <a:rPr lang="en-US" altLang="zh-CN" sz="2200"/>
              <a:t>&gt;2</a:t>
            </a:r>
            <a:r>
              <a:rPr lang="en-US" altLang="zh-CN" sz="2200" baseline="30000"/>
              <a:t>k-1</a:t>
            </a:r>
            <a:r>
              <a:rPr lang="en-US" altLang="zh-CN" sz="2200"/>
              <a:t>t(3)=2</a:t>
            </a:r>
            <a:r>
              <a:rPr lang="en-US" altLang="zh-CN" sz="2200" baseline="30000"/>
              <a:t>k</a:t>
            </a:r>
            <a:r>
              <a:rPr lang="en-US" altLang="zh-CN" sz="2200"/>
              <a:t>   n=2k+1</a:t>
            </a:r>
          </a:p>
          <a:p>
            <a:pPr marL="342900" indent="-342900" eaLnBrk="1" hangingPunct="1"/>
            <a:r>
              <a:rPr lang="en-US" altLang="zh-CN" sz="2200"/>
              <a:t>t(n)=</a:t>
            </a:r>
          </a:p>
          <a:p>
            <a:pPr marL="342900" indent="-342900" eaLnBrk="1" hangingPunct="1"/>
            <a:r>
              <a:rPr lang="zh-CN" altLang="en-US" sz="2200"/>
              <a:t>算法有指数的时间复杂度</a:t>
            </a:r>
            <a:r>
              <a:rPr lang="en-US" altLang="zh-CN" sz="2200"/>
              <a:t>.</a:t>
            </a:r>
          </a:p>
          <a:p>
            <a:pPr marL="342900" indent="-342900" eaLnBrk="1" hangingPunct="1"/>
            <a:r>
              <a:rPr lang="zh-CN" altLang="en-US" sz="2200"/>
              <a:t>实际上这是因递归引起的大量的重复计算而非问题本身的难度所致</a:t>
            </a:r>
            <a:r>
              <a:rPr lang="en-US" altLang="zh-CN" sz="2200"/>
              <a:t>.</a:t>
            </a:r>
            <a:r>
              <a:rPr lang="zh-CN" altLang="en-US" sz="2200"/>
              <a:t>可设计一非常简单的线性时间复杂度的迭代算法</a:t>
            </a:r>
            <a:r>
              <a:rPr lang="en-US" altLang="zh-CN" sz="2200"/>
              <a:t>.</a:t>
            </a:r>
          </a:p>
          <a:p>
            <a:pPr marL="342900" indent="-342900" eaLnBrk="1" hangingPunct="1">
              <a:buFont typeface="Wingdings" pitchFamily="2" charset="2"/>
              <a:buNone/>
            </a:pPr>
            <a:r>
              <a:rPr lang="en-US" altLang="zh-CN" sz="2200"/>
              <a:t>   </a:t>
            </a:r>
            <a:endParaRPr lang="en-US" altLang="en-US" sz="2200" baseline="30000">
              <a:latin typeface="宋体" pitchFamily="2" charset="-122"/>
            </a:endParaRPr>
          </a:p>
          <a:p>
            <a:pPr marL="342900" indent="-342900" eaLnBrk="1" hangingPunct="1">
              <a:buFont typeface="Wingdings" pitchFamily="2" charset="2"/>
              <a:buNone/>
            </a:pPr>
            <a:endParaRPr lang="en-US" altLang="zh-CN" sz="2200" baseline="30000"/>
          </a:p>
        </p:txBody>
      </p:sp>
      <p:graphicFrame>
        <p:nvGraphicFramePr>
          <p:cNvPr id="205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763713" y="3789363"/>
          <a:ext cx="881062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419040" imgH="228600" progId="Equation.3">
                  <p:embed/>
                </p:oleObj>
              </mc:Choice>
              <mc:Fallback>
                <p:oleObj name="公式" r:id="rId2" imgW="4190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789363"/>
                        <a:ext cx="881062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Homework(2)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752600"/>
            <a:ext cx="9358346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1.</a:t>
            </a:r>
            <a:r>
              <a:rPr lang="zh-CN" altLang="en-US" sz="2600" dirty="0"/>
              <a:t>用归纳法证明</a:t>
            </a:r>
          </a:p>
          <a:p>
            <a:pPr eaLnBrk="1" hangingPunct="1">
              <a:lnSpc>
                <a:spcPct val="90000"/>
              </a:lnSpc>
            </a:pPr>
            <a:endParaRPr lang="zh-CN" altLang="en-US" sz="2600" dirty="0"/>
          </a:p>
          <a:p>
            <a:pPr eaLnBrk="1" hangingPunct="1">
              <a:lnSpc>
                <a:spcPct val="90000"/>
              </a:lnSpc>
            </a:pPr>
            <a:endParaRPr lang="zh-CN" altLang="en-US" sz="2600" dirty="0"/>
          </a:p>
          <a:p>
            <a:pPr eaLnBrk="1" hangingPunct="1">
              <a:lnSpc>
                <a:spcPct val="90000"/>
              </a:lnSpc>
            </a:pPr>
            <a:endParaRPr lang="zh-CN" altLang="en-US" sz="260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2.</a:t>
            </a:r>
            <a:r>
              <a:rPr lang="zh-CN" altLang="en-US" sz="2600" dirty="0"/>
              <a:t>应用</a:t>
            </a:r>
            <a:r>
              <a:rPr lang="en-US" altLang="zh-CN" sz="2600" dirty="0"/>
              <a:t>master</a:t>
            </a:r>
            <a:r>
              <a:rPr lang="zh-CN" altLang="en-US" sz="2600" dirty="0"/>
              <a:t>方法求解</a:t>
            </a:r>
            <a:r>
              <a:rPr lang="en-US" altLang="zh-CN" sz="2600" dirty="0"/>
              <a:t>T(n)=2T(n/2)+</a:t>
            </a:r>
            <a:r>
              <a:rPr lang="el-GR" altLang="zh-CN" sz="2600" b="1" dirty="0">
                <a:ea typeface="Dotum" pitchFamily="34" charset="-127"/>
              </a:rPr>
              <a:t>Θ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(n</a:t>
            </a:r>
            <a:r>
              <a:rPr lang="en-US" altLang="zh-CN" sz="2600" baseline="30000" dirty="0">
                <a:latin typeface="Tahoma" pitchFamily="34" charset="0"/>
                <a:ea typeface="Dotum" pitchFamily="34" charset="-127"/>
              </a:rPr>
              <a:t>1/2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)</a:t>
            </a:r>
            <a:endParaRPr lang="zh-CN" altLang="el-GR" sz="2600" b="1" dirty="0">
              <a:latin typeface="Tahoma" pitchFamily="34" charset="0"/>
              <a:ea typeface="Dotum" pitchFamily="34" charset="-127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3.</a:t>
            </a:r>
            <a:r>
              <a:rPr lang="zh-CN" altLang="en-US" sz="2600" dirty="0"/>
              <a:t>展开递归树</a:t>
            </a:r>
            <a:r>
              <a:rPr lang="en-US" altLang="zh-CN" sz="2600" dirty="0"/>
              <a:t>:</a:t>
            </a:r>
            <a:r>
              <a:rPr lang="en-US" altLang="zh-CN" sz="2600" i="1" dirty="0"/>
              <a:t>T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</a:t>
            </a:r>
            <a:r>
              <a:rPr lang="en-US" altLang="zh-CN" sz="2600" i="1" dirty="0"/>
              <a:t>T</a:t>
            </a:r>
            <a:r>
              <a:rPr lang="en-US" altLang="zh-CN" sz="2600" dirty="0"/>
              <a:t>(2)+</a:t>
            </a:r>
            <a:r>
              <a:rPr lang="en-US" altLang="zh-CN" sz="2600" i="1" dirty="0"/>
              <a:t>T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>
                <a:latin typeface="Arial" charset="0"/>
              </a:rPr>
              <a:t>–</a:t>
            </a:r>
            <a:r>
              <a:rPr lang="en-US" altLang="zh-CN" sz="2600" dirty="0"/>
              <a:t>2)+</a:t>
            </a:r>
            <a:r>
              <a:rPr lang="en-US" altLang="zh-CN" sz="2600" i="1" dirty="0" err="1"/>
              <a:t>cn</a:t>
            </a:r>
            <a:r>
              <a:rPr lang="en-US" altLang="zh-CN" sz="2600" i="1" dirty="0"/>
              <a:t>,</a:t>
            </a:r>
            <a:r>
              <a:rPr lang="zh-CN" altLang="en-US" sz="2600" dirty="0"/>
              <a:t>并做渐近分析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/>
              <a:t>4.</a:t>
            </a:r>
            <a:r>
              <a:rPr lang="zh-CN" altLang="en-US" sz="2600" dirty="0"/>
              <a:t>展开</a:t>
            </a:r>
            <a:r>
              <a:rPr lang="en-US" altLang="zh-CN" sz="2600" dirty="0"/>
              <a:t>T(n)=T(0.2n)+T(0.8n)+</a:t>
            </a:r>
            <a:r>
              <a:rPr lang="el-GR" altLang="zh-CN" sz="2600" b="1" dirty="0">
                <a:ea typeface="Dotum" pitchFamily="34" charset="-127"/>
              </a:rPr>
              <a:t>Θ</a:t>
            </a:r>
            <a:r>
              <a:rPr lang="en-US" altLang="zh-CN" sz="2600" dirty="0">
                <a:latin typeface="Tahoma" pitchFamily="34" charset="0"/>
                <a:ea typeface="Dotum" pitchFamily="34" charset="-127"/>
              </a:rPr>
              <a:t>(n)</a:t>
            </a:r>
            <a:r>
              <a:rPr lang="zh-CN" altLang="en-US" sz="2600" dirty="0">
                <a:latin typeface="Tahoma" pitchFamily="34" charset="0"/>
                <a:ea typeface="Dotum" pitchFamily="34" charset="-127"/>
              </a:rPr>
              <a:t>的</a:t>
            </a:r>
            <a:r>
              <a:rPr lang="zh-CN" altLang="en-US" sz="2600" dirty="0">
                <a:latin typeface="Tahoma" pitchFamily="34" charset="0"/>
              </a:rPr>
              <a:t>递归树并计算递归树的深度和</a:t>
            </a:r>
            <a:r>
              <a:rPr lang="en-US" altLang="zh-CN" sz="2600" dirty="0">
                <a:latin typeface="Tahoma" pitchFamily="34" charset="0"/>
              </a:rPr>
              <a:t>T(n)</a:t>
            </a:r>
            <a:r>
              <a:rPr lang="zh-CN" altLang="en-US" sz="2600" dirty="0">
                <a:latin typeface="Tahoma" pitchFamily="34" charset="0"/>
              </a:rPr>
              <a:t>的渐近值</a:t>
            </a:r>
            <a:r>
              <a:rPr lang="en-US" altLang="zh-CN" sz="2600" dirty="0">
                <a:latin typeface="Tahoma" pitchFamily="34" charset="0"/>
              </a:rPr>
              <a:t>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>
                <a:latin typeface="Tahoma" pitchFamily="34" charset="0"/>
              </a:rPr>
              <a:t>5. (</a:t>
            </a:r>
            <a:r>
              <a:rPr lang="zh-CN" altLang="en-US" sz="1600" dirty="0">
                <a:latin typeface="Tahoma" pitchFamily="34" charset="0"/>
              </a:rPr>
              <a:t>教材第</a:t>
            </a:r>
            <a:r>
              <a:rPr lang="en-US" altLang="zh-CN" sz="1600" dirty="0">
                <a:latin typeface="Tahoma" pitchFamily="34" charset="0"/>
              </a:rPr>
              <a:t>1</a:t>
            </a:r>
            <a:r>
              <a:rPr lang="zh-CN" altLang="en-US" sz="1600" dirty="0">
                <a:latin typeface="Tahoma" pitchFamily="34" charset="0"/>
              </a:rPr>
              <a:t>版</a:t>
            </a:r>
            <a:r>
              <a:rPr lang="en-US" altLang="zh-CN" sz="2600" dirty="0">
                <a:latin typeface="Tahoma" pitchFamily="34" charset="0"/>
              </a:rPr>
              <a:t>)</a:t>
            </a:r>
            <a:r>
              <a:rPr lang="zh-CN" altLang="en-US" sz="2600" dirty="0">
                <a:latin typeface="Tahoma" pitchFamily="34" charset="0"/>
              </a:rPr>
              <a:t>第</a:t>
            </a:r>
            <a:r>
              <a:rPr lang="en-US" altLang="zh-CN" sz="2600" dirty="0">
                <a:latin typeface="Tahoma" pitchFamily="34" charset="0"/>
              </a:rPr>
              <a:t>14</a:t>
            </a:r>
            <a:r>
              <a:rPr lang="zh-CN" altLang="en-US" sz="2600" dirty="0">
                <a:latin typeface="Tahoma" pitchFamily="34" charset="0"/>
              </a:rPr>
              <a:t>章练习</a:t>
            </a:r>
            <a:r>
              <a:rPr lang="en-US" altLang="zh-CN" sz="2600" dirty="0">
                <a:latin typeface="Tahoma" pitchFamily="34" charset="0"/>
              </a:rPr>
              <a:t>33-(a),(b),(c),(d),(e),(f),(g),(h),(</a:t>
            </a:r>
            <a:r>
              <a:rPr lang="en-US" altLang="zh-CN" sz="2600" dirty="0" err="1">
                <a:latin typeface="Tahoma" pitchFamily="34" charset="0"/>
              </a:rPr>
              <a:t>i</a:t>
            </a:r>
            <a:r>
              <a:rPr lang="en-US" altLang="zh-CN" sz="2600" dirty="0">
                <a:latin typeface="Tahoma" pitchFamily="34" charset="0"/>
              </a:rPr>
              <a:t>),(j)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600" dirty="0">
                <a:latin typeface="Tahoma" pitchFamily="34" charset="0"/>
              </a:rPr>
              <a:t> </a:t>
            </a:r>
            <a:r>
              <a:rPr lang="zh-CN" altLang="en-US" sz="2600" dirty="0">
                <a:latin typeface="Tahoma" pitchFamily="34" charset="0"/>
              </a:rPr>
              <a:t> 或</a:t>
            </a:r>
            <a:r>
              <a:rPr lang="zh-CN" altLang="en-US" sz="1600" dirty="0">
                <a:latin typeface="Tahoma" pitchFamily="34" charset="0"/>
              </a:rPr>
              <a:t>教材第</a:t>
            </a:r>
            <a:r>
              <a:rPr lang="en-US" altLang="zh-CN" sz="1600" dirty="0">
                <a:latin typeface="Tahoma" pitchFamily="34" charset="0"/>
              </a:rPr>
              <a:t>2</a:t>
            </a:r>
            <a:r>
              <a:rPr lang="zh-CN" altLang="en-US" sz="1600" dirty="0">
                <a:latin typeface="Tahoma" pitchFamily="34" charset="0"/>
              </a:rPr>
              <a:t>版  </a:t>
            </a:r>
            <a:r>
              <a:rPr lang="zh-CN" altLang="en-US" sz="2600" dirty="0">
                <a:latin typeface="Tahoma" pitchFamily="34" charset="0"/>
              </a:rPr>
              <a:t>第</a:t>
            </a:r>
            <a:r>
              <a:rPr lang="en-US" altLang="zh-CN" sz="2600" dirty="0">
                <a:latin typeface="Tahoma" pitchFamily="34" charset="0"/>
              </a:rPr>
              <a:t>18</a:t>
            </a:r>
            <a:r>
              <a:rPr lang="zh-CN" altLang="en-US" sz="2600" dirty="0">
                <a:latin typeface="Tahoma" pitchFamily="34" charset="0"/>
              </a:rPr>
              <a:t>章练习</a:t>
            </a:r>
            <a:r>
              <a:rPr lang="en-US" altLang="zh-CN" sz="2600" dirty="0">
                <a:latin typeface="Tahoma" pitchFamily="34" charset="0"/>
              </a:rPr>
              <a:t>41-(1),(2),(3),(4),(5),(6),(7),(8),(9),(10)</a:t>
            </a:r>
            <a:endParaRPr lang="zh-CN" altLang="en-US" sz="2600" dirty="0">
              <a:latin typeface="Tahoma" pitchFamily="34" charset="0"/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en-US" altLang="zh-CN" sz="1600" dirty="0">
              <a:latin typeface="Tahoma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CN" sz="2600" dirty="0"/>
          </a:p>
        </p:txBody>
      </p:sp>
      <p:pic>
        <p:nvPicPr>
          <p:cNvPr id="53252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/>
          <a:srcRect/>
          <a:stretch>
            <a:fillRect/>
          </a:stretch>
        </p:blipFill>
        <p:spPr>
          <a:xfrm>
            <a:off x="2051050" y="2276475"/>
            <a:ext cx="4824413" cy="1277938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3427</TotalTime>
  <Words>2959</Words>
  <Application>Microsoft Office PowerPoint</Application>
  <PresentationFormat>全屏显示(4:3)</PresentationFormat>
  <Paragraphs>251</Paragraphs>
  <Slides>47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6" baseType="lpstr">
      <vt:lpstr>Dotum</vt:lpstr>
      <vt:lpstr>宋体</vt:lpstr>
      <vt:lpstr>Arial</vt:lpstr>
      <vt:lpstr>Tahoma</vt:lpstr>
      <vt:lpstr>Times New Roman</vt:lpstr>
      <vt:lpstr>Verdana</vt:lpstr>
      <vt:lpstr>Wingdings</vt:lpstr>
      <vt:lpstr>Profile</vt:lpstr>
      <vt:lpstr>公式</vt:lpstr>
      <vt:lpstr>PowerPoint 演示文稿</vt:lpstr>
      <vt:lpstr>PowerPoint 演示文稿</vt:lpstr>
      <vt:lpstr>PowerPoint 演示文稿</vt:lpstr>
      <vt:lpstr>伪代码-插入排序</vt:lpstr>
      <vt:lpstr>插入排序实例</vt:lpstr>
      <vt:lpstr>插入排序分析</vt:lpstr>
      <vt:lpstr>最优二叉树(optimized binary tree)</vt:lpstr>
      <vt:lpstr>最优二叉树：时间复杂度分析</vt:lpstr>
      <vt:lpstr>解递归方程的方法</vt:lpstr>
      <vt:lpstr>归并排序</vt:lpstr>
      <vt:lpstr>PowerPoint 演示文稿</vt:lpstr>
      <vt:lpstr>归并排序时间复杂度分析</vt:lpstr>
      <vt:lpstr> 归并排序时间复杂度：递归方程</vt:lpstr>
      <vt:lpstr> 递归树</vt:lpstr>
      <vt:lpstr>递归树</vt:lpstr>
      <vt:lpstr>递归树</vt:lpstr>
      <vt:lpstr>递归树</vt:lpstr>
      <vt:lpstr>递归树等价于迭代展开</vt:lpstr>
      <vt:lpstr>结论</vt:lpstr>
      <vt:lpstr>当n≠2h</vt:lpstr>
      <vt:lpstr>较一般的递归式</vt:lpstr>
      <vt:lpstr>替代法</vt:lpstr>
      <vt:lpstr> 例1</vt:lpstr>
      <vt:lpstr>例(续)</vt:lpstr>
      <vt:lpstr>例(续)</vt:lpstr>
      <vt:lpstr>例(续)</vt:lpstr>
      <vt:lpstr>替代法（续）</vt:lpstr>
      <vt:lpstr>续</vt:lpstr>
      <vt:lpstr>Master方法（The Master Method)</vt:lpstr>
      <vt:lpstr>The Master Method:情形1</vt:lpstr>
      <vt:lpstr>The Master Method:情形2</vt:lpstr>
      <vt:lpstr>The Master Method:情形3</vt:lpstr>
      <vt:lpstr>Example 1</vt:lpstr>
      <vt:lpstr>Example 2</vt:lpstr>
      <vt:lpstr>Example 3</vt:lpstr>
      <vt:lpstr>Idea of the Master method</vt:lpstr>
      <vt:lpstr>Idea of the Master method</vt:lpstr>
      <vt:lpstr>Master 方法分析</vt:lpstr>
      <vt:lpstr>Proof (Case 1)</vt:lpstr>
      <vt:lpstr>Proof of Case2</vt:lpstr>
      <vt:lpstr>Case 3</vt:lpstr>
      <vt:lpstr>补充例题</vt:lpstr>
      <vt:lpstr>PowerPoint 演示文稿</vt:lpstr>
      <vt:lpstr>例题2：展开T(n)=T(0.1n)+T(0.9n)+Θ(n)的递归树并计算递归树的深度和T(n)的渐近值.</vt:lpstr>
      <vt:lpstr>裴波那契(Fibonacci)序列</vt:lpstr>
      <vt:lpstr>续</vt:lpstr>
      <vt:lpstr>Homework(2)</vt:lpstr>
    </vt:vector>
  </TitlesOfParts>
  <Company>2ndSpAcE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Image</dc:creator>
  <cp:lastModifiedBy>cfliutju@outlook.com</cp:lastModifiedBy>
  <cp:revision>103</cp:revision>
  <dcterms:created xsi:type="dcterms:W3CDTF">2004-09-27T10:03:45Z</dcterms:created>
  <dcterms:modified xsi:type="dcterms:W3CDTF">2021-09-23T01:17:51Z</dcterms:modified>
</cp:coreProperties>
</file>